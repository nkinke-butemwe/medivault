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s/slide36.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2" r:id="rId23"/>
    <p:sldId id="258" r:id="rId4"/>
    <p:sldId id="273" r:id="rId24"/>
    <p:sldId id="274" r:id="rId25"/>
    <p:sldId id="275" r:id="rId26"/>
    <p:sldId id="276" r:id="rId27"/>
    <p:sldId id="277" r:id="rId28"/>
    <p:sldId id="278" r:id="rId29"/>
    <p:sldId id="279" r:id="rId30"/>
    <p:sldId id="280" r:id="rId31"/>
    <p:sldId id="296" r:id="rId47"/>
    <p:sldId id="281" r:id="rId32"/>
    <p:sldId id="282" r:id="rId33"/>
    <p:sldId id="283" r:id="rId34"/>
    <p:sldId id="284" r:id="rId35"/>
    <p:sldId id="285" r:id="rId36"/>
    <p:sldId id="263" r:id="rId9"/>
    <p:sldId id="264" r:id="rId10"/>
    <p:sldId id="265" r:id="rId11"/>
    <p:sldId id="286" r:id="rId37"/>
    <p:sldId id="266" r:id="rId12"/>
    <p:sldId id="267" r:id="rId13"/>
    <p:sldId id="287" r:id="rId38"/>
    <p:sldId id="268" r:id="rId14"/>
    <p:sldId id="288" r:id="rId39"/>
    <p:sldId id="269" r:id="rId15"/>
    <p:sldId id="289" r:id="rId40"/>
    <p:sldId id="290" r:id="rId41"/>
    <p:sldId id="291" r:id="rId42"/>
    <p:sldId id="292" r:id="rId43"/>
    <p:sldId id="293" r:id="rId44"/>
    <p:sldId id="270" r:id="rId16"/>
    <p:sldId id="294" r:id="rId45"/>
    <p:sldId id="295" r:id="rId4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bea4008-5896-11a2-36f0-b8ff74df8f35}">
          <p14:sldIdLst>
            <p14:sldId id="256"/>
            <p14:sldId id="257"/>
            <p14:sldId id="258"/>
          </p14:sldIdLst>
        </p14:section>
        <p14:section name="Background" id="{2c95471c-ae1b-0aed-66a7-cc94cb59354a}">
          <p14:sldIdLst>
            <p14:sldId id="259"/>
          </p14:sldIdLst>
        </p14:section>
        <p14:section name="Design" id="{187f4e3c-f22e-2acf-98e6-84e976565c57}">
          <p14:sldIdLst>
            <p14:sldId id="260"/>
            <p14:sldId id="261"/>
            <p14:sldId id="262"/>
          </p14:sldIdLst>
        </p14:section>
        <p14:section name="Implementation" id="{34864541-986f-21fb-e059-2d075aac3a0e}">
          <p14:sldIdLst>
            <p14:sldId id="263"/>
            <p14:sldId id="264"/>
            <p14:sldId id="265"/>
            <p14:sldId id="266"/>
          </p14:sldIdLst>
        </p14:section>
        <p14:section name="Testing and Results" id="{1483bbb0-e569-bdf5-0c75-555ce262e9be}">
          <p14:sldIdLst>
            <p14:sldId id="267"/>
          </p14:sldIdLst>
        </p14:section>
        <p14:section name="Discussion" id="{f983cd16-4870-d3a3-bd6a-0a239d823638}">
          <p14:sldIdLst>
            <p14:sldId id="268"/>
            <p14:sldId id="269"/>
          </p14:sldIdLst>
        </p14:section>
        <p14:section name="Conclusion" id="{87895192-36a3-b34f-67f5-3e1a4c17ba63}">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4" Type="http://schemas.openxmlformats.org/officeDocument/2006/relationships/slide" Target="slides/slide3.xml"/><Relationship Id="rId9" Type="http://schemas.openxmlformats.org/officeDocument/2006/relationships/slide" Target="slides/slide17.xml"/><Relationship Id="rId10" Type="http://schemas.openxmlformats.org/officeDocument/2006/relationships/slide" Target="slides/slide18.xml"/><Relationship Id="rId11" Type="http://schemas.openxmlformats.org/officeDocument/2006/relationships/slide" Target="slides/slide19.xml"/><Relationship Id="rId12" Type="http://schemas.openxmlformats.org/officeDocument/2006/relationships/slide" Target="slides/slide21.xml"/><Relationship Id="rId13" Type="http://schemas.openxmlformats.org/officeDocument/2006/relationships/slide" Target="slides/slide22.xml"/><Relationship Id="rId14" Type="http://schemas.openxmlformats.org/officeDocument/2006/relationships/slide" Target="slides/slide24.xml"/><Relationship Id="rId15" Type="http://schemas.openxmlformats.org/officeDocument/2006/relationships/slide" Target="slides/slide26.xml"/><Relationship Id="rId16" Type="http://schemas.openxmlformats.org/officeDocument/2006/relationships/slide" Target="slides/slide32.xml"/><Relationship Id="rId17" Type="http://schemas.openxmlformats.org/officeDocument/2006/relationships/slide" Target="slides/slide35.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slide" Target="slides/slide2.xml"/><Relationship Id="rId24" Type="http://schemas.openxmlformats.org/officeDocument/2006/relationships/slide" Target="slides/slide4.xml"/><Relationship Id="rId25" Type="http://schemas.openxmlformats.org/officeDocument/2006/relationships/slide" Target="slides/slide5.xml"/><Relationship Id="rId26" Type="http://schemas.openxmlformats.org/officeDocument/2006/relationships/slide" Target="slides/slide6.xml"/><Relationship Id="rId27" Type="http://schemas.openxmlformats.org/officeDocument/2006/relationships/slide" Target="slides/slide7.xml"/><Relationship Id="rId28" Type="http://schemas.openxmlformats.org/officeDocument/2006/relationships/slide" Target="slides/slide8.xml"/><Relationship Id="rId29" Type="http://schemas.openxmlformats.org/officeDocument/2006/relationships/slide" Target="slides/slide9.xml"/><Relationship Id="rId30" Type="http://schemas.openxmlformats.org/officeDocument/2006/relationships/slide" Target="slides/slide10.xml"/><Relationship Id="rId31" Type="http://schemas.openxmlformats.org/officeDocument/2006/relationships/slide" Target="slides/slide11.xml"/><Relationship Id="rId32" Type="http://schemas.openxmlformats.org/officeDocument/2006/relationships/slide" Target="slides/slide12.xml"/><Relationship Id="rId33" Type="http://schemas.openxmlformats.org/officeDocument/2006/relationships/slide" Target="slides/slide13.xml"/><Relationship Id="rId34" Type="http://schemas.openxmlformats.org/officeDocument/2006/relationships/slide" Target="slides/slide14.xml"/><Relationship Id="rId35" Type="http://schemas.openxmlformats.org/officeDocument/2006/relationships/slide" Target="slides/slide15.xml"/><Relationship Id="rId36" Type="http://schemas.openxmlformats.org/officeDocument/2006/relationships/slide" Target="slides/slide16.xml"/><Relationship Id="rId37" Type="http://schemas.openxmlformats.org/officeDocument/2006/relationships/slide" Target="slides/slide20.xml"/><Relationship Id="rId38" Type="http://schemas.openxmlformats.org/officeDocument/2006/relationships/slide" Target="slides/slide23.xml"/><Relationship Id="rId39" Type="http://schemas.openxmlformats.org/officeDocument/2006/relationships/slide" Target="slides/slide25.xml"/><Relationship Id="rId40" Type="http://schemas.openxmlformats.org/officeDocument/2006/relationships/slide" Target="slides/slide27.xml"/><Relationship Id="rId41" Type="http://schemas.openxmlformats.org/officeDocument/2006/relationships/slide" Target="slides/slide28.xml"/><Relationship Id="rId42" Type="http://schemas.openxmlformats.org/officeDocument/2006/relationships/slide" Target="slides/slide29.xml"/><Relationship Id="rId43" Type="http://schemas.openxmlformats.org/officeDocument/2006/relationships/slide" Target="slides/slide30.xml"/><Relationship Id="rId44" Type="http://schemas.openxmlformats.org/officeDocument/2006/relationships/slide" Target="slides/slide31.xml"/><Relationship Id="rId45" Type="http://schemas.openxmlformats.org/officeDocument/2006/relationships/slide" Target="slides/slide33.xml"/><Relationship Id="rId46" Type="http://schemas.openxmlformats.org/officeDocument/2006/relationships/slide" Target="slides/slide34.xml"/>  <Relationship Id="rId47" Type="http://schemas.openxmlformats.org/officeDocument/2006/relationships/slide" Target="slides/slide36.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what is done first, then what is planned. Be ready with one sentence per limit: the SIS lookup is a stand-in with 7 hard-coded students (including one suspended and one alumnus); there is no 2FA or field encryption; notifications are polled every 30 seconds.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Doctor releases the results from Review results. Pharmacist (pharmacist@unza.zm) dispenses and you show Paracetamol fall by 10 from 500 to 490. Patient sees the bell and the results. Admin (admin@unza.zm) shows the access log and CSV export. Critical example: log in as dr.mwanza@unza.zm and release Patient 3's glucose of 24.3 mmol/L, which is already flagged CRITICAL_HIGH. Messaging example: Patient 1 to Dr. Mwanza, who replies; the patient's bell lights up.</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with your own story, in this order: I show my ID card at reception. A nurse writes my vitals on paper. I sign in to the visit. The doctor writes a prescription on paper. I carry it to the lab to collect drugs, and only there do I find out whether the drug exists. The doctor was never sure it was in stock. Then ask the room: has anyone here had the same experience? Pause for a show of hands.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 sentence: a visit is a chain of handoffs, and each person only sees and does what their role allows. Concrete trace to say aloud: the pharmacist clicks Dispense. The browser sends POST /api/prescriptions/:id/dispense with the cookie. The middleware verifies the JWT and lets it through. The route calls getRoleAndActor, confirms PHARMACIST or ADMIN, runs one transaction in src/lib/pharmacy.ts logic, writes an AccessLog row, and notifies the patient 'Your prescription is ready'.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Why this structure: one codebase and one deployment keeps it simple for a clinic with limited IT staff. Business rules live in lib/ so they can be unit tested without a database. Example: computeFlag() in src/lib/lab.ts takes a reference range and a result and returns a flag. The test calls it with Hb 10.4 and expects LOW, no database needed.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this confidently. bcrypt with 12 rounds, a JWT (HS256) in an httpOnly cookie, and verification in two places: the middleware and again inside every API route via getRoleAndActor(). Example if asked 'what if someone forges the cookie': they write a token that says role ADMIN with a made-up signature. jwtVerify fails, verifyToken returns null, and the API answers 401. Also note getRoleAndActor looks the user up in the database, so a deactivated account is refused on API calls straight away. Open src/lib/jwt.ts and src/lib/auth.ts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Example to say aloud: the seed has ORS at 8 sachets with a reorder level of 20. If a doctor prescribes 10 sachets, dispensing fails with 'Not enough ORS: need 10, only 8 in stock.' and nothing changes: the prescription stays PENDING and the stock stays at 8. FEFO example: if Paracetamol is held in two batches, the batch expiring first is emptied first, and expired batches are never used. Known gap: the doctor's prescription screen does not show live stock yet; say so if asked.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Example to say aloud: Fasting Blood Glucose has a normal range of 3.9 to 5.6 mmol/L and a critical high of 22. The seeded result for Patient 3, Chanda Mutale, is 24.3, so the server flags CRITICAL_HIGH. Patient 1's Haemoglobin of 10.4 g/dL is below the 12 floor, so it is LOW. A malaria RDT of Positive against a normal answer of Negative is ABNORMAL. A test with no range on file returns no flag, which is better than a wrong Normal. Open src/lib/lab.ts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Example to say aloud: the middleware test builds a token that looks like an admin token but has a made-up signature, sends it to /api/admin/users and expects 401. It sends the same token to /dashboard/admin and expects a redirect to /login. Further tests cover a token signed with a different secret, an expired token and an unsigned alg:none token. Each one is a real attack the first version of the middleware would have accepted.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limits are also listed in the README, which shows you know them. Say what is done first, then what is planned. Rate limiter example: the 6th wrong password from the same IP inside 15 minutes is refused, but restarting the server clears the counter, and two servers would each keep their own count. That is why Redis is the fix. Before presenting, check the deactivated-user line against src/lib/auth.ts: getRoleAndActor already refuses a deactivated user on API calls, so the remaining gap is the page shell and middleware, which only check the token.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Seeded accounts, all with password password123. Step 1: receptionist@unza.zm, Verify Student 2022082613 (Butemwe Nkinke). Optional contrast: try 2023050999 (suspended) and 2018010001 (alumnus) to show refusals, and 1234567890 for not found. Step 2: butemwe.nkinke@students.unza.zm, request an appointment. Step 4: dr.mwanza@unza.zm, order Haemoglobin and Malaria RDT, prescribe Paracetamol 1g with quantity 10. Step 5: lab@unza.zm records the results. Run through the whole demo twice beforehand (about 5 minutes).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GRID-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RI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6473952"/>
            <a:ext cx="5486400" cy="228600"/>
          </a:xfrm>
          <a:prstGeom prst="rect">
            <a:avLst/>
          </a:prstGeom>
          <a:noFill/>
          <a:ln/>
        </p:spPr>
        <p:txBody>
          <a:bodyPr wrap="square" lIns="0" tIns="0" rIns="0" bIns="0" rtlCol="0" anchor="ctr"/>
          <a:lstStyle/>
          <a:p>
            <a:pPr indent="0" marL="0">
              <a:buNone/>
            </a:pPr>
            <a:r>
              <a:rPr lang="en-US" sz="1000" dirty="0">
                <a:solidFill>
                  <a:srgbClr val="3F4573"/>
                </a:solidFill>
              </a:rPr>
              <a:t>Final Year Project • Academic Year 2026</a:t>
            </a:r>
            <a:endParaRPr lang="en-US" sz="1000" dirty="0"/>
          </a:p>
        </p:txBody>
      </p:sp>
      <p:sp>
        <p:nvSpPr>
          <p:cNvPr id="25" name="Slide Number Placeholder 0"/>
          <p:cNvSpPr>
            <a:spLocks noGrp="1"/>
          </p:cNvSpPr>
          <p:nvPr>
            <p:ph type="sldNum" sz="quarter" idx="4294967295"/>
          </p:nvPr>
        </p:nvSpPr>
        <p:spPr>
          <a:xfrm>
            <a:off x="11338560" y="647395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3F4573"/>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7395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3F457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Cooper Md BT"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Cooper Md BT"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Cooper Md BT"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Cooper Md BT"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Cooper Md BT"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Cooper Md BT"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Cooper Md BT"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Cooper Md BT"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Cooper Md BT"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1-4.png"/><Relationship Id="rId3"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2.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9-7.png"/><Relationship Id="rId3" Type="http://schemas.openxmlformats.org/officeDocument/2006/relationships/image" Target="../media/image-5-6.png"/><Relationship Id="rId4" Type="http://schemas.openxmlformats.org/officeDocument/2006/relationships/image" Target="../media/image-9-3.png"/><Relationship Id="rId5" Type="http://schemas.openxmlformats.org/officeDocument/2006/relationships/image" Target="../media/image-9-4.png"/><Relationship Id="rId6" Type="http://schemas.openxmlformats.org/officeDocument/2006/relationships/image" Target="../media/image-10-6.png"/><Relationship Id="rId7" Type="http://schemas.openxmlformats.org/officeDocument/2006/relationships/image" Target="../media/image-1-5.png"/><Relationship Id="rId8" Type="http://schemas.openxmlformats.org/officeDocument/2006/relationships/slideLayout" Target="../slideLayouts/slideLayout2.xml"/><Relationship Id="rId9" Type="http://schemas.openxmlformats.org/officeDocument/2006/relationships/notesSlide" Target="../notesSlides/notesSlide101.xml"/></Relationships>
</file>

<file path=ppt/slides/_rels/slide5.xml.rels><?xml version='1.0' encoding='UTF-8' standalone='yes'?>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9-7.png"/><Relationship Id="rId3" Type="http://schemas.openxmlformats.org/officeDocument/2006/relationships/image" Target="../media/image-5-3.png"/><Relationship Id="rId4" Type="http://schemas.openxmlformats.org/officeDocument/2006/relationships/image" Target="../media/image-9-3.png"/><Relationship Id="rId5" Type="http://schemas.openxmlformats.org/officeDocument/2006/relationships/image" Target="../media/image-9-4.png"/><Relationship Id="rId6" Type="http://schemas.openxmlformats.org/officeDocument/2006/relationships/image" Target="../media/image-3-5.png"/><Relationship Id="rId7" Type="http://schemas.openxmlformats.org/officeDocument/2006/relationships/image" Target="../media/image-8-13.png"/><Relationship Id="rId8" Type="http://schemas.openxmlformats.org/officeDocument/2006/relationships/image" Target="../media/image-10-6.png"/><Relationship Id="rId9" Type="http://schemas.openxmlformats.org/officeDocument/2006/relationships/image" Target="../media/image-4-2.png"/><Relationship Id="rId10"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5-4.png"/><Relationship Id="rId3" Type="http://schemas.openxmlformats.org/officeDocument/2006/relationships/image" Target="../media/image-9-3.png"/><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5-3.png"/><Relationship Id="rId3" Type="http://schemas.openxmlformats.org/officeDocument/2006/relationships/image" Target="../media/image-9-7.png"/><Relationship Id="rId4" Type="http://schemas.openxmlformats.org/officeDocument/2006/relationships/image" Target="../media/image-3-2.png"/><Relationship Id="rId5" Type="http://schemas.openxmlformats.org/officeDocument/2006/relationships/image" Target="../media/image-8-13.png"/><Relationship Id="rId6" Type="http://schemas.openxmlformats.org/officeDocument/2006/relationships/image" Target="../media/image-5-6.png"/><Relationship Id="rId7" Type="http://schemas.openxmlformats.org/officeDocument/2006/relationships/image" Target="../media/image-4-3.png"/><Relationship Id="rId8"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6-2.png"/><Relationship Id="rId8"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3-4.png"/><Relationship Id="rId6" Type="http://schemas.openxmlformats.org/officeDocument/2006/relationships/image" Target="../media/image-5-5.png"/><Relationship Id="rId7" Type="http://schemas.openxmlformats.org/officeDocument/2006/relationships/image" Target="../media/image-5-6.png"/><Relationship Id="rId8" Type="http://schemas.openxmlformats.org/officeDocument/2006/relationships/slideLayout" Target="../slideLayouts/slideLayout2.xml"/><Relationship Id="rId9" Type="http://schemas.openxmlformats.org/officeDocument/2006/relationships/notesSlide" Target="../notesSlides/notesSlide102.xml"/></Relationships>
</file>

<file path=ppt/slides/_rels/slide10.xml.rels><?xml version='1.0' encoding='UTF-8' standalone='yes'?>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5-5.png"/><Relationship Id="rId3" Type="http://schemas.openxmlformats.org/officeDocument/2006/relationships/image" Target="../media/image-5-4.png"/><Relationship Id="rId4" Type="http://schemas.openxmlformats.org/officeDocument/2006/relationships/image" Target="../media/image-8-3.png"/><Relationship Id="rId5" Type="http://schemas.openxmlformats.org/officeDocument/2006/relationships/image" Target="../media/image-3-4.png"/><Relationship Id="rId6" Type="http://schemas.openxmlformats.org/officeDocument/2006/relationships/image" Target="../media/image-5-3.png"/><Relationship Id="rId7" Type="http://schemas.openxmlformats.org/officeDocument/2006/relationships/image" Target="../media/image-10-3.png"/><Relationship Id="rId8" Type="http://schemas.openxmlformats.org/officeDocument/2006/relationships/slideLayout" Target="../slideLayouts/slideLayout2.xml"/><Relationship Id="rId9" Type="http://schemas.openxmlformats.org/officeDocument/2006/relationships/notesSlide" Target="../notesSlides/notesSlide103.xml"/></Relationships>
</file>

<file path=ppt/slides/_rels/slide11.xml.rels><?xml version='1.0' encoding='UTF-8' standalone='yes'?>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9-7.png"/><Relationship Id="rId3" Type="http://schemas.openxmlformats.org/officeDocument/2006/relationships/image" Target="../media/image-9-3.png"/><Relationship Id="rId4" Type="http://schemas.openxmlformats.org/officeDocument/2006/relationships/image" Target="../media/image-3-3.png"/><Relationship Id="rId5" Type="http://schemas.openxmlformats.org/officeDocument/2006/relationships/image" Target="../media/image-9-4.png"/><Relationship Id="rId6" Type="http://schemas.openxmlformats.org/officeDocument/2006/relationships/image" Target="../media/image-3-5.png"/><Relationship Id="rId7" Type="http://schemas.openxmlformats.org/officeDocument/2006/relationships/image" Target="../media/image-3-6.png"/><Relationship Id="rId8" Type="http://schemas.openxmlformats.org/officeDocument/2006/relationships/image" Target="../media/image-5-6.png"/><Relationship Id="rId9"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9-7.png"/><Relationship Id="rId3" Type="http://schemas.openxmlformats.org/officeDocument/2006/relationships/image" Target="../media/image-8-13.png"/><Relationship Id="rId4" Type="http://schemas.openxmlformats.org/officeDocument/2006/relationships/image" Target="../media/image-3-5.png"/><Relationship Id="rId5" Type="http://schemas.openxmlformats.org/officeDocument/2006/relationships/image" Target="../media/image-10-6.png"/><Relationship Id="rId6" Type="http://schemas.openxmlformats.org/officeDocument/2006/relationships/image" Target="../media/image-4-2.png"/><Relationship Id="rId7"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10-6.png"/><Relationship Id="rId3" Type="http://schemas.openxmlformats.org/officeDocument/2006/relationships/image" Target="../media/image-5-3.png"/><Relationship Id="rId4" Type="http://schemas.openxmlformats.org/officeDocument/2006/relationships/image" Target="../media/image-3-4.png"/><Relationship Id="rId5" Type="http://schemas.openxmlformats.org/officeDocument/2006/relationships/image" Target="../media/image-5-4.png"/><Relationship Id="rId6" Type="http://schemas.openxmlformats.org/officeDocument/2006/relationships/image" Target="../media/image-10-3.png"/><Relationship Id="rId7" Type="http://schemas.openxmlformats.org/officeDocument/2006/relationships/image" Target="../media/image-6-2.png"/><Relationship Id="rId8" Type="http://schemas.openxmlformats.org/officeDocument/2006/relationships/slideLayout" Target="../slideLayouts/slideLayout2.xml"/><Relationship Id="rId9" Type="http://schemas.openxmlformats.org/officeDocument/2006/relationships/notesSlide" Target="../notesSlides/notesSlide104.xml"/></Relationships>
</file>

<file path=ppt/slides/_rels/slide14.xml.rels><?xml version='1.0' encoding='UTF-8' standalone='yes'?>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9-4.png"/><Relationship Id="rId3" Type="http://schemas.openxmlformats.org/officeDocument/2006/relationships/image" Target="../media/image-10-3.png"/><Relationship Id="rId4" Type="http://schemas.openxmlformats.org/officeDocument/2006/relationships/image" Target="../media/image-10-6.png"/><Relationship Id="rId5" Type="http://schemas.openxmlformats.org/officeDocument/2006/relationships/image" Target="../media/image-5-5.png"/><Relationship Id="rId6" Type="http://schemas.openxmlformats.org/officeDocument/2006/relationships/image" Target="../media/image-4-3.png"/><Relationship Id="rId7" Type="http://schemas.openxmlformats.org/officeDocument/2006/relationships/slideLayout" Target="../slideLayouts/slideLayout2.xml"/><Relationship Id="rId8" Type="http://schemas.openxmlformats.org/officeDocument/2006/relationships/notesSlide" Target="../notesSlides/notesSlide105.xml"/></Relationships>
</file>

<file path=ppt/slides/_rels/slide15.xml.rels><?xml version='1.0' encoding='UTF-8' standalone='yes'?>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3-5.png"/><Relationship Id="rId3" Type="http://schemas.openxmlformats.org/officeDocument/2006/relationships/image" Target="../media/image-10-3.png"/><Relationship Id="rId4" Type="http://schemas.openxmlformats.org/officeDocument/2006/relationships/image" Target="../media/image-3-7.png"/><Relationship Id="rId5" Type="http://schemas.openxmlformats.org/officeDocument/2006/relationships/image" Target="../media/image-9-3.png"/><Relationship Id="rId6" Type="http://schemas.openxmlformats.org/officeDocument/2006/relationships/image" Target="../media/image-6-2.png"/><Relationship Id="rId7" Type="http://schemas.openxmlformats.org/officeDocument/2006/relationships/slideLayout" Target="../slideLayouts/slideLayout2.xml"/><Relationship Id="rId8" Type="http://schemas.openxmlformats.org/officeDocument/2006/relationships/notesSlide" Target="../notesSlides/notesSlide106.xml"/></Relationships>
</file>

<file path=ppt/slides/_rels/slide16.xml.rels><?xml version='1.0' encoding='UTF-8' standalone='yes'?>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9-7.png"/><Relationship Id="rId3" Type="http://schemas.openxmlformats.org/officeDocument/2006/relationships/image" Target="../media/image-5-3.pn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image" Target="../media/image-8-15.png"/><Relationship Id="rId16" Type="http://schemas.openxmlformats.org/officeDocument/2006/relationships/slideLayout" Target="../slideLayouts/slideLayout2.xml"/><Relationship Id="rId17" Type="http://schemas.openxmlformats.org/officeDocument/2006/relationships/notesSlide" Target="../notesSlides/notesSlide8.xml"/></Relationships>
</file>

<file path=ppt/slides/_rels/slide18.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2.xml"/><Relationship Id="rId10"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2.xml"/><Relationship Id="rId9" Type="http://schemas.openxmlformats.org/officeDocument/2006/relationships/notesSlide" Target="../notesSlides/notesSlide10.xml"/></Relationships>
</file>

<file path=ppt/slides/_rels/slide20.xml.rels><?xml version='1.0' encoding='UTF-8' standalone='yes'?>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3-6.png"/><Relationship Id="rId3" Type="http://schemas.openxmlformats.org/officeDocument/2006/relationships/image" Target="../media/image-9-7.png"/><Relationship Id="rId4" Type="http://schemas.openxmlformats.org/officeDocument/2006/relationships/image" Target="../media/image-3-3.png"/><Relationship Id="rId5" Type="http://schemas.openxmlformats.org/officeDocument/2006/relationships/image" Target="../media/image-8-13.png"/><Relationship Id="rId6"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2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23.xml.rels><?xml version='1.0' encoding='UTF-8' standalone='yes'?>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5-3.png"/><Relationship Id="rId3" Type="http://schemas.openxmlformats.org/officeDocument/2006/relationships/image" Target="../media/image-10-6.png"/><Relationship Id="rId4" Type="http://schemas.openxmlformats.org/officeDocument/2006/relationships/image" Target="../media/image-3-5.png"/><Relationship Id="rId5" Type="http://schemas.openxmlformats.org/officeDocument/2006/relationships/image" Target="../media/image-3-4.png"/><Relationship Id="rId6" Type="http://schemas.openxmlformats.org/officeDocument/2006/relationships/image" Target="../media/image-4-2.png"/><Relationship Id="rId7" Type="http://schemas.openxmlformats.org/officeDocument/2006/relationships/slideLayout" Target="../slideLayouts/slideLayout2.xml"/><Relationship Id="rId8" Type="http://schemas.openxmlformats.org/officeDocument/2006/relationships/notesSlide" Target="../notesSlides/notesSlide107.xml"/></Relationships>
</file>

<file path=ppt/slides/_rels/slide24.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25.xml.rels><?xml version='1.0' encoding='UTF-8' standalone='yes'?>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4-3.png"/><Relationship Id="rId3"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27.xml.rels><?xml version='1.0' encoding='UTF-8' standalone='yes'?>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5-4.png"/><Relationship Id="rId3" Type="http://schemas.openxmlformats.org/officeDocument/2006/relationships/image" Target="../media/image-10-6.png"/><Relationship Id="rId4" Type="http://schemas.openxmlformats.org/officeDocument/2006/relationships/image" Target="../media/image-5-3.png"/><Relationship Id="rId5" Type="http://schemas.openxmlformats.org/officeDocument/2006/relationships/slideLayout" Target="../slideLayouts/slideLayout2.xml"/><Relationship Id="rId6" Type="http://schemas.openxmlformats.org/officeDocument/2006/relationships/notesSlide" Target="../notesSlides/notesSlide108.xml"/></Relationships>
</file>

<file path=ppt/slides/_rels/slide28.xml.rels><?xml version='1.0' encoding='UTF-8' standalone='yes'?>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3-6.png"/><Relationship Id="rId3" Type="http://schemas.openxmlformats.org/officeDocument/2006/relationships/image" Target="../media/image-10-5.png"/><Relationship Id="rId4" Type="http://schemas.openxmlformats.org/officeDocument/2006/relationships/image" Target="../media/image-10-6.png"/><Relationship Id="rId5" Type="http://schemas.openxmlformats.org/officeDocument/2006/relationships/image" Target="../media/image-5-6.png"/><Relationship Id="rId6" Type="http://schemas.openxmlformats.org/officeDocument/2006/relationships/image" Target="../media/image-8-3.png"/><Relationship Id="rId7" Type="http://schemas.openxmlformats.org/officeDocument/2006/relationships/image" Target="../media/image-9-3.png"/><Relationship Id="rId8" Type="http://schemas.openxmlformats.org/officeDocument/2006/relationships/image" Target="../media/image-3-3.png"/><Relationship Id="rId9" Type="http://schemas.openxmlformats.org/officeDocument/2006/relationships/image" Target="../media/image-5-3.png"/><Relationship Id="rId10"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3-3.png"/><Relationship Id="rId3" Type="http://schemas.openxmlformats.org/officeDocument/2006/relationships/image" Target="../media/image-9-7.png"/><Relationship Id="rId4" Type="http://schemas.openxmlformats.org/officeDocument/2006/relationships/image" Target="../media/image-5-2.png"/><Relationship Id="rId5" Type="http://schemas.openxmlformats.org/officeDocument/2006/relationships/image" Target="../media/image-10-5.png"/><Relationship Id="rId6" Type="http://schemas.openxmlformats.org/officeDocument/2006/relationships/image" Target="../media/image-8-3.png"/><Relationship Id="rId7" Type="http://schemas.openxmlformats.org/officeDocument/2006/relationships/image" Target="../media/image-2-4.png"/><Relationship Id="rId8"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5-3.png"/><Relationship Id="rId3" Type="http://schemas.openxmlformats.org/officeDocument/2006/relationships/image" Target="../media/image-9-7.png"/><Relationship Id="rId4" Type="http://schemas.openxmlformats.org/officeDocument/2006/relationships/image" Target="../media/image-5-6.png"/><Relationship Id="rId5" Type="http://schemas.openxmlformats.org/officeDocument/2006/relationships/image" Target="../media/image-5-4.png"/><Relationship Id="rId6" Type="http://schemas.openxmlformats.org/officeDocument/2006/relationships/image" Target="../media/image-4-3.png"/><Relationship Id="rId7"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9-7.png"/><Relationship Id="rId3" Type="http://schemas.openxmlformats.org/officeDocument/2006/relationships/image" Target="../media/image-3-7.png"/><Relationship Id="rId4" Type="http://schemas.openxmlformats.org/officeDocument/2006/relationships/image" Target="../media/image-10-6.png"/><Relationship Id="rId5" Type="http://schemas.openxmlformats.org/officeDocument/2006/relationships/image" Target="../media/image-4-2.png"/><Relationship Id="rId6"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33.xml.rels><?xml version='1.0' encoding='UTF-8' standalone='yes'?>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9-7.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9-3.png"/><Relationship Id="rId6" Type="http://schemas.openxmlformats.org/officeDocument/2006/relationships/image" Target="../media/image-3-5.png"/><Relationship Id="rId7" Type="http://schemas.openxmlformats.org/officeDocument/2006/relationships/image" Target="../media/image-1-4.png"/><Relationship Id="rId8" Type="http://schemas.openxmlformats.org/officeDocument/2006/relationships/slideLayout" Target="../slideLayouts/slideLayout2.xml"/><Relationship Id="rId9" Type="http://schemas.openxmlformats.org/officeDocument/2006/relationships/notesSlide" Target="../notesSlides/notesSlide109.xml"/></Relationships>
</file>

<file path=ppt/slides/_rels/slide34.xml.rels><?xml version='1.0' encoding='UTF-8' standalone='yes'?>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9-3.png"/><Relationship Id="rId3" Type="http://schemas.openxmlformats.org/officeDocument/2006/relationships/image" Target="../media/image-9-4.png"/><Relationship Id="rId4" Type="http://schemas.openxmlformats.org/officeDocument/2006/relationships/image" Target="../media/image-3-6.png"/><Relationship Id="rId5" Type="http://schemas.openxmlformats.org/officeDocument/2006/relationships/image" Target="../media/image-5-6.png"/><Relationship Id="rId6" Type="http://schemas.openxmlformats.org/officeDocument/2006/relationships/image" Target="../media/image-8-13.png"/><Relationship Id="rId7" Type="http://schemas.openxmlformats.org/officeDocument/2006/relationships/image" Target="../media/image-2-4.png"/><Relationship Id="rId8" Type="http://schemas.openxmlformats.org/officeDocument/2006/relationships/slideLayout" Target="../slideLayouts/slideLayout2.xml"/><Relationship Id="rId9" Type="http://schemas.openxmlformats.org/officeDocument/2006/relationships/notesSlide" Target="../notesSlides/notesSlide21.xml"/></Relationships>
</file>

<file path=ppt/slides/_rels/slide35.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36.xml.rels><?xml version='1.0' encoding='UTF-8' standalone='yes'?>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9-7.png"/><Relationship Id="rId3" Type="http://schemas.openxmlformats.org/officeDocument/2006/relationships/image" Target="../media/image-8-13.png"/><Relationship Id="rId4" Type="http://schemas.openxmlformats.org/officeDocument/2006/relationships/image" Target="../media/image-3-5.png"/><Relationship Id="rId5" Type="http://schemas.openxmlformats.org/officeDocument/2006/relationships/image" Target="../media/image-10-6.png"/><Relationship Id="rId6" Type="http://schemas.openxmlformats.org/officeDocument/2006/relationships/image" Target="../media/image-4-2.png"/><Relationship Id="rId7" Type="http://schemas.openxmlformats.org/officeDocument/2006/relationships/slideLayout" Target="../slideLayouts/slideLayout2.xml"/><Relationship Id="rId20" Type="http://schemas.openxmlformats.org/officeDocument/2006/relationships/image" Target="../media/erd-diagram.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abel Butemwe Nkinke · 2022082613" descr="preencoded.png">    </p:cNvPr>
          <p:cNvPicPr>
            <a:picLocks noChangeAspect="1"/>
          </p:cNvPicPr>
          <p:nvPr/>
        </p:nvPicPr>
        <p:blipFill>
          <a:blip r:embed="rId1"/>
          <a:stretch>
            <a:fillRect/>
          </a:stretch>
        </p:blipFill>
        <p:spPr>
          <a:xfrm>
            <a:off x="640080" y="502920"/>
            <a:ext cx="3543300" cy="457200"/>
          </a:xfrm>
          <a:prstGeom prst="rect">
            <a:avLst/>
          </a:prstGeom>
        </p:spPr>
      </p:pic>
      <p:sp>
        <p:nvSpPr>
          <p:cNvPr id="3" name="Text 0"/>
          <p:cNvSpPr txBox="1"/>
          <p:nvPr/>
        </p:nvSpPr>
        <p:spPr>
          <a:xfrm>
            <a:off x="640080" y="502920"/>
            <a:ext cx="3543300" cy="457200"/>
          </a:xfrm>
          <a:prstGeom prst="rect">
            <a:avLst/>
          </a:prstGeom>
          <a:noFill/>
          <a:ln/>
        </p:spPr>
        <p:txBody>
          <a:bodyPr wrap="square" lIns="0" tIns="0" rIns="0" bIns="0" rtlCol="0" anchor="ctr"/>
          <a:lstStyle/>
          <a:p>
            <a:pPr algn="ctr" indent="0" marL="0">
              <a:buNone/>
            </a:pPr>
            <a:r>
              <a:rPr lang="en-US" sz="1600" b="1" dirty="0">
                <a:solidFill>
                  <a:schemeClr val="tx1"/>
                </a:solidFill>
              </a:rPr>
              <a:t>Butemwe Nkinke · 2022082613</a:t>
            </a:r>
            <a:endParaRPr lang="en-US" sz="1600" dirty="0"/>
          </a:p>
        </p:txBody>
      </p:sp>
      <p:pic>
        <p:nvPicPr>
          <p:cNvPr id="4" name="Label Keila Ketlan Ngandu · 2022009908" descr="preencoded.png">    </p:cNvPr>
          <p:cNvPicPr>
            <a:picLocks noChangeAspect="1"/>
          </p:cNvPicPr>
          <p:nvPr/>
        </p:nvPicPr>
        <p:blipFill>
          <a:blip r:embed="rId2"/>
          <a:stretch>
            <a:fillRect/>
          </a:stretch>
        </p:blipFill>
        <p:spPr>
          <a:xfrm>
            <a:off x="640080" y="1069848"/>
            <a:ext cx="4114800" cy="457200"/>
          </a:xfrm>
          <a:prstGeom prst="rect">
            <a:avLst/>
          </a:prstGeom>
        </p:spPr>
      </p:pic>
      <p:sp>
        <p:nvSpPr>
          <p:cNvPr id="5" name="Text 1"/>
          <p:cNvSpPr txBox="1"/>
          <p:nvPr/>
        </p:nvSpPr>
        <p:spPr>
          <a:xfrm>
            <a:off x="640080" y="1069848"/>
            <a:ext cx="4114800" cy="457200"/>
          </a:xfrm>
          <a:prstGeom prst="rect">
            <a:avLst/>
          </a:prstGeom>
          <a:noFill/>
          <a:ln/>
        </p:spPr>
        <p:txBody>
          <a:bodyPr wrap="square" lIns="0" tIns="0" rIns="0" bIns="0" rtlCol="0" anchor="ctr"/>
          <a:lstStyle/>
          <a:p>
            <a:pPr algn="ctr" indent="0" marL="0">
              <a:buNone/>
            </a:pPr>
            <a:r>
              <a:rPr lang="en-US" sz="1600" b="1" dirty="0">
                <a:solidFill>
                  <a:schemeClr val="tx1"/>
                </a:solidFill>
              </a:rPr>
              <a:t>Keila Ketlan Ngandu · 2022009908</a:t>
            </a:r>
            <a:endParaRPr lang="en-US" sz="1600" dirty="0"/>
          </a:p>
        </p:txBody>
      </p:sp>
      <p:pic>
        <p:nvPicPr>
          <p:cNvPr id="6" name="Label Supervisor: Mrs. Monde Kabemba" descr="preencoded.png">    </p:cNvPr>
          <p:cNvPicPr>
            <a:picLocks noChangeAspect="1"/>
          </p:cNvPicPr>
          <p:nvPr/>
        </p:nvPicPr>
        <p:blipFill>
          <a:blip r:embed="rId3"/>
          <a:stretch>
            <a:fillRect/>
          </a:stretch>
        </p:blipFill>
        <p:spPr>
          <a:xfrm>
            <a:off x="640080" y="1636776"/>
            <a:ext cx="3886200" cy="457200"/>
          </a:xfrm>
          <a:prstGeom prst="rect">
            <a:avLst/>
          </a:prstGeom>
        </p:spPr>
      </p:pic>
      <p:sp>
        <p:nvSpPr>
          <p:cNvPr id="7" name="Text 2"/>
          <p:cNvSpPr txBox="1"/>
          <p:nvPr/>
        </p:nvSpPr>
        <p:spPr>
          <a:xfrm>
            <a:off x="640080" y="1636776"/>
            <a:ext cx="3886200" cy="457200"/>
          </a:xfrm>
          <a:prstGeom prst="rect">
            <a:avLst/>
          </a:prstGeom>
          <a:noFill/>
          <a:ln/>
        </p:spPr>
        <p:txBody>
          <a:bodyPr wrap="square" lIns="0" tIns="0" rIns="0" bIns="0" rtlCol="0" anchor="ctr"/>
          <a:lstStyle/>
          <a:p>
            <a:pPr algn="ctr" indent="0" marL="0">
              <a:buNone/>
            </a:pPr>
            <a:r>
              <a:rPr lang="en-US" sz="1600" b="1" dirty="0">
                <a:solidFill>
                  <a:schemeClr val="tx1"/>
                </a:solidFill>
              </a:rPr>
              <a:t>Supervisor: Mrs. Monde Kabemba</a:t>
            </a:r>
            <a:endParaRPr lang="en-US" sz="1600" dirty="0"/>
          </a:p>
        </p:txBody>
      </p:sp>
      <p:sp>
        <p:nvSpPr>
          <p:cNvPr id="8" name="Text 3"/>
          <p:cNvSpPr txBox="1"/>
          <p:nvPr/>
        </p:nvSpPr>
        <p:spPr>
          <a:xfrm>
            <a:off x="640080" y="2468880"/>
            <a:ext cx="6766560" cy="1280160"/>
          </a:xfrm>
          <a:prstGeom prst="rect">
            <a:avLst/>
          </a:prstGeom>
          <a:noFill/>
          <a:ln/>
        </p:spPr>
        <p:txBody>
          <a:bodyPr wrap="square" lIns="0" tIns="0" rIns="0" bIns="0" rtlCol="0" anchor="ctr"/>
          <a:lstStyle/>
          <a:p>
            <a:pPr indent="0" marL="0">
              <a:buNone/>
            </a:pPr>
            <a:r>
              <a:rPr lang="en-US" sz="7200" dirty="0">
                <a:solidFill>
                  <a:schemeClr val="tx1"/>
                </a:solidFill>
                <a:latin typeface="+mj-lt" pitchFamily="34" charset="0"/>
                <a:ea typeface="+mj-lt" pitchFamily="34" charset="-122"/>
                <a:cs typeface="+mj-lt" pitchFamily="34" charset="-120"/>
              </a:rPr>
              <a:t>MediVault</a:t>
            </a:r>
            <a:endParaRPr lang="en-US" sz="7200" dirty="0"/>
          </a:p>
        </p:txBody>
      </p:sp>
      <p:sp>
        <p:nvSpPr>
          <p:cNvPr id="9" name="Text 4"/>
          <p:cNvSpPr txBox="1"/>
          <p:nvPr/>
        </p:nvSpPr>
        <p:spPr>
          <a:xfrm>
            <a:off x="640080" y="3840480"/>
            <a:ext cx="6583680" cy="868680"/>
          </a:xfrm>
          <a:prstGeom prst="rect">
            <a:avLst/>
          </a:prstGeom>
          <a:noFill/>
          <a:ln/>
        </p:spPr>
        <p:txBody>
          <a:bodyPr wrap="square" lIns="0" tIns="0" rIns="0" bIns="0" rtlCol="0" anchor="t"/>
          <a:lstStyle/>
          <a:p>
            <a:pPr indent="0" marL="0">
              <a:lnSpc>
                <a:spcPct val="115000"/>
              </a:lnSpc>
              <a:buNone/>
            </a:pPr>
            <a:r>
              <a:rPr lang="en-US" sz="2200" b="1" dirty="0">
                <a:solidFill>
                  <a:schemeClr val="tx1"/>
                </a:solidFill>
              </a:rPr>
              <a:t>A Role-Based Patient Portal for the University of Zambia Clinic</a:t>
            </a:r>
            <a:endParaRPr lang="en-US" sz="2200" dirty="0"/>
          </a:p>
        </p:txBody>
      </p:sp>
      <p:sp>
        <p:nvSpPr>
          <p:cNvPr id="10" name="Text 5"/>
          <p:cNvSpPr txBox="1"/>
          <p:nvPr/>
        </p:nvSpPr>
        <p:spPr>
          <a:xfrm>
            <a:off x="640080" y="4846320"/>
            <a:ext cx="6583680" cy="365760"/>
          </a:xfrm>
          <a:prstGeom prst="rect">
            <a:avLst/>
          </a:prstGeom>
          <a:noFill/>
          <a:ln/>
        </p:spPr>
        <p:txBody>
          <a:bodyPr wrap="square" lIns="0" tIns="0" rIns="0" bIns="0" rtlCol="0" anchor="ctr"/>
          <a:lstStyle/>
          <a:p>
            <a:pPr indent="0" marL="0">
              <a:buNone/>
            </a:pPr>
            <a:r>
              <a:rPr lang="en-US" sz="1700" b="1" dirty="0">
                <a:solidFill>
                  <a:schemeClr val="tx1"/>
                </a:solidFill>
              </a:rPr>
              <a:t>Final Year Project Presentation · 2026</a:t>
            </a:r>
            <a:endParaRPr lang="en-US" sz="1700" dirty="0"/>
          </a:p>
        </p:txBody>
      </p:sp>
      <p:sp>
        <p:nvSpPr>
          <p:cNvPr id="11" name="Text 6"/>
          <p:cNvSpPr txBox="1"/>
          <p:nvPr/>
        </p:nvSpPr>
        <p:spPr>
          <a:xfrm>
            <a:off x="640080" y="5349240"/>
            <a:ext cx="6583680" cy="548640"/>
          </a:xfrm>
          <a:prstGeom prst="rect">
            <a:avLst/>
          </a:prstGeom>
          <a:noFill/>
          <a:ln/>
        </p:spPr>
        <p:txBody>
          <a:bodyPr wrap="square" lIns="0" tIns="0" rIns="0" bIns="0" rtlCol="0" anchor="t"/>
          <a:lstStyle/>
          <a:p>
            <a:pPr indent="0" marL="0">
              <a:lnSpc>
                <a:spcPct val="115000"/>
              </a:lnSpc>
              <a:buNone/>
            </a:pPr>
            <a:r>
              <a:rPr lang="en-US" sz="1300" dirty="0">
                <a:solidFill>
                  <a:schemeClr val="tx1"/>
                </a:solidFill>
              </a:rPr>
              <a:t>University of Zambia · School of Natural and Applied Sciences · Department of Computing and Informatics</a:t>
            </a:r>
            <a:endParaRPr lang="en-US" sz="1300" dirty="0"/>
          </a:p>
        </p:txBody>
      </p:sp>
      <p:pic>
        <p:nvPicPr>
          <p:cNvPr id="12" name="Stethoscope" descr="preencoded.png">    </p:cNvPr>
          <p:cNvPicPr>
            <a:picLocks noChangeAspect="1"/>
          </p:cNvPicPr>
          <p:nvPr/>
        </p:nvPicPr>
        <p:blipFill>
          <a:blip r:embed="rId4"/>
          <a:stretch>
            <a:fillRect/>
          </a:stretch>
        </p:blipFill>
        <p:spPr>
          <a:xfrm rot="-480000">
            <a:off x="7680960" y="1463040"/>
            <a:ext cx="5394960" cy="5394960"/>
          </a:xfrm>
          <a:prstGeom prst="rect">
            <a:avLst/>
          </a:prstGeom>
        </p:spPr>
      </p:pic>
      <p:pic>
        <p:nvPicPr>
          <p:cNvPr id="13" name="Notebook" descr="preencoded.png">    </p:cNvPr>
          <p:cNvPicPr>
            <a:picLocks noChangeAspect="1"/>
          </p:cNvPicPr>
          <p:nvPr/>
        </p:nvPicPr>
        <p:blipFill>
          <a:blip r:embed="rId5"/>
          <a:stretch>
            <a:fillRect/>
          </a:stretch>
        </p:blipFill>
        <p:spPr>
          <a:xfrm rot="1080000">
            <a:off x="10241280" y="-685800"/>
            <a:ext cx="2286000" cy="2286000"/>
          </a:xfrm>
          <a:prstGeom prst="rect">
            <a:avLst/>
          </a:prstGeom>
        </p:spPr>
      </p:pic>
      <p:sp>
        <p:nvSpPr>
          <p:cNvPr id="25" name="Slide Number Placeholder 0"/>
          <p:cNvSpPr>
            <a:spLocks noGrp="1"/>
          </p:cNvSpPr>
          <p:nvPr>
            <p:ph type="sldNum" sz="quarter" idx="4294967295"/>
          </p:nvPr>
        </p:nvSpPr>
        <p:spPr>
          <a:xfrm>
            <a:off x="11338560" y="647395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3F4573"/>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roles">
    <p:spTree>
      <p:nvGrpSpPr>
        <p:cNvPr id="1" name=""/>
        <p:cNvGrpSpPr/>
        <p:nvPr/>
      </p:nvGrpSpPr>
      <p:grpSpPr>
        <a:xfrm>
          <a:off x="0" y="0"/>
          <a:ext cx="0" cy="0"/>
          <a:chOff x="0" y="0"/>
          <a:chExt cx="0" cy="0"/>
        </a:xfrm>
      </p:grpSpPr>
      <p:pic>
        <p:nvPicPr>
          <p:cNvPr id="2" name="Label Team Roles and Responsibilities" descr=""/>
          <p:cNvPicPr>
            <a:picLocks noChangeAspect="1"/>
          </p:cNvPicPr>
          <p:nvPr/>
        </p:nvPicPr>
        <p:blipFill>
          <a:blip r:embed="rId1"/>
          <a:stretch>
            <a:fillRect/>
          </a:stretch>
        </p:blipFill>
        <p:spPr>
          <a:xfrm>
            <a:off x="640080" y="274320"/>
            <a:ext cx="4172000" cy="457200"/>
          </a:xfrm>
          <a:prstGeom prst="rect">
            <a:avLst/>
          </a:prstGeom>
        </p:spPr>
      </p:pic>
      <p:sp>
        <p:nvSpPr>
          <p:cNvPr id="3" name="Title"/>
          <p:cNvSpPr txBox="1"/>
          <p:nvPr/>
        </p:nvSpPr>
        <p:spPr>
          <a:xfrm>
            <a:off x="640080" y="274320"/>
            <a:ext cx="4172000" cy="457200"/>
          </a:xfrm>
          <a:prstGeom prst="rect">
            <a:avLst/>
          </a:prstGeom>
          <a:noFill/>
          <a:ln/>
        </p:spPr>
        <p:txBody>
          <a:bodyPr wrap="square" lIns="0" tIns="0" rIns="0" bIns="0" rtlCol="0" anchor="ctr"/>
          <a:lstStyle/>
          <a:p>
            <a:pPr algn="ctr" indent="0" marL="0">
              <a:buNone/>
            </a:pPr>
            <a:r>
              <a:rPr lang="en-US" sz="1600" b="1" dirty="0">
                <a:solidFill>
                  <a:schemeClr val="tx1"/>
                </a:solidFill>
              </a:rPr>
              <a:t>Team Roles and Responsibilities</a:t>
            </a:r>
          </a:p>
        </p:txBody>
      </p:sp>
      <p:graphicFrame>
        <p:nvGraphicFramePr>
          <p:cNvPr id="4" name="Team table"/>
          <p:cNvGraphicFramePr>
            <a:graphicFrameLocks noGrp="1"/>
          </p:cNvGraphicFramePr>
          <p:nvPr/>
        </p:nvGraphicFramePr>
        <p:xfrm>
          <a:off x="731520" y="1143000"/>
          <a:ext cx="10927080" cy="1260000"/>
        </p:xfrm>
        <a:graphic>
          <a:graphicData uri="http://schemas.openxmlformats.org/drawingml/2006/table">
            <a:tbl>
              <a:tblPr/>
              <a:tblGrid>
                <a:gridCol w="2286000"/>
                <a:gridCol w="1554480"/>
                <a:gridCol w="7086600"/>
              </a:tblGrid>
              <a:tr h="420000">
                <a:tc>
                  <a:txBody>
                    <a:bodyPr/>
                    <a:lstStyle/>
                    <a:p>
                      <a:pPr indent="0" marL="0">
                        <a:buNone/>
                      </a:pPr>
                      <a:r>
                        <a:rPr lang="en-US" sz="1400" b="1" dirty="0">
                          <a:solidFill>
                            <a:srgbClr val="3F4573"/>
                          </a:solidFill>
                        </a:rPr>
                        <a:t>Member</a:t>
                      </a:r>
                    </a:p>
                  </a:txBody>
                  <a:tcPr marL="109728" marR="109728" marT="64008" marB="64008" anchor="ctr">
                    <a:lnL w="12700" cap="flat" cmpd="sng" algn="ctr">
                      <a:solidFill>
                        <a:srgbClr val="CCCCCC"/>
                      </a:solidFill>
                      <a:prstDash val="solid"/>
                    </a:lnL>
                    <a:lnR w="12700" cap="flat" cmpd="sng" algn="ctr">
                      <a:solidFill>
                        <a:srgbClr val="CCCCCC"/>
                      </a:solidFill>
                      <a:prstDash val="solid"/>
                    </a:lnR>
                    <a:lnT w="12700" cap="flat" cmpd="sng" algn="ctr">
                      <a:solidFill>
                        <a:srgbClr val="CCCCCC"/>
                      </a:solidFill>
                      <a:prstDash val="solid"/>
                    </a:lnT>
                    <a:lnB w="12700" cap="flat" cmpd="sng" algn="ctr">
                      <a:solidFill>
                        <a:srgbClr val="CCCCCC"/>
                      </a:solidFill>
                      <a:prstDash val="solid"/>
                    </a:lnB>
                    <a:solidFill>
                      <a:srgbClr val="B7E0F2"/>
                    </a:solidFill>
                  </a:tcPr>
                </a:tc>
                <a:tc>
                  <a:txBody>
                    <a:bodyPr/>
                    <a:lstStyle/>
                    <a:p>
                      <a:pPr indent="0" marL="0">
                        <a:buNone/>
                      </a:pPr>
                      <a:r>
                        <a:rPr lang="en-US" sz="1400" b="1" dirty="0">
                          <a:solidFill>
                            <a:srgbClr val="3F4573"/>
                          </a:solidFill>
                        </a:rPr>
                        <a:t>Computer No.</a:t>
                      </a:r>
                    </a:p>
                  </a:txBody>
                  <a:tcPr marL="109728" marR="109728" marT="64008" marB="64008" anchor="ctr">
                    <a:lnL w="12700" cap="flat" cmpd="sng" algn="ctr">
                      <a:solidFill>
                        <a:srgbClr val="CCCCCC"/>
                      </a:solidFill>
                      <a:prstDash val="solid"/>
                    </a:lnL>
                    <a:lnR w="12700" cap="flat" cmpd="sng" algn="ctr">
                      <a:solidFill>
                        <a:srgbClr val="CCCCCC"/>
                      </a:solidFill>
                      <a:prstDash val="solid"/>
                    </a:lnR>
                    <a:lnT w="12700" cap="flat" cmpd="sng" algn="ctr">
                      <a:solidFill>
                        <a:srgbClr val="CCCCCC"/>
                      </a:solidFill>
                      <a:prstDash val="solid"/>
                    </a:lnT>
                    <a:lnB w="12700" cap="flat" cmpd="sng" algn="ctr">
                      <a:solidFill>
                        <a:srgbClr val="CCCCCC"/>
                      </a:solidFill>
                      <a:prstDash val="solid"/>
                    </a:lnB>
                    <a:solidFill>
                      <a:srgbClr val="B7E0F2"/>
                    </a:solidFill>
                  </a:tcPr>
                </a:tc>
                <a:tc>
                  <a:txBody>
                    <a:bodyPr/>
                    <a:lstStyle/>
                    <a:p>
                      <a:pPr indent="0" marL="0">
                        <a:buNone/>
                      </a:pPr>
                      <a:r>
                        <a:rPr lang="en-US" sz="1400" b="1" dirty="0">
                          <a:solidFill>
                            <a:srgbClr val="3F4573"/>
                          </a:solidFill>
                        </a:rPr>
                        <a:t>Primary Role / Responsibilities</a:t>
                      </a:r>
                    </a:p>
                  </a:txBody>
                  <a:tcPr marL="109728" marR="109728" marT="64008" marB="64008" anchor="ctr">
                    <a:lnL w="12700" cap="flat" cmpd="sng" algn="ctr">
                      <a:solidFill>
                        <a:srgbClr val="CCCCCC"/>
                      </a:solidFill>
                      <a:prstDash val="solid"/>
                    </a:lnL>
                    <a:lnR w="12700" cap="flat" cmpd="sng" algn="ctr">
                      <a:solidFill>
                        <a:srgbClr val="CCCCCC"/>
                      </a:solidFill>
                      <a:prstDash val="solid"/>
                    </a:lnR>
                    <a:lnT w="12700" cap="flat" cmpd="sng" algn="ctr">
                      <a:solidFill>
                        <a:srgbClr val="CCCCCC"/>
                      </a:solidFill>
                      <a:prstDash val="solid"/>
                    </a:lnT>
                    <a:lnB w="12700" cap="flat" cmpd="sng" algn="ctr">
                      <a:solidFill>
                        <a:srgbClr val="CCCCCC"/>
                      </a:solidFill>
                      <a:prstDash val="solid"/>
                    </a:lnB>
                    <a:solidFill>
                      <a:srgbClr val="B7E0F2"/>
                    </a:solidFill>
                  </a:tcPr>
                </a:tc>
              </a:tr>
              <a:tr h="420000">
                <a:tc>
                  <a:txBody>
                    <a:bodyPr/>
                    <a:lstStyle/>
                    <a:p>
                      <a:pPr indent="0" marL="0">
                        <a:buNone/>
                      </a:pPr>
                      <a:r>
                        <a:rPr lang="en-US" sz="1400" dirty="0">
                          <a:solidFill>
                            <a:srgbClr val="3F4573"/>
                          </a:solidFill>
                        </a:rPr>
                        <a:t>Butemwe Nkinke</a:t>
                      </a:r>
                    </a:p>
                  </a:txBody>
                  <a:tcPr marL="109728" marR="109728" marT="64008" marB="64008" anchor="ctr">
                    <a:lnL w="12700" cap="flat" cmpd="sng" algn="ctr">
                      <a:solidFill>
                        <a:srgbClr val="CCCCCC"/>
                      </a:solidFill>
                      <a:prstDash val="solid"/>
                    </a:lnL>
                    <a:lnR w="12700" cap="flat" cmpd="sng" algn="ctr">
                      <a:solidFill>
                        <a:srgbClr val="CCCCCC"/>
                      </a:solidFill>
                      <a:prstDash val="solid"/>
                    </a:lnR>
                    <a:lnT w="12700" cap="flat" cmpd="sng" algn="ctr">
                      <a:solidFill>
                        <a:srgbClr val="CCCCCC"/>
                      </a:solidFill>
                      <a:prstDash val="solid"/>
                    </a:lnT>
                    <a:lnB w="12700" cap="flat" cmpd="sng" algn="ctr">
                      <a:solidFill>
                        <a:srgbClr val="CCCCCC"/>
                      </a:solidFill>
                      <a:prstDash val="solid"/>
                    </a:lnB>
                    <a:solidFill>
                      <a:srgbClr val="FFFFFF"/>
                    </a:solidFill>
                  </a:tcPr>
                </a:tc>
                <a:tc>
                  <a:txBody>
                    <a:bodyPr/>
                    <a:lstStyle/>
                    <a:p>
                      <a:pPr indent="0" marL="0">
                        <a:buNone/>
                      </a:pPr>
                      <a:r>
                        <a:rPr lang="en-US" sz="1400" dirty="0">
                          <a:solidFill>
                            <a:srgbClr val="3F4573"/>
                          </a:solidFill>
                        </a:rPr>
                        <a:t>2022082613</a:t>
                      </a:r>
                    </a:p>
                  </a:txBody>
                  <a:tcPr marL="109728" marR="109728" marT="64008" marB="64008" anchor="ctr">
                    <a:lnL w="12700" cap="flat" cmpd="sng" algn="ctr">
                      <a:solidFill>
                        <a:srgbClr val="CCCCCC"/>
                      </a:solidFill>
                      <a:prstDash val="solid"/>
                    </a:lnL>
                    <a:lnR w="12700" cap="flat" cmpd="sng" algn="ctr">
                      <a:solidFill>
                        <a:srgbClr val="CCCCCC"/>
                      </a:solidFill>
                      <a:prstDash val="solid"/>
                    </a:lnR>
                    <a:lnT w="12700" cap="flat" cmpd="sng" algn="ctr">
                      <a:solidFill>
                        <a:srgbClr val="CCCCCC"/>
                      </a:solidFill>
                      <a:prstDash val="solid"/>
                    </a:lnT>
                    <a:lnB w="12700" cap="flat" cmpd="sng" algn="ctr">
                      <a:solidFill>
                        <a:srgbClr val="CCCCCC"/>
                      </a:solidFill>
                      <a:prstDash val="solid"/>
                    </a:lnB>
                    <a:solidFill>
                      <a:srgbClr val="FFFFFF"/>
                    </a:solidFill>
                  </a:tcPr>
                </a:tc>
                <a:tc>
                  <a:txBody>
                    <a:bodyPr/>
                    <a:lstStyle/>
                    <a:p>
                      <a:pPr indent="0" marL="0">
                        <a:buNone/>
                      </a:pPr>
                      <a:r>
                        <a:rPr lang="en-US" sz="1400" dirty="0">
                          <a:solidFill>
                            <a:srgbClr val="3F4573"/>
                          </a:solidFill>
                        </a:rPr>
                        <a:t>Application development, database design and management, REST API development, JWT authentication, RBAC, input validation, healthcare business logic, role-based dashboards, notifications, care timeline, unit testing, code quality, and application-level audit logging.</a:t>
                      </a:r>
                    </a:p>
                  </a:txBody>
                  <a:tcPr marL="109728" marR="109728" marT="64008" marB="64008" anchor="ctr">
                    <a:lnL w="12700" cap="flat" cmpd="sng" algn="ctr">
                      <a:solidFill>
                        <a:srgbClr val="CCCCCC"/>
                      </a:solidFill>
                      <a:prstDash val="solid"/>
                    </a:lnL>
                    <a:lnR w="12700" cap="flat" cmpd="sng" algn="ctr">
                      <a:solidFill>
                        <a:srgbClr val="CCCCCC"/>
                      </a:solidFill>
                      <a:prstDash val="solid"/>
                    </a:lnR>
                    <a:lnT w="12700" cap="flat" cmpd="sng" algn="ctr">
                      <a:solidFill>
                        <a:srgbClr val="CCCCCC"/>
                      </a:solidFill>
                      <a:prstDash val="solid"/>
                    </a:lnT>
                    <a:lnB w="12700" cap="flat" cmpd="sng" algn="ctr">
                      <a:solidFill>
                        <a:srgbClr val="CCCCCC"/>
                      </a:solidFill>
                      <a:prstDash val="solid"/>
                    </a:lnB>
                    <a:solidFill>
                      <a:srgbClr val="FFFFFF"/>
                    </a:solidFill>
                  </a:tcPr>
                </a:tc>
              </a:tr>
              <a:tr h="420000">
                <a:tc>
                  <a:txBody>
                    <a:bodyPr/>
                    <a:lstStyle/>
                    <a:p>
                      <a:pPr indent="0" marL="0">
                        <a:buNone/>
                      </a:pPr>
                      <a:r>
                        <a:rPr lang="en-US" sz="1400" dirty="0">
                          <a:solidFill>
                            <a:srgbClr val="3F4573"/>
                          </a:solidFill>
                        </a:rPr>
                        <a:t>Keila Ketlan Ngandu</a:t>
                      </a:r>
                    </a:p>
                  </a:txBody>
                  <a:tcPr marL="109728" marR="109728" marT="64008" marB="64008" anchor="ctr">
                    <a:lnL w="12700" cap="flat" cmpd="sng" algn="ctr">
                      <a:solidFill>
                        <a:srgbClr val="CCCCCC"/>
                      </a:solidFill>
                      <a:prstDash val="solid"/>
                    </a:lnL>
                    <a:lnR w="12700" cap="flat" cmpd="sng" algn="ctr">
                      <a:solidFill>
                        <a:srgbClr val="CCCCCC"/>
                      </a:solidFill>
                      <a:prstDash val="solid"/>
                    </a:lnR>
                    <a:lnT w="12700" cap="flat" cmpd="sng" algn="ctr">
                      <a:solidFill>
                        <a:srgbClr val="CCCCCC"/>
                      </a:solidFill>
                      <a:prstDash val="solid"/>
                    </a:lnT>
                    <a:lnB w="12700" cap="flat" cmpd="sng" algn="ctr">
                      <a:solidFill>
                        <a:srgbClr val="CCCCCC"/>
                      </a:solidFill>
                      <a:prstDash val="solid"/>
                    </a:lnB>
                    <a:solidFill>
                      <a:srgbClr val="FFFFFF"/>
                    </a:solidFill>
                  </a:tcPr>
                </a:tc>
                <a:tc>
                  <a:txBody>
                    <a:bodyPr/>
                    <a:lstStyle/>
                    <a:p>
                      <a:pPr indent="0" marL="0">
                        <a:buNone/>
                      </a:pPr>
                      <a:r>
                        <a:rPr lang="en-US" sz="1400" dirty="0">
                          <a:solidFill>
                            <a:srgbClr val="3F4573"/>
                          </a:solidFill>
                        </a:rPr>
                        <a:t>2022009908</a:t>
                      </a:r>
                    </a:p>
                  </a:txBody>
                  <a:tcPr marL="109728" marR="109728" marT="64008" marB="64008" anchor="ctr">
                    <a:lnL w="12700" cap="flat" cmpd="sng" algn="ctr">
                      <a:solidFill>
                        <a:srgbClr val="CCCCCC"/>
                      </a:solidFill>
                      <a:prstDash val="solid"/>
                    </a:lnL>
                    <a:lnR w="12700" cap="flat" cmpd="sng" algn="ctr">
                      <a:solidFill>
                        <a:srgbClr val="CCCCCC"/>
                      </a:solidFill>
                      <a:prstDash val="solid"/>
                    </a:lnR>
                    <a:lnT w="12700" cap="flat" cmpd="sng" algn="ctr">
                      <a:solidFill>
                        <a:srgbClr val="CCCCCC"/>
                      </a:solidFill>
                      <a:prstDash val="solid"/>
                    </a:lnT>
                    <a:lnB w="12700" cap="flat" cmpd="sng" algn="ctr">
                      <a:solidFill>
                        <a:srgbClr val="CCCCCC"/>
                      </a:solidFill>
                      <a:prstDash val="solid"/>
                    </a:lnB>
                    <a:solidFill>
                      <a:srgbClr val="FFFFFF"/>
                    </a:solidFill>
                  </a:tcPr>
                </a:tc>
                <a:tc>
                  <a:txBody>
                    <a:bodyPr/>
                    <a:lstStyle/>
                    <a:p>
                      <a:pPr indent="0" marL="0">
                        <a:buNone/>
                      </a:pPr>
                      <a:r>
                        <a:rPr lang="en-US" sz="1400" dirty="0">
                          <a:solidFill>
                            <a:srgbClr val="3F4573"/>
                          </a:solidFill>
                        </a:rPr>
                        <a:t>Infrastructure setup and deployment, Linux server administration, PostgreSQL hosting, reverse proxy configuration, TLS/HTTPS security, firewall and network hardening, clinic LAN/Wi-Fi and VLAN design, Docker, CI/CD, backups and recovery, monitoring, security and load testing, SMS/email integrations, and NHIMA/MOH connectivity.</a:t>
                      </a:r>
                    </a:p>
                  </a:txBody>
                  <a:tcPr marL="109728" marR="109728" marT="64008" marB="64008" anchor="ctr">
                    <a:lnL w="12700" cap="flat" cmpd="sng" algn="ctr">
                      <a:solidFill>
                        <a:srgbClr val="CCCCCC"/>
                      </a:solidFill>
                      <a:prstDash val="solid"/>
                    </a:lnL>
                    <a:lnR w="12700" cap="flat" cmpd="sng" algn="ctr">
                      <a:solidFill>
                        <a:srgbClr val="CCCCCC"/>
                      </a:solidFill>
                      <a:prstDash val="solid"/>
                    </a:lnR>
                    <a:lnT w="12700" cap="flat" cmpd="sng" algn="ctr">
                      <a:solidFill>
                        <a:srgbClr val="CCCCCC"/>
                      </a:solidFill>
                      <a:prstDash val="solid"/>
                    </a:lnT>
                    <a:lnB w="12700" cap="flat" cmpd="sng" algn="ctr">
                      <a:solidFill>
                        <a:srgbClr val="CCCCCC"/>
                      </a:solidFill>
                      <a:prstDash val="solid"/>
                    </a:lnB>
                    <a:solidFill>
                      <a:srgbClr val="FFFFFF"/>
                    </a:solidFill>
                  </a:tcPr>
                </a:tc>
              </a:tr>
            </a:tbl>
          </a:graphicData>
        </a:graphic>
      </p:graphicFrame>
      <p:pic>
        <p:nvPicPr>
          <p:cNvPr id="5" name="Label Supervisor: Mrs. Monde Kabemba" descr=""/>
          <p:cNvPicPr>
            <a:picLocks noChangeAspect="1"/>
          </p:cNvPicPr>
          <p:nvPr/>
        </p:nvPicPr>
        <p:blipFill>
          <a:blip r:embed="rId1"/>
          <a:stretch>
            <a:fillRect/>
          </a:stretch>
        </p:blipFill>
        <p:spPr>
          <a:xfrm>
            <a:off x="640080" y="4300000"/>
            <a:ext cx="4060000" cy="457200"/>
          </a:xfrm>
          <a:prstGeom prst="rect">
            <a:avLst/>
          </a:prstGeom>
        </p:spPr>
      </p:pic>
      <p:sp>
        <p:nvSpPr>
          <p:cNvPr id="6" name="Title"/>
          <p:cNvSpPr txBox="1"/>
          <p:nvPr/>
        </p:nvSpPr>
        <p:spPr>
          <a:xfrm>
            <a:off x="640080" y="4300000"/>
            <a:ext cx="4060000" cy="457200"/>
          </a:xfrm>
          <a:prstGeom prst="rect">
            <a:avLst/>
          </a:prstGeom>
          <a:noFill/>
          <a:ln/>
        </p:spPr>
        <p:txBody>
          <a:bodyPr wrap="square" lIns="0" tIns="0" rIns="0" bIns="0" rtlCol="0" anchor="ctr"/>
          <a:lstStyle/>
          <a:p>
            <a:pPr algn="ctr" indent="0" marL="0">
              <a:buNone/>
            </a:pPr>
            <a:r>
              <a:rPr lang="en-US" sz="1600" b="1" dirty="0">
                <a:solidFill>
                  <a:schemeClr val="tx1"/>
                </a:solidFill>
              </a:rPr>
              <a:t>Supervisor: Mrs. Monde Kabemba</a:t>
            </a:r>
          </a:p>
        </p:txBody>
      </p:sp>
      <p:pic>
        <p:nvPicPr>
          <p:cNvPr id="7" name="Decoration" descr="Decorative stethoscope"/>
          <p:cNvPicPr>
            <a:picLocks noChangeAspect="1"/>
          </p:cNvPicPr>
          <p:nvPr/>
        </p:nvPicPr>
        <p:blipFill>
          <a:blip r:embed="rId2"/>
          <a:stretch>
            <a:fillRect/>
          </a:stretch>
        </p:blipFill>
        <p:spPr>
          <a:xfrm>
            <a:off x="9800000" y="4000000"/>
            <a:ext cx="2100000" cy="2100000"/>
          </a:xfrm>
          <a:prstGeom prst="rect">
            <a:avLst/>
          </a:prstGeom>
        </p:spPr>
      </p:pic>
      <p:sp>
        <p:nvSpPr>
          <p:cNvPr id="8" name="Slide Number Placeholder"/>
          <p:cNvSpPr>
            <a:spLocks noGrp="1"/>
          </p:cNvSpPr>
          <p:nvPr>
            <p:ph type="sldNum" sz="quarter" idx="4294967295"/>
          </p:nvPr>
        </p:nvSpPr>
        <p:spPr>
          <a:xfrm>
            <a:off x="11338560" y="6473952"/>
            <a:ext cx="457200" cy="228600"/>
          </a:xfrm>
          <a:prstGeom prst="rect">
            <a:avLst/>
          </a:prstGeom>
        </p:spPr>
        <p:txBody>
          <a:bodyPr/>
          <a:lstStyle>
            <a:lvl1pPr>
              <a:defRPr sz="1000">
                <a:solidFill>
                  <a:srgbClr val="3F457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Label Presentation Overview" descr="preencoded.png">    </p:cNvPr>
          <p:cNvPicPr>
            <a:picLocks noChangeAspect="1"/>
          </p:cNvPicPr>
          <p:nvPr/>
        </p:nvPicPr>
        <p:blipFill>
          <a:blip r:embed="rId1"/>
          <a:stretch>
            <a:fillRect/>
          </a:stretch>
        </p:blipFill>
        <p:spPr>
          <a:xfrm>
            <a:off x="640080" y="274320"/>
            <a:ext cx="2857500" cy="457200"/>
          </a:xfrm>
          <a:prstGeom prst="rect">
            <a:avLst/>
          </a:prstGeom>
        </p:spPr>
      </p:pic>
      <p:sp>
        <p:nvSpPr>
          <p:cNvPr id="3" name="Text 0"/>
          <p:cNvSpPr txBox="1"/>
          <p:nvPr/>
        </p:nvSpPr>
        <p:spPr>
          <a:xfrm>
            <a:off x="640080" y="274320"/>
            <a:ext cx="2857500" cy="457200"/>
          </a:xfrm>
          <a:prstGeom prst="rect">
            <a:avLst/>
          </a:prstGeom>
          <a:noFill/>
          <a:ln/>
        </p:spPr>
        <p:txBody>
          <a:bodyPr wrap="square" lIns="0" tIns="0" rIns="0" bIns="0" rtlCol="0" anchor="ctr"/>
          <a:lstStyle/>
          <a:p>
            <a:pPr algn="ctr" indent="0" marL="0">
              <a:buNone/>
            </a:pPr>
            <a:r>
              <a:rPr lang="en-US" sz="1600" b="1" dirty="0">
                <a:solidFill>
                  <a:schemeClr val="tx1"/>
                </a:solidFill>
              </a:rPr>
              <a:t>Presentation Overview</a:t>
            </a:r>
            <a:endParaRPr lang="en-US" sz="1600" dirty="0"/>
          </a:p>
        </p:txBody>
      </p:sp>
      <p:sp>
        <p:nvSpPr>
          <p:cNvPr id="4" name="Stepper line"/>
          <p:cNvSpPr/>
          <p:nvPr/>
        </p:nvSpPr>
        <p:spPr>
          <a:xfrm>
            <a:off x="1143000" y="1444752"/>
            <a:ext cx="0" cy="4153989"/>
          </a:xfrm>
          <a:prstGeom prst="line">
            <a:avLst/>
          </a:prstGeom>
          <a:noFill/>
          <a:ln w="38100">
            <a:solidFill>
              <a:schemeClr val="accent2"/>
            </a:solidFill>
            <a:prstDash val="solid"/>
          </a:ln>
        </p:spPr>
      </p:sp>
      <p:sp>
        <p:nvSpPr>
          <p:cNvPr id="5" name="Step 1"/>
          <p:cNvSpPr/>
          <p:nvPr/>
        </p:nvSpPr>
        <p:spPr>
          <a:xfrm>
            <a:off x="841248" y="1143000"/>
            <a:ext cx="603504" cy="603504"/>
          </a:xfrm>
          <a:prstGeom prst="ellipse">
            <a:avLst/>
          </a:prstGeom>
          <a:solidFill>
            <a:schemeClr val="accent1"/>
          </a:solidFill>
          <a:ln w="31750">
            <a:solidFill>
              <a:schemeClr val="tx1"/>
            </a:solidFill>
            <a:prstDash val="solid"/>
          </a:ln>
        </p:spPr>
      </p:sp>
      <p:pic>
        <p:nvPicPr>
          <p:cNvPr id="6" name="Step icon 1" descr="preencoded.png">    </p:cNvPr>
          <p:cNvPicPr>
            <a:picLocks noChangeAspect="1"/>
          </p:cNvPicPr>
          <p:nvPr/>
        </p:nvPicPr>
        <p:blipFill>
          <a:blip r:embed="rId2"/>
          <a:stretch>
            <a:fillRect/>
          </a:stretch>
        </p:blipFill>
        <p:spPr>
          <a:xfrm>
            <a:off x="987552" y="1289304"/>
            <a:ext cx="310896" cy="310896"/>
          </a:xfrm>
          <a:prstGeom prst="rect">
            <a:avLst/>
          </a:prstGeom>
        </p:spPr>
      </p:pic>
      <p:sp>
        <p:nvSpPr>
          <p:cNvPr id="7" name="Text 3"/>
          <p:cNvSpPr txBox="1"/>
          <p:nvPr/>
        </p:nvSpPr>
        <p:spPr>
          <a:xfrm>
            <a:off x="1828800" y="1124712"/>
            <a:ext cx="7680960" cy="310896"/>
          </a:xfrm>
          <a:prstGeom prst="rect">
            <a:avLst/>
          </a:prstGeom>
          <a:noFill/>
          <a:ln/>
        </p:spPr>
        <p:txBody>
          <a:bodyPr wrap="square" lIns="0" tIns="0" rIns="0" bIns="0" rtlCol="0" anchor="t"/>
          <a:lstStyle/>
          <a:p>
            <a:pPr indent="0" marL="0">
              <a:buNone/>
            </a:pPr>
            <a:r>
              <a:rPr lang="en-US" sz="1700" b="1" dirty="0">
                <a:solidFill>
                  <a:schemeClr val="tx1"/>
                </a:solidFill>
              </a:rPr>
              <a:t>Background and Context</a:t>
            </a:r>
            <a:endParaRPr lang="en-US" sz="1700" dirty="0"/>
          </a:p>
        </p:txBody>
      </p:sp>
      <p:sp>
        <p:nvSpPr>
          <p:cNvPr id="8" name="Text 4"/>
          <p:cNvSpPr txBox="1"/>
          <p:nvPr/>
        </p:nvSpPr>
        <p:spPr>
          <a:xfrm>
            <a:off x="1828800" y="1453896"/>
            <a:ext cx="7680960" cy="310896"/>
          </a:xfrm>
          <a:prstGeom prst="rect">
            <a:avLst/>
          </a:prstGeom>
          <a:noFill/>
          <a:ln/>
        </p:spPr>
        <p:txBody>
          <a:bodyPr wrap="square" lIns="0" tIns="0" rIns="0" bIns="0" rtlCol="0" anchor="t"/>
          <a:lstStyle/>
          <a:p>
            <a:pPr indent="0" marL="0">
              <a:lnSpc>
                <a:spcPct val="115000"/>
              </a:lnSpc>
              <a:buNone/>
            </a:pPr>
            <a:r>
              <a:rPr lang="en-US" sz="1400" dirty="0">
                <a:solidFill>
                  <a:schemeClr val="tx1"/>
                </a:solidFill>
              </a:rPr>
              <a:t>The problem at the UNZA Clinic and who it affects</a:t>
            </a:r>
            <a:endParaRPr lang="en-US" sz="1400" dirty="0"/>
          </a:p>
        </p:txBody>
      </p:sp>
      <p:sp>
        <p:nvSpPr>
          <p:cNvPr id="9" name="Step 2"/>
          <p:cNvSpPr/>
          <p:nvPr/>
        </p:nvSpPr>
        <p:spPr>
          <a:xfrm>
            <a:off x="841248" y="1835331"/>
            <a:ext cx="603504" cy="603504"/>
          </a:xfrm>
          <a:prstGeom prst="ellipse">
            <a:avLst/>
          </a:prstGeom>
          <a:solidFill>
            <a:schemeClr val="accent1"/>
          </a:solidFill>
          <a:ln w="31750">
            <a:solidFill>
              <a:schemeClr val="tx1"/>
            </a:solidFill>
            <a:prstDash val="solid"/>
          </a:ln>
        </p:spPr>
      </p:sp>
      <p:pic>
        <p:nvPicPr>
          <p:cNvPr id="10" name="Step icon 2" descr="preencoded.png">    </p:cNvPr>
          <p:cNvPicPr>
            <a:picLocks noChangeAspect="1"/>
          </p:cNvPicPr>
          <p:nvPr/>
        </p:nvPicPr>
        <p:blipFill>
          <a:blip r:embed="rId3"/>
          <a:stretch>
            <a:fillRect/>
          </a:stretch>
        </p:blipFill>
        <p:spPr>
          <a:xfrm>
            <a:off x="987552" y="1981635"/>
            <a:ext cx="310896" cy="310896"/>
          </a:xfrm>
          <a:prstGeom prst="rect">
            <a:avLst/>
          </a:prstGeom>
        </p:spPr>
      </p:pic>
      <p:sp>
        <p:nvSpPr>
          <p:cNvPr id="11" name="Text 6"/>
          <p:cNvSpPr txBox="1"/>
          <p:nvPr/>
        </p:nvSpPr>
        <p:spPr>
          <a:xfrm>
            <a:off x="1828800" y="1817043"/>
            <a:ext cx="7680960" cy="310896"/>
          </a:xfrm>
          <a:prstGeom prst="rect">
            <a:avLst/>
          </a:prstGeom>
          <a:noFill/>
          <a:ln/>
        </p:spPr>
        <p:txBody>
          <a:bodyPr wrap="square" lIns="0" tIns="0" rIns="0" bIns="0" rtlCol="0" anchor="t"/>
          <a:lstStyle/>
          <a:p>
            <a:pPr indent="0" marL="0">
              <a:buNone/>
            </a:pPr>
            <a:r>
              <a:rPr lang="en-US" sz="1700" b="1" dirty="0">
                <a:solidFill>
                  <a:schemeClr val="tx1"/>
                </a:solidFill>
              </a:rPr>
              <a:t>System Analysis and Design</a:t>
            </a:r>
            <a:endParaRPr lang="en-US" sz="1700" dirty="0"/>
          </a:p>
        </p:txBody>
      </p:sp>
      <p:sp>
        <p:nvSpPr>
          <p:cNvPr id="12" name="Text 7"/>
          <p:cNvSpPr txBox="1"/>
          <p:nvPr/>
        </p:nvSpPr>
        <p:spPr>
          <a:xfrm>
            <a:off x="1828800" y="2146227"/>
            <a:ext cx="7680960" cy="310896"/>
          </a:xfrm>
          <a:prstGeom prst="rect">
            <a:avLst/>
          </a:prstGeom>
          <a:noFill/>
          <a:ln/>
        </p:spPr>
        <p:txBody>
          <a:bodyPr wrap="square" lIns="0" tIns="0" rIns="0" bIns="0" rtlCol="0" anchor="t"/>
          <a:lstStyle/>
          <a:p>
            <a:pPr indent="0" marL="0">
              <a:lnSpc>
                <a:spcPct val="115000"/>
              </a:lnSpc>
              <a:buNone/>
            </a:pPr>
            <a:r>
              <a:rPr lang="en-US" sz="1400" dirty="0">
                <a:solidFill>
                  <a:schemeClr val="tx1"/>
                </a:solidFill>
              </a:rPr>
              <a:t>Architecture, data model and technical design</a:t>
            </a:r>
            <a:endParaRPr lang="en-US" sz="1400" dirty="0"/>
          </a:p>
        </p:txBody>
      </p:sp>
      <p:sp>
        <p:nvSpPr>
          <p:cNvPr id="13" name="Step 3"/>
          <p:cNvSpPr/>
          <p:nvPr/>
        </p:nvSpPr>
        <p:spPr>
          <a:xfrm>
            <a:off x="841248" y="2527663"/>
            <a:ext cx="603504" cy="603504"/>
          </a:xfrm>
          <a:prstGeom prst="ellipse">
            <a:avLst/>
          </a:prstGeom>
          <a:solidFill>
            <a:schemeClr val="accent1"/>
          </a:solidFill>
          <a:ln w="31750">
            <a:solidFill>
              <a:schemeClr val="tx1"/>
            </a:solidFill>
            <a:prstDash val="solid"/>
          </a:ln>
        </p:spPr>
      </p:sp>
      <p:pic>
        <p:nvPicPr>
          <p:cNvPr id="14" name="Step icon 3" descr="preencoded.png">    </p:cNvPr>
          <p:cNvPicPr>
            <a:picLocks noChangeAspect="1"/>
          </p:cNvPicPr>
          <p:nvPr/>
        </p:nvPicPr>
        <p:blipFill>
          <a:blip r:embed="rId4"/>
          <a:stretch>
            <a:fillRect/>
          </a:stretch>
        </p:blipFill>
        <p:spPr>
          <a:xfrm>
            <a:off x="987552" y="2673967"/>
            <a:ext cx="310896" cy="310896"/>
          </a:xfrm>
          <a:prstGeom prst="rect">
            <a:avLst/>
          </a:prstGeom>
        </p:spPr>
      </p:pic>
      <p:sp>
        <p:nvSpPr>
          <p:cNvPr id="15" name="Text 9"/>
          <p:cNvSpPr txBox="1"/>
          <p:nvPr/>
        </p:nvSpPr>
        <p:spPr>
          <a:xfrm>
            <a:off x="1828800" y="2509375"/>
            <a:ext cx="7680960" cy="310896"/>
          </a:xfrm>
          <a:prstGeom prst="rect">
            <a:avLst/>
          </a:prstGeom>
          <a:noFill/>
          <a:ln/>
        </p:spPr>
        <p:txBody>
          <a:bodyPr wrap="square" lIns="0" tIns="0" rIns="0" bIns="0" rtlCol="0" anchor="t"/>
          <a:lstStyle/>
          <a:p>
            <a:pPr indent="0" marL="0">
              <a:buNone/>
            </a:pPr>
            <a:r>
              <a:rPr lang="en-US" sz="1700" b="1" dirty="0">
                <a:solidFill>
                  <a:schemeClr val="tx1"/>
                </a:solidFill>
              </a:rPr>
              <a:t>Implementation / Development</a:t>
            </a:r>
            <a:endParaRPr lang="en-US" sz="1700" dirty="0"/>
          </a:p>
        </p:txBody>
      </p:sp>
      <p:sp>
        <p:nvSpPr>
          <p:cNvPr id="16" name="Text 10"/>
          <p:cNvSpPr txBox="1"/>
          <p:nvPr/>
        </p:nvSpPr>
        <p:spPr>
          <a:xfrm>
            <a:off x="1828800" y="2838559"/>
            <a:ext cx="7680960" cy="310896"/>
          </a:xfrm>
          <a:prstGeom prst="rect">
            <a:avLst/>
          </a:prstGeom>
          <a:noFill/>
          <a:ln/>
        </p:spPr>
        <p:txBody>
          <a:bodyPr wrap="square" lIns="0" tIns="0" rIns="0" bIns="0" rtlCol="0" anchor="t"/>
          <a:lstStyle/>
          <a:p>
            <a:pPr indent="0" marL="0">
              <a:lnSpc>
                <a:spcPct val="115000"/>
              </a:lnSpc>
              <a:buNone/>
            </a:pPr>
            <a:r>
              <a:rPr lang="en-US" sz="1400" dirty="0">
                <a:solidFill>
                  <a:schemeClr val="tx1"/>
                </a:solidFill>
              </a:rPr>
              <a:t>Environment, modules and key implementation details</a:t>
            </a:r>
            <a:endParaRPr lang="en-US" sz="1400" dirty="0"/>
          </a:p>
        </p:txBody>
      </p:sp>
      <p:sp>
        <p:nvSpPr>
          <p:cNvPr id="17" name="Step 4"/>
          <p:cNvSpPr/>
          <p:nvPr/>
        </p:nvSpPr>
        <p:spPr>
          <a:xfrm>
            <a:off x="841248" y="3219994"/>
            <a:ext cx="603504" cy="603504"/>
          </a:xfrm>
          <a:prstGeom prst="ellipse">
            <a:avLst/>
          </a:prstGeom>
          <a:solidFill>
            <a:schemeClr val="accent1"/>
          </a:solidFill>
          <a:ln w="31750">
            <a:solidFill>
              <a:schemeClr val="tx1"/>
            </a:solidFill>
            <a:prstDash val="solid"/>
          </a:ln>
        </p:spPr>
      </p:sp>
      <p:pic>
        <p:nvPicPr>
          <p:cNvPr id="18" name="Step icon 4" descr="preencoded.png">    </p:cNvPr>
          <p:cNvPicPr>
            <a:picLocks noChangeAspect="1"/>
          </p:cNvPicPr>
          <p:nvPr/>
        </p:nvPicPr>
        <p:blipFill>
          <a:blip r:embed="rId5"/>
          <a:stretch>
            <a:fillRect/>
          </a:stretch>
        </p:blipFill>
        <p:spPr>
          <a:xfrm>
            <a:off x="987552" y="3366298"/>
            <a:ext cx="310896" cy="310896"/>
          </a:xfrm>
          <a:prstGeom prst="rect">
            <a:avLst/>
          </a:prstGeom>
        </p:spPr>
      </p:pic>
      <p:sp>
        <p:nvSpPr>
          <p:cNvPr id="19" name="Text 12"/>
          <p:cNvSpPr txBox="1"/>
          <p:nvPr/>
        </p:nvSpPr>
        <p:spPr>
          <a:xfrm>
            <a:off x="1828800" y="3201706"/>
            <a:ext cx="7680960" cy="310896"/>
          </a:xfrm>
          <a:prstGeom prst="rect">
            <a:avLst/>
          </a:prstGeom>
          <a:noFill/>
          <a:ln/>
        </p:spPr>
        <p:txBody>
          <a:bodyPr wrap="square" lIns="0" tIns="0" rIns="0" bIns="0" rtlCol="0" anchor="t"/>
          <a:lstStyle/>
          <a:p>
            <a:pPr indent="0" marL="0">
              <a:buNone/>
            </a:pPr>
            <a:r>
              <a:rPr lang="en-US" sz="1700" b="1" dirty="0">
                <a:solidFill>
                  <a:schemeClr val="tx1"/>
                </a:solidFill>
              </a:rPr>
              <a:t>Testing, Results and Evaluation</a:t>
            </a:r>
            <a:endParaRPr lang="en-US" sz="1700" dirty="0"/>
          </a:p>
        </p:txBody>
      </p:sp>
      <p:sp>
        <p:nvSpPr>
          <p:cNvPr id="20" name="Text 13"/>
          <p:cNvSpPr txBox="1"/>
          <p:nvPr/>
        </p:nvSpPr>
        <p:spPr>
          <a:xfrm>
            <a:off x="1828800" y="3530890"/>
            <a:ext cx="7680960" cy="310896"/>
          </a:xfrm>
          <a:prstGeom prst="rect">
            <a:avLst/>
          </a:prstGeom>
          <a:noFill/>
          <a:ln/>
        </p:spPr>
        <p:txBody>
          <a:bodyPr wrap="square" lIns="0" tIns="0" rIns="0" bIns="0" rtlCol="0" anchor="t"/>
          <a:lstStyle/>
          <a:p>
            <a:pPr indent="0" marL="0">
              <a:lnSpc>
                <a:spcPct val="115000"/>
              </a:lnSpc>
              <a:buNone/>
            </a:pPr>
            <a:r>
              <a:rPr lang="en-US" sz="1400" dirty="0">
                <a:solidFill>
                  <a:schemeClr val="tx1"/>
                </a:solidFill>
              </a:rPr>
              <a:t>353 automated tests, all passing, and the problems we solved</a:t>
            </a:r>
            <a:endParaRPr lang="en-US" sz="1400" dirty="0"/>
          </a:p>
        </p:txBody>
      </p:sp>
      <p:sp>
        <p:nvSpPr>
          <p:cNvPr id="21" name="Step 5"/>
          <p:cNvSpPr/>
          <p:nvPr/>
        </p:nvSpPr>
        <p:spPr>
          <a:xfrm>
            <a:off x="841248" y="3912326"/>
            <a:ext cx="603504" cy="603504"/>
          </a:xfrm>
          <a:prstGeom prst="ellipse">
            <a:avLst/>
          </a:prstGeom>
          <a:solidFill>
            <a:schemeClr val="accent1"/>
          </a:solidFill>
          <a:ln w="31750">
            <a:solidFill>
              <a:schemeClr val="tx1"/>
            </a:solidFill>
            <a:prstDash val="solid"/>
          </a:ln>
        </p:spPr>
      </p:sp>
      <p:pic>
        <p:nvPicPr>
          <p:cNvPr id="22" name="Step icon 5" descr="preencoded.png">    </p:cNvPr>
          <p:cNvPicPr>
            <a:picLocks noChangeAspect="1"/>
          </p:cNvPicPr>
          <p:nvPr/>
        </p:nvPicPr>
        <p:blipFill>
          <a:blip r:embed="rId6"/>
          <a:stretch>
            <a:fillRect/>
          </a:stretch>
        </p:blipFill>
        <p:spPr>
          <a:xfrm>
            <a:off x="987552" y="4058630"/>
            <a:ext cx="310896" cy="310896"/>
          </a:xfrm>
          <a:prstGeom prst="rect">
            <a:avLst/>
          </a:prstGeom>
        </p:spPr>
      </p:pic>
      <p:sp>
        <p:nvSpPr>
          <p:cNvPr id="23" name="Text 15"/>
          <p:cNvSpPr txBox="1"/>
          <p:nvPr/>
        </p:nvSpPr>
        <p:spPr>
          <a:xfrm>
            <a:off x="1828800" y="3894038"/>
            <a:ext cx="7680960" cy="310896"/>
          </a:xfrm>
          <a:prstGeom prst="rect">
            <a:avLst/>
          </a:prstGeom>
          <a:noFill/>
          <a:ln/>
        </p:spPr>
        <p:txBody>
          <a:bodyPr wrap="square" lIns="0" tIns="0" rIns="0" bIns="0" rtlCol="0" anchor="t"/>
          <a:lstStyle/>
          <a:p>
            <a:pPr indent="0" marL="0">
              <a:buNone/>
            </a:pPr>
            <a:r>
              <a:rPr lang="en-US" sz="1700" b="1" dirty="0">
                <a:solidFill>
                  <a:schemeClr val="tx1"/>
                </a:solidFill>
              </a:rPr>
              <a:t>Discussion</a:t>
            </a:r>
            <a:endParaRPr lang="en-US" sz="1700" dirty="0"/>
          </a:p>
        </p:txBody>
      </p:sp>
      <p:sp>
        <p:nvSpPr>
          <p:cNvPr id="24" name="Text 16"/>
          <p:cNvSpPr txBox="1"/>
          <p:nvPr/>
        </p:nvSpPr>
        <p:spPr>
          <a:xfrm>
            <a:off x="1828800" y="4223222"/>
            <a:ext cx="7680960" cy="310896"/>
          </a:xfrm>
          <a:prstGeom prst="rect">
            <a:avLst/>
          </a:prstGeom>
          <a:noFill/>
          <a:ln/>
        </p:spPr>
        <p:txBody>
          <a:bodyPr wrap="square" lIns="0" tIns="0" rIns="0" bIns="0" rtlCol="0" anchor="t"/>
          <a:lstStyle/>
          <a:p>
            <a:pPr indent="0" marL="0">
              <a:lnSpc>
                <a:spcPct val="115000"/>
              </a:lnSpc>
              <a:buNone/>
            </a:pPr>
            <a:r>
              <a:rPr lang="en-US" sz="1400" dirty="0">
                <a:solidFill>
                  <a:schemeClr val="tx1"/>
                </a:solidFill>
              </a:rPr>
              <a:t>What the results mean and where they fall short</a:t>
            </a:r>
            <a:endParaRPr lang="en-US" sz="1400" dirty="0"/>
          </a:p>
        </p:txBody>
      </p:sp>
      <p:sp>
        <p:nvSpPr>
          <p:cNvPr id="25" name="Step 6"/>
          <p:cNvSpPr/>
          <p:nvPr/>
        </p:nvSpPr>
        <p:spPr>
          <a:xfrm>
            <a:off x="841248" y="4604657"/>
            <a:ext cx="603504" cy="603504"/>
          </a:xfrm>
          <a:prstGeom prst="ellipse">
            <a:avLst/>
          </a:prstGeom>
          <a:solidFill>
            <a:schemeClr val="accent1"/>
          </a:solidFill>
          <a:ln w="31750">
            <a:solidFill>
              <a:schemeClr val="tx1"/>
            </a:solidFill>
            <a:prstDash val="solid"/>
          </a:ln>
        </p:spPr>
      </p:sp>
      <p:pic>
        <p:nvPicPr>
          <p:cNvPr id="26" name="Step icon 6" descr="preencoded.png">    </p:cNvPr>
          <p:cNvPicPr>
            <a:picLocks noChangeAspect="1"/>
          </p:cNvPicPr>
          <p:nvPr/>
        </p:nvPicPr>
        <p:blipFill>
          <a:blip r:embed="rId7"/>
          <a:stretch>
            <a:fillRect/>
          </a:stretch>
        </p:blipFill>
        <p:spPr>
          <a:xfrm>
            <a:off x="987552" y="4750961"/>
            <a:ext cx="310896" cy="310896"/>
          </a:xfrm>
          <a:prstGeom prst="rect">
            <a:avLst/>
          </a:prstGeom>
        </p:spPr>
      </p:pic>
      <p:sp>
        <p:nvSpPr>
          <p:cNvPr id="27" name="Text 18"/>
          <p:cNvSpPr txBox="1"/>
          <p:nvPr/>
        </p:nvSpPr>
        <p:spPr>
          <a:xfrm>
            <a:off x="1828800" y="4586369"/>
            <a:ext cx="7680960" cy="310896"/>
          </a:xfrm>
          <a:prstGeom prst="rect">
            <a:avLst/>
          </a:prstGeom>
          <a:noFill/>
          <a:ln/>
        </p:spPr>
        <p:txBody>
          <a:bodyPr wrap="square" lIns="0" tIns="0" rIns="0" bIns="0" rtlCol="0" anchor="t"/>
          <a:lstStyle/>
          <a:p>
            <a:pPr indent="0" marL="0">
              <a:buNone/>
            </a:pPr>
            <a:r>
              <a:rPr lang="en-US" sz="1700" b="1" dirty="0">
                <a:solidFill>
                  <a:schemeClr val="tx1"/>
                </a:solidFill>
              </a:rPr>
              <a:t>Conclusion</a:t>
            </a:r>
            <a:endParaRPr lang="en-US" sz="1700" dirty="0"/>
          </a:p>
        </p:txBody>
      </p:sp>
      <p:sp>
        <p:nvSpPr>
          <p:cNvPr id="28" name="Text 19"/>
          <p:cNvSpPr txBox="1"/>
          <p:nvPr/>
        </p:nvSpPr>
        <p:spPr>
          <a:xfrm>
            <a:off x="1828800" y="4915553"/>
            <a:ext cx="7680960" cy="310896"/>
          </a:xfrm>
          <a:prstGeom prst="rect">
            <a:avLst/>
          </a:prstGeom>
          <a:noFill/>
          <a:ln/>
        </p:spPr>
        <p:txBody>
          <a:bodyPr wrap="square" lIns="0" tIns="0" rIns="0" bIns="0" rtlCol="0" anchor="t"/>
          <a:lstStyle/>
          <a:p>
            <a:pPr indent="0" marL="0">
              <a:lnSpc>
                <a:spcPct val="115000"/>
              </a:lnSpc>
              <a:buNone/>
            </a:pPr>
            <a:r>
              <a:rPr lang="en-US" sz="1400" dirty="0">
                <a:solidFill>
                  <a:schemeClr val="tx1"/>
                </a:solidFill>
              </a:rPr>
              <a:t>What we built and what comes next</a:t>
            </a:r>
            <a:endParaRPr lang="en-US" sz="1400" dirty="0"/>
          </a:p>
        </p:txBody>
      </p:sp>
      <p:sp>
        <p:nvSpPr>
          <p:cNvPr id="29" name="Step 7"/>
          <p:cNvSpPr/>
          <p:nvPr/>
        </p:nvSpPr>
        <p:spPr>
          <a:xfrm>
            <a:off x="841248" y="5296989"/>
            <a:ext cx="603504" cy="603504"/>
          </a:xfrm>
          <a:prstGeom prst="ellipse">
            <a:avLst/>
          </a:prstGeom>
          <a:solidFill>
            <a:schemeClr val="accent1"/>
          </a:solidFill>
          <a:ln w="31750">
            <a:solidFill>
              <a:schemeClr val="tx1"/>
            </a:solidFill>
            <a:prstDash val="solid"/>
          </a:ln>
        </p:spPr>
      </p:sp>
      <p:pic>
        <p:nvPicPr>
          <p:cNvPr id="30" name="Step icon 7" descr="preencoded.png">    </p:cNvPr>
          <p:cNvPicPr>
            <a:picLocks noChangeAspect="1"/>
          </p:cNvPicPr>
          <p:nvPr/>
        </p:nvPicPr>
        <p:blipFill>
          <a:blip r:embed="rId8"/>
          <a:stretch>
            <a:fillRect/>
          </a:stretch>
        </p:blipFill>
        <p:spPr>
          <a:xfrm>
            <a:off x="987552" y="5443293"/>
            <a:ext cx="310896" cy="310896"/>
          </a:xfrm>
          <a:prstGeom prst="rect">
            <a:avLst/>
          </a:prstGeom>
        </p:spPr>
      </p:pic>
      <p:sp>
        <p:nvSpPr>
          <p:cNvPr id="31" name="Text 21"/>
          <p:cNvSpPr txBox="1"/>
          <p:nvPr/>
        </p:nvSpPr>
        <p:spPr>
          <a:xfrm>
            <a:off x="1828800" y="5278701"/>
            <a:ext cx="7680960" cy="310896"/>
          </a:xfrm>
          <a:prstGeom prst="rect">
            <a:avLst/>
          </a:prstGeom>
          <a:noFill/>
          <a:ln/>
        </p:spPr>
        <p:txBody>
          <a:bodyPr wrap="square" lIns="0" tIns="0" rIns="0" bIns="0" rtlCol="0" anchor="t"/>
          <a:lstStyle/>
          <a:p>
            <a:pPr indent="0" marL="0">
              <a:buNone/>
            </a:pPr>
            <a:r>
              <a:rPr lang="en-US" sz="1700" b="1" dirty="0">
                <a:solidFill>
                  <a:schemeClr val="tx1"/>
                </a:solidFill>
              </a:rPr>
              <a:t>System Demonstration</a:t>
            </a:r>
            <a:endParaRPr lang="en-US" sz="1700" dirty="0"/>
          </a:p>
        </p:txBody>
      </p:sp>
      <p:sp>
        <p:nvSpPr>
          <p:cNvPr id="32" name="Text 22"/>
          <p:cNvSpPr txBox="1"/>
          <p:nvPr/>
        </p:nvSpPr>
        <p:spPr>
          <a:xfrm>
            <a:off x="1828800" y="5607885"/>
            <a:ext cx="7680960" cy="310896"/>
          </a:xfrm>
          <a:prstGeom prst="rect">
            <a:avLst/>
          </a:prstGeom>
          <a:noFill/>
          <a:ln/>
        </p:spPr>
        <p:txBody>
          <a:bodyPr wrap="square" lIns="0" tIns="0" rIns="0" bIns="0" rtlCol="0" anchor="t"/>
          <a:lstStyle/>
          <a:p>
            <a:pPr indent="0" marL="0">
              <a:lnSpc>
                <a:spcPct val="115000"/>
              </a:lnSpc>
              <a:buNone/>
            </a:pPr>
            <a:r>
              <a:rPr lang="en-US" sz="1400" dirty="0">
                <a:solidFill>
                  <a:schemeClr val="tx1"/>
                </a:solidFill>
              </a:rPr>
              <a:t>A walkthrough of the seven role dashboards</a:t>
            </a:r>
            <a:endParaRPr lang="en-US" sz="1400" dirty="0"/>
          </a:p>
        </p:txBody>
      </p:sp>
      <p:pic>
        <p:nvPicPr>
          <p:cNvPr id="33" name="Icon book" descr="preencoded.png">    </p:cNvPr>
          <p:cNvPicPr>
            <a:picLocks noChangeAspect="1"/>
          </p:cNvPicPr>
          <p:nvPr/>
        </p:nvPicPr>
        <p:blipFill>
          <a:blip r:embed="rId9"/>
          <a:stretch>
            <a:fillRect/>
          </a:stretch>
        </p:blipFill>
        <p:spPr>
          <a:xfrm rot="840000">
            <a:off x="9692640" y="2103120"/>
            <a:ext cx="3291840" cy="3291840"/>
          </a:xfrm>
          <a:prstGeom prst="rect">
            <a:avLst/>
          </a:prstGeom>
        </p:spPr>
      </p:pic>
      <p:sp>
        <p:nvSpPr>
          <p:cNvPr id="25" name="Slide Number Placeholder 0"/>
          <p:cNvSpPr>
            <a:spLocks noGrp="1"/>
          </p:cNvSpPr>
          <p:nvPr>
            <p:ph type="sldNum" sz="quarter" idx="4294967295"/>
          </p:nvPr>
        </p:nvSpPr>
        <p:spPr>
          <a:xfrm>
            <a:off x="11338560" y="647395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3F457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bg_today">
    <p:spTree>
      <p:nvGrpSpPr>
        <p:cNvPr id="1" name=""/>
        <p:cNvGrpSpPr/>
        <p:nvPr/>
      </p:nvGrpSpPr>
      <p:grpSpPr>
        <a:xfrm>
          <a:off x="0" y="0"/>
          <a:ext cx="0" cy="0"/>
          <a:chOff x="0" y="0"/>
          <a:chExt cx="0" cy="0"/>
        </a:xfrm>
      </p:grpSpPr>
      <p:pic>
        <p:nvPicPr>
          <p:cNvPr id="2" name="Label Background and Context · A visit today" descr=""/>
          <p:cNvPicPr>
            <a:picLocks noChangeAspect="1"/>
          </p:cNvPicPr>
          <p:nvPr/>
        </p:nvPicPr>
        <p:blipFill>
          <a:blip r:embed="rId1"/>
          <a:stretch>
            <a:fillRect/>
          </a:stretch>
        </p:blipFill>
        <p:spPr>
          <a:xfrm>
            <a:off x="640080" y="274320"/>
            <a:ext cx="4956000" cy="457200"/>
          </a:xfrm>
          <a:prstGeom prst="rect">
            <a:avLst/>
          </a:prstGeom>
        </p:spPr>
      </p:pic>
      <p:sp>
        <p:nvSpPr>
          <p:cNvPr id="3" name="Title"/>
          <p:cNvSpPr txBox="1"/>
          <p:nvPr/>
        </p:nvSpPr>
        <p:spPr>
          <a:xfrm>
            <a:off x="640080" y="274320"/>
            <a:ext cx="4956000" cy="457200"/>
          </a:xfrm>
          <a:prstGeom prst="rect">
            <a:avLst/>
          </a:prstGeom>
          <a:noFill/>
          <a:ln/>
        </p:spPr>
        <p:txBody>
          <a:bodyPr wrap="square" lIns="0" tIns="0" rIns="0" bIns="0" rtlCol="0" anchor="ctr"/>
          <a:lstStyle/>
          <a:p>
            <a:pPr algn="ctr" indent="0" marL="0">
              <a:buNone/>
            </a:pPr>
            <a:r>
              <a:rPr lang="en-US" sz="1600" b="1" dirty="0">
                <a:solidFill>
                  <a:schemeClr val="tx1"/>
                </a:solidFill>
              </a:rPr>
              <a:t>Background and Context · A visit today</a:t>
            </a:r>
          </a:p>
        </p:txBody>
      </p:sp>
      <p:sp>
        <p:nvSpPr>
          <p:cNvPr id="4" name="Stepper line"/>
          <p:cNvSpPr/>
          <p:nvPr/>
        </p:nvSpPr>
        <p:spPr>
          <a:xfrm>
            <a:off x="1143000" y="1444752"/>
            <a:ext cx="0" cy="4023360"/>
          </a:xfrm>
          <a:prstGeom prst="line">
            <a:avLst/>
          </a:prstGeom>
          <a:noFill/>
          <a:ln w="38100">
            <a:solidFill>
              <a:schemeClr val="accent2"/>
            </a:solidFill>
            <a:prstDash val="solid"/>
          </a:ln>
        </p:spPr>
      </p:sp>
      <p:sp>
        <p:nvSpPr>
          <p:cNvPr id="5" name="Step 1"/>
          <p:cNvSpPr/>
          <p:nvPr/>
        </p:nvSpPr>
        <p:spPr>
          <a:xfrm>
            <a:off x="841248" y="1143000"/>
            <a:ext cx="603504" cy="603504"/>
          </a:xfrm>
          <a:prstGeom prst="ellipse">
            <a:avLst/>
          </a:prstGeom>
          <a:solidFill>
            <a:schemeClr val="accent1"/>
          </a:solidFill>
          <a:ln w="31750">
            <a:solidFill>
              <a:schemeClr val="tx1"/>
            </a:solidFill>
            <a:prstDash val="solid"/>
          </a:ln>
        </p:spPr>
      </p:sp>
      <p:pic>
        <p:nvPicPr>
          <p:cNvPr id="6" name="Step icon 1" descr="Show your ID"/>
          <p:cNvPicPr>
            <a:picLocks noChangeAspect="1"/>
          </p:cNvPicPr>
          <p:nvPr/>
        </p:nvPicPr>
        <p:blipFill>
          <a:blip r:embed="rId2"/>
          <a:stretch>
            <a:fillRect/>
          </a:stretch>
        </p:blipFill>
        <p:spPr>
          <a:xfrm>
            <a:off x="987552" y="1289304"/>
            <a:ext cx="310896" cy="310896"/>
          </a:xfrm>
          <a:prstGeom prst="rect">
            <a:avLst/>
          </a:prstGeom>
        </p:spPr>
      </p:pic>
      <p:sp>
        <p:nvSpPr>
          <p:cNvPr id="7" name="Step title 1"/>
          <p:cNvSpPr txBox="1"/>
          <p:nvPr/>
        </p:nvSpPr>
        <p:spPr>
          <a:xfrm>
            <a:off x="1828800" y="112471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Show your ID</a:t>
            </a:r>
          </a:p>
        </p:txBody>
      </p:sp>
      <p:sp>
        <p:nvSpPr>
          <p:cNvPr id="8" name="Step text 1"/>
          <p:cNvSpPr txBox="1"/>
          <p:nvPr/>
        </p:nvSpPr>
        <p:spPr>
          <a:xfrm>
            <a:off x="1828800" y="145389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A student queues at reception and shows a physical ID card. No card, no care.</a:t>
            </a:r>
          </a:p>
        </p:txBody>
      </p:sp>
      <p:sp>
        <p:nvSpPr>
          <p:cNvPr id="9" name="Step 2"/>
          <p:cNvSpPr/>
          <p:nvPr/>
        </p:nvSpPr>
        <p:spPr>
          <a:xfrm>
            <a:off x="841248" y="2148840"/>
            <a:ext cx="603504" cy="603504"/>
          </a:xfrm>
          <a:prstGeom prst="ellipse">
            <a:avLst/>
          </a:prstGeom>
          <a:solidFill>
            <a:schemeClr val="accent1"/>
          </a:solidFill>
          <a:ln w="31750">
            <a:solidFill>
              <a:schemeClr val="tx1"/>
            </a:solidFill>
            <a:prstDash val="solid"/>
          </a:ln>
        </p:spPr>
      </p:sp>
      <p:pic>
        <p:nvPicPr>
          <p:cNvPr id="10" name="Step icon 2" descr="Vitals on paper"/>
          <p:cNvPicPr>
            <a:picLocks noChangeAspect="1"/>
          </p:cNvPicPr>
          <p:nvPr/>
        </p:nvPicPr>
        <p:blipFill>
          <a:blip r:embed="rId3"/>
          <a:stretch>
            <a:fillRect/>
          </a:stretch>
        </p:blipFill>
        <p:spPr>
          <a:xfrm>
            <a:off x="987552" y="2295144"/>
            <a:ext cx="310896" cy="310896"/>
          </a:xfrm>
          <a:prstGeom prst="rect">
            <a:avLst/>
          </a:prstGeom>
        </p:spPr>
      </p:pic>
      <p:sp>
        <p:nvSpPr>
          <p:cNvPr id="11" name="Step title 2"/>
          <p:cNvSpPr txBox="1"/>
          <p:nvPr/>
        </p:nvSpPr>
        <p:spPr>
          <a:xfrm>
            <a:off x="1828800" y="213055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Vitals on paper</a:t>
            </a:r>
          </a:p>
        </p:txBody>
      </p:sp>
      <p:sp>
        <p:nvSpPr>
          <p:cNvPr id="12" name="Step text 2"/>
          <p:cNvSpPr txBox="1"/>
          <p:nvPr/>
        </p:nvSpPr>
        <p:spPr>
          <a:xfrm>
            <a:off x="1828800" y="245973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A nurse writes vitals on paper, and nothing links this visit to earlier ones.</a:t>
            </a:r>
          </a:p>
        </p:txBody>
      </p:sp>
      <p:sp>
        <p:nvSpPr>
          <p:cNvPr id="13" name="Step 3"/>
          <p:cNvSpPr/>
          <p:nvPr/>
        </p:nvSpPr>
        <p:spPr>
          <a:xfrm>
            <a:off x="841248" y="3154680"/>
            <a:ext cx="603504" cy="603504"/>
          </a:xfrm>
          <a:prstGeom prst="ellipse">
            <a:avLst/>
          </a:prstGeom>
          <a:solidFill>
            <a:schemeClr val="accent1"/>
          </a:solidFill>
          <a:ln w="31750">
            <a:solidFill>
              <a:schemeClr val="tx1"/>
            </a:solidFill>
            <a:prstDash val="solid"/>
          </a:ln>
        </p:spPr>
      </p:sp>
      <p:pic>
        <p:nvPicPr>
          <p:cNvPr id="14" name="Step icon 3" descr="A doctor working blind"/>
          <p:cNvPicPr>
            <a:picLocks noChangeAspect="1"/>
          </p:cNvPicPr>
          <p:nvPr/>
        </p:nvPicPr>
        <p:blipFill>
          <a:blip r:embed="rId4"/>
          <a:stretch>
            <a:fillRect/>
          </a:stretch>
        </p:blipFill>
        <p:spPr>
          <a:xfrm>
            <a:off x="987552" y="3300984"/>
            <a:ext cx="310896" cy="310896"/>
          </a:xfrm>
          <a:prstGeom prst="rect">
            <a:avLst/>
          </a:prstGeom>
        </p:spPr>
      </p:pic>
      <p:sp>
        <p:nvSpPr>
          <p:cNvPr id="15" name="Step title 3"/>
          <p:cNvSpPr txBox="1"/>
          <p:nvPr/>
        </p:nvSpPr>
        <p:spPr>
          <a:xfrm>
            <a:off x="1828800" y="313639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A doctor working blind</a:t>
            </a:r>
          </a:p>
        </p:txBody>
      </p:sp>
      <p:sp>
        <p:nvSpPr>
          <p:cNvPr id="16" name="Step text 3"/>
          <p:cNvSpPr txBox="1"/>
          <p:nvPr/>
        </p:nvSpPr>
        <p:spPr>
          <a:xfrm>
            <a:off x="1828800" y="346557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Doctors often cannot see past diagnoses, medications or allergies at the point of care.</a:t>
            </a:r>
          </a:p>
        </p:txBody>
      </p:sp>
      <p:sp>
        <p:nvSpPr>
          <p:cNvPr id="17" name="Step 4"/>
          <p:cNvSpPr/>
          <p:nvPr/>
        </p:nvSpPr>
        <p:spPr>
          <a:xfrm>
            <a:off x="841248" y="4160520"/>
            <a:ext cx="603504" cy="603504"/>
          </a:xfrm>
          <a:prstGeom prst="ellipse">
            <a:avLst/>
          </a:prstGeom>
          <a:solidFill>
            <a:schemeClr val="accent1"/>
          </a:solidFill>
          <a:ln w="31750">
            <a:solidFill>
              <a:schemeClr val="tx1"/>
            </a:solidFill>
            <a:prstDash val="solid"/>
          </a:ln>
        </p:spPr>
      </p:sp>
      <p:pic>
        <p:nvPicPr>
          <p:cNvPr id="18" name="Step icon 4" descr="Carry the prescription"/>
          <p:cNvPicPr>
            <a:picLocks noChangeAspect="1"/>
          </p:cNvPicPr>
          <p:nvPr/>
        </p:nvPicPr>
        <p:blipFill>
          <a:blip r:embed="rId5"/>
          <a:stretch>
            <a:fillRect/>
          </a:stretch>
        </p:blipFill>
        <p:spPr>
          <a:xfrm>
            <a:off x="987552" y="4306824"/>
            <a:ext cx="310896" cy="310896"/>
          </a:xfrm>
          <a:prstGeom prst="rect">
            <a:avLst/>
          </a:prstGeom>
        </p:spPr>
      </p:pic>
      <p:sp>
        <p:nvSpPr>
          <p:cNvPr id="19" name="Step title 4"/>
          <p:cNvSpPr txBox="1"/>
          <p:nvPr/>
        </p:nvSpPr>
        <p:spPr>
          <a:xfrm>
            <a:off x="1828800" y="414223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Carry the prescription</a:t>
            </a:r>
          </a:p>
        </p:txBody>
      </p:sp>
      <p:sp>
        <p:nvSpPr>
          <p:cNvPr id="20" name="Step text 4"/>
          <p:cNvSpPr txBox="1"/>
          <p:nvPr/>
        </p:nvSpPr>
        <p:spPr>
          <a:xfrm>
            <a:off x="1828800" y="447141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The patient carries a paper prescription to be filled and only then learns whether the drug is in stock.</a:t>
            </a:r>
          </a:p>
        </p:txBody>
      </p:sp>
      <p:sp>
        <p:nvSpPr>
          <p:cNvPr id="21" name="Step 5"/>
          <p:cNvSpPr/>
          <p:nvPr/>
        </p:nvSpPr>
        <p:spPr>
          <a:xfrm>
            <a:off x="841248" y="5166360"/>
            <a:ext cx="603504" cy="603504"/>
          </a:xfrm>
          <a:prstGeom prst="ellipse">
            <a:avLst/>
          </a:prstGeom>
          <a:solidFill>
            <a:schemeClr val="accent1"/>
          </a:solidFill>
          <a:ln w="31750">
            <a:solidFill>
              <a:schemeClr val="tx1"/>
            </a:solidFill>
            <a:prstDash val="solid"/>
          </a:ln>
        </p:spPr>
      </p:sp>
      <p:pic>
        <p:nvPicPr>
          <p:cNvPr id="22" name="Step icon 5" descr="No emergency plan, no trail"/>
          <p:cNvPicPr>
            <a:picLocks noChangeAspect="1"/>
          </p:cNvPicPr>
          <p:nvPr/>
        </p:nvPicPr>
        <p:blipFill>
          <a:blip r:embed="rId6"/>
          <a:stretch>
            <a:fillRect/>
          </a:stretch>
        </p:blipFill>
        <p:spPr>
          <a:xfrm>
            <a:off x="987552" y="5312664"/>
            <a:ext cx="310896" cy="310896"/>
          </a:xfrm>
          <a:prstGeom prst="rect">
            <a:avLst/>
          </a:prstGeom>
        </p:spPr>
      </p:pic>
      <p:sp>
        <p:nvSpPr>
          <p:cNvPr id="23" name="Step title 5"/>
          <p:cNvSpPr txBox="1"/>
          <p:nvPr/>
        </p:nvSpPr>
        <p:spPr>
          <a:xfrm>
            <a:off x="1828800" y="514807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No emergency plan, no trail</a:t>
            </a:r>
          </a:p>
        </p:txBody>
      </p:sp>
      <p:sp>
        <p:nvSpPr>
          <p:cNvPr id="24" name="Step text 5"/>
          <p:cNvSpPr txBox="1"/>
          <p:nvPr/>
        </p:nvSpPr>
        <p:spPr>
          <a:xfrm>
            <a:off x="1828800" y="547725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There is no formal way to get consent when a patient cannot give it, and no record of who views or changes data.</a:t>
            </a:r>
          </a:p>
        </p:txBody>
      </p:sp>
      <p:pic>
        <p:nvPicPr>
          <p:cNvPr id="25" name="Decoration" descr="Decorative medical illustration"/>
          <p:cNvPicPr>
            <a:picLocks noChangeAspect="1"/>
          </p:cNvPicPr>
          <p:nvPr/>
        </p:nvPicPr>
        <p:blipFill>
          <a:blip r:embed="rId7"/>
          <a:stretch>
            <a:fillRect/>
          </a:stretch>
        </p:blipFill>
        <p:spPr>
          <a:xfrm>
            <a:off x="10058400" y="2011680"/>
            <a:ext cx="2200000" cy="2200000"/>
          </a:xfrm>
          <a:prstGeom prst="rect">
            <a:avLst/>
          </a:prstGeom>
        </p:spPr>
      </p:pic>
      <p:sp>
        <p:nvSpPr>
          <p:cNvPr id="26" name="Slide Number Placeholder"/>
          <p:cNvSpPr>
            <a:spLocks noGrp="1"/>
          </p:cNvSpPr>
          <p:nvPr>
            <p:ph type="sldNum" sz="quarter" idx="4294967295"/>
          </p:nvPr>
        </p:nvSpPr>
        <p:spPr>
          <a:xfrm>
            <a:off x="11338560" y="6473952"/>
            <a:ext cx="457200" cy="228600"/>
          </a:xfrm>
          <a:prstGeom prst="rect">
            <a:avLst/>
          </a:prstGeom>
        </p:spPr>
        <p:txBody>
          <a:bodyPr/>
          <a:lstStyle>
            <a:lvl1pPr>
              <a:defRPr sz="1000">
                <a:solidFill>
                  <a:srgbClr val="3F457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bg_users">
    <p:spTree>
      <p:nvGrpSpPr>
        <p:cNvPr id="1" name=""/>
        <p:cNvGrpSpPr/>
        <p:nvPr/>
      </p:nvGrpSpPr>
      <p:grpSpPr>
        <a:xfrm>
          <a:off x="0" y="0"/>
          <a:ext cx="0" cy="0"/>
          <a:chOff x="0" y="0"/>
          <a:chExt cx="0" cy="0"/>
        </a:xfrm>
      </p:grpSpPr>
      <p:pic>
        <p:nvPicPr>
          <p:cNvPr id="2" name="Label Background and Context · Who it is for" descr=""/>
          <p:cNvPicPr>
            <a:picLocks noChangeAspect="1"/>
          </p:cNvPicPr>
          <p:nvPr/>
        </p:nvPicPr>
        <p:blipFill>
          <a:blip r:embed="rId1"/>
          <a:stretch>
            <a:fillRect/>
          </a:stretch>
        </p:blipFill>
        <p:spPr>
          <a:xfrm>
            <a:off x="640080" y="274320"/>
            <a:ext cx="4956000" cy="457200"/>
          </a:xfrm>
          <a:prstGeom prst="rect">
            <a:avLst/>
          </a:prstGeom>
        </p:spPr>
      </p:pic>
      <p:sp>
        <p:nvSpPr>
          <p:cNvPr id="3" name="Title"/>
          <p:cNvSpPr txBox="1"/>
          <p:nvPr/>
        </p:nvSpPr>
        <p:spPr>
          <a:xfrm>
            <a:off x="640080" y="274320"/>
            <a:ext cx="4956000" cy="457200"/>
          </a:xfrm>
          <a:prstGeom prst="rect">
            <a:avLst/>
          </a:prstGeom>
          <a:noFill/>
          <a:ln/>
        </p:spPr>
        <p:txBody>
          <a:bodyPr wrap="square" lIns="0" tIns="0" rIns="0" bIns="0" rtlCol="0" anchor="ctr"/>
          <a:lstStyle/>
          <a:p>
            <a:pPr algn="ctr" indent="0" marL="0">
              <a:buNone/>
            </a:pPr>
            <a:r>
              <a:rPr lang="en-US" sz="1600" b="1" dirty="0">
                <a:solidFill>
                  <a:schemeClr val="tx1"/>
                </a:solidFill>
              </a:rPr>
              <a:t>Background and Context · Who it is for</a:t>
            </a:r>
          </a:p>
        </p:txBody>
      </p:sp>
      <p:sp>
        <p:nvSpPr>
          <p:cNvPr id="4" name="Card Patient"/>
          <p:cNvSpPr/>
          <p:nvPr/>
        </p:nvSpPr>
        <p:spPr>
          <a:xfrm>
            <a:off x="731520" y="1143000"/>
            <a:ext cx="2560320" cy="2438400"/>
          </a:xfrm>
          <a:prstGeom prst="roundRect">
            <a:avLst>
              <a:gd name="adj" fmla="val 6122"/>
            </a:avLst>
          </a:prstGeom>
          <a:solidFill>
            <a:schemeClr val="bg1"/>
          </a:solidFill>
          <a:ln w="31750">
            <a:solidFill>
              <a:schemeClr val="tx1"/>
            </a:solidFill>
            <a:prstDash val="solid"/>
          </a:ln>
        </p:spPr>
      </p:sp>
      <p:sp>
        <p:nvSpPr>
          <p:cNvPr id="5" name="Badge 1"/>
          <p:cNvSpPr/>
          <p:nvPr/>
        </p:nvSpPr>
        <p:spPr>
          <a:xfrm>
            <a:off x="960120" y="1371600"/>
            <a:ext cx="594360" cy="594360"/>
          </a:xfrm>
          <a:prstGeom prst="ellipse">
            <a:avLst/>
          </a:prstGeom>
          <a:solidFill>
            <a:schemeClr val="accent1"/>
          </a:solidFill>
          <a:ln w="25400">
            <a:solidFill>
              <a:schemeClr val="tx1"/>
            </a:solidFill>
            <a:prstDash val="solid"/>
          </a:ln>
        </p:spPr>
      </p:sp>
      <p:pic>
        <p:nvPicPr>
          <p:cNvPr id="6" name="Card icon 1" descr="Patient"/>
          <p:cNvPicPr>
            <a:picLocks noChangeAspect="1"/>
          </p:cNvPicPr>
          <p:nvPr/>
        </p:nvPicPr>
        <p:blipFill>
          <a:blip r:embed="rId2"/>
          <a:stretch>
            <a:fillRect/>
          </a:stretch>
        </p:blipFill>
        <p:spPr>
          <a:xfrm>
            <a:off x="1101852" y="1513332"/>
            <a:ext cx="310896" cy="310896"/>
          </a:xfrm>
          <a:prstGeom prst="rect">
            <a:avLst/>
          </a:prstGeom>
        </p:spPr>
      </p:pic>
      <p:sp>
        <p:nvSpPr>
          <p:cNvPr id="7" name="Card title 1"/>
          <p:cNvSpPr txBox="1"/>
          <p:nvPr/>
        </p:nvSpPr>
        <p:spPr>
          <a:xfrm>
            <a:off x="960120" y="2057400"/>
            <a:ext cx="2103120" cy="320040"/>
          </a:xfrm>
          <a:prstGeom prst="rect">
            <a:avLst/>
          </a:prstGeom>
          <a:noFill/>
          <a:ln/>
        </p:spPr>
        <p:txBody>
          <a:bodyPr wrap="square" lIns="0" tIns="0" rIns="0" bIns="0" rtlCol="0" anchor="t"/>
          <a:lstStyle/>
          <a:p>
            <a:pPr algn="l" indent="0" marL="0">
              <a:buNone/>
            </a:pPr>
            <a:r>
              <a:rPr lang="en-US" sz="1700" dirty="0">
                <a:solidFill>
                  <a:schemeClr val="tx1"/>
                </a:solidFill>
                <a:latin typeface="+mj-lt" pitchFamily="34" charset="0"/>
                <a:ea typeface="+mj-lt" pitchFamily="34" charset="-122"/>
                <a:cs typeface="+mj-lt" pitchFamily="34" charset="-120"/>
              </a:rPr>
              <a:t>Patient</a:t>
            </a:r>
          </a:p>
        </p:txBody>
      </p:sp>
      <p:sp>
        <p:nvSpPr>
          <p:cNvPr id="8" name="Card text 1"/>
          <p:cNvSpPr txBox="1"/>
          <p:nvPr/>
        </p:nvSpPr>
        <p:spPr>
          <a:xfrm>
            <a:off x="960120" y="2423160"/>
            <a:ext cx="2103120" cy="1021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A UNZA student who books visits, sees results and names a next of kin.</a:t>
            </a:r>
          </a:p>
        </p:txBody>
      </p:sp>
      <p:sp>
        <p:nvSpPr>
          <p:cNvPr id="9" name="Card Receptionist"/>
          <p:cNvSpPr/>
          <p:nvPr/>
        </p:nvSpPr>
        <p:spPr>
          <a:xfrm>
            <a:off x="3520440" y="1143000"/>
            <a:ext cx="2560320" cy="2438400"/>
          </a:xfrm>
          <a:prstGeom prst="roundRect">
            <a:avLst>
              <a:gd name="adj" fmla="val 6122"/>
            </a:avLst>
          </a:prstGeom>
          <a:solidFill>
            <a:schemeClr val="bg1"/>
          </a:solidFill>
          <a:ln w="31750">
            <a:solidFill>
              <a:schemeClr val="tx1"/>
            </a:solidFill>
            <a:prstDash val="solid"/>
          </a:ln>
        </p:spPr>
      </p:sp>
      <p:sp>
        <p:nvSpPr>
          <p:cNvPr id="10" name="Badge 2"/>
          <p:cNvSpPr/>
          <p:nvPr/>
        </p:nvSpPr>
        <p:spPr>
          <a:xfrm>
            <a:off x="3749040" y="1371600"/>
            <a:ext cx="594360" cy="594360"/>
          </a:xfrm>
          <a:prstGeom prst="ellipse">
            <a:avLst/>
          </a:prstGeom>
          <a:solidFill>
            <a:schemeClr val="accent1"/>
          </a:solidFill>
          <a:ln w="25400">
            <a:solidFill>
              <a:schemeClr val="tx1"/>
            </a:solidFill>
            <a:prstDash val="solid"/>
          </a:ln>
        </p:spPr>
      </p:sp>
      <p:pic>
        <p:nvPicPr>
          <p:cNvPr id="11" name="Card icon 2" descr="Receptionist"/>
          <p:cNvPicPr>
            <a:picLocks noChangeAspect="1"/>
          </p:cNvPicPr>
          <p:nvPr/>
        </p:nvPicPr>
        <p:blipFill>
          <a:blip r:embed="rId3"/>
          <a:stretch>
            <a:fillRect/>
          </a:stretch>
        </p:blipFill>
        <p:spPr>
          <a:xfrm>
            <a:off x="3890772" y="1513332"/>
            <a:ext cx="310896" cy="310896"/>
          </a:xfrm>
          <a:prstGeom prst="rect">
            <a:avLst/>
          </a:prstGeom>
        </p:spPr>
      </p:pic>
      <p:sp>
        <p:nvSpPr>
          <p:cNvPr id="12" name="Card title 2"/>
          <p:cNvSpPr txBox="1"/>
          <p:nvPr/>
        </p:nvSpPr>
        <p:spPr>
          <a:xfrm>
            <a:off x="3749040" y="2057400"/>
            <a:ext cx="2103120" cy="320040"/>
          </a:xfrm>
          <a:prstGeom prst="rect">
            <a:avLst/>
          </a:prstGeom>
          <a:noFill/>
          <a:ln/>
        </p:spPr>
        <p:txBody>
          <a:bodyPr wrap="square" lIns="0" tIns="0" rIns="0" bIns="0" rtlCol="0" anchor="t"/>
          <a:lstStyle/>
          <a:p>
            <a:pPr algn="l" indent="0" marL="0">
              <a:buNone/>
            </a:pPr>
            <a:r>
              <a:rPr lang="en-US" sz="1700" dirty="0">
                <a:solidFill>
                  <a:schemeClr val="tx1"/>
                </a:solidFill>
                <a:latin typeface="+mj-lt" pitchFamily="34" charset="0"/>
                <a:ea typeface="+mj-lt" pitchFamily="34" charset="-122"/>
                <a:cs typeface="+mj-lt" pitchFamily="34" charset="-120"/>
              </a:rPr>
              <a:t>Receptionist</a:t>
            </a:r>
          </a:p>
        </p:txBody>
      </p:sp>
      <p:sp>
        <p:nvSpPr>
          <p:cNvPr id="13" name="Card text 2"/>
          <p:cNvSpPr txBox="1"/>
          <p:nvPr/>
        </p:nvSpPr>
        <p:spPr>
          <a:xfrm>
            <a:off x="3749040" y="2423160"/>
            <a:ext cx="2103120" cy="1021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Verifies students by student number and registers each visit.</a:t>
            </a:r>
          </a:p>
        </p:txBody>
      </p:sp>
      <p:sp>
        <p:nvSpPr>
          <p:cNvPr id="14" name="Card Doctor"/>
          <p:cNvSpPr/>
          <p:nvPr/>
        </p:nvSpPr>
        <p:spPr>
          <a:xfrm>
            <a:off x="6309360" y="1143000"/>
            <a:ext cx="2560320" cy="2438400"/>
          </a:xfrm>
          <a:prstGeom prst="roundRect">
            <a:avLst>
              <a:gd name="adj" fmla="val 6122"/>
            </a:avLst>
          </a:prstGeom>
          <a:solidFill>
            <a:schemeClr val="bg1"/>
          </a:solidFill>
          <a:ln w="31750">
            <a:solidFill>
              <a:schemeClr val="tx1"/>
            </a:solidFill>
            <a:prstDash val="solid"/>
          </a:ln>
        </p:spPr>
      </p:sp>
      <p:sp>
        <p:nvSpPr>
          <p:cNvPr id="15" name="Badge 3"/>
          <p:cNvSpPr/>
          <p:nvPr/>
        </p:nvSpPr>
        <p:spPr>
          <a:xfrm>
            <a:off x="6537960" y="1371600"/>
            <a:ext cx="594360" cy="594360"/>
          </a:xfrm>
          <a:prstGeom prst="ellipse">
            <a:avLst/>
          </a:prstGeom>
          <a:solidFill>
            <a:schemeClr val="accent1"/>
          </a:solidFill>
          <a:ln w="25400">
            <a:solidFill>
              <a:schemeClr val="tx1"/>
            </a:solidFill>
            <a:prstDash val="solid"/>
          </a:ln>
        </p:spPr>
      </p:sp>
      <p:pic>
        <p:nvPicPr>
          <p:cNvPr id="16" name="Card icon 3" descr="Doctor"/>
          <p:cNvPicPr>
            <a:picLocks noChangeAspect="1"/>
          </p:cNvPicPr>
          <p:nvPr/>
        </p:nvPicPr>
        <p:blipFill>
          <a:blip r:embed="rId4"/>
          <a:stretch>
            <a:fillRect/>
          </a:stretch>
        </p:blipFill>
        <p:spPr>
          <a:xfrm>
            <a:off x="6679692" y="1513332"/>
            <a:ext cx="310896" cy="310896"/>
          </a:xfrm>
          <a:prstGeom prst="rect">
            <a:avLst/>
          </a:prstGeom>
        </p:spPr>
      </p:pic>
      <p:sp>
        <p:nvSpPr>
          <p:cNvPr id="17" name="Card title 3"/>
          <p:cNvSpPr txBox="1"/>
          <p:nvPr/>
        </p:nvSpPr>
        <p:spPr>
          <a:xfrm>
            <a:off x="6537960" y="2057400"/>
            <a:ext cx="2103120" cy="320040"/>
          </a:xfrm>
          <a:prstGeom prst="rect">
            <a:avLst/>
          </a:prstGeom>
          <a:noFill/>
          <a:ln/>
        </p:spPr>
        <p:txBody>
          <a:bodyPr wrap="square" lIns="0" tIns="0" rIns="0" bIns="0" rtlCol="0" anchor="t"/>
          <a:lstStyle/>
          <a:p>
            <a:pPr algn="l" indent="0" marL="0">
              <a:buNone/>
            </a:pPr>
            <a:r>
              <a:rPr lang="en-US" sz="1700" dirty="0">
                <a:solidFill>
                  <a:schemeClr val="tx1"/>
                </a:solidFill>
                <a:latin typeface="+mj-lt" pitchFamily="34" charset="0"/>
                <a:ea typeface="+mj-lt" pitchFamily="34" charset="-122"/>
                <a:cs typeface="+mj-lt" pitchFamily="34" charset="-120"/>
              </a:rPr>
              <a:t>Doctor</a:t>
            </a:r>
          </a:p>
        </p:txBody>
      </p:sp>
      <p:sp>
        <p:nvSpPr>
          <p:cNvPr id="18" name="Card text 3"/>
          <p:cNvSpPr txBox="1"/>
          <p:nvPr/>
        </p:nvSpPr>
        <p:spPr>
          <a:xfrm>
            <a:off x="6537960" y="2423160"/>
            <a:ext cx="2103120" cy="1021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Reviews profiles, orders labs, prescribes and releases results.</a:t>
            </a:r>
          </a:p>
        </p:txBody>
      </p:sp>
      <p:sp>
        <p:nvSpPr>
          <p:cNvPr id="19" name="Card Pharmacist"/>
          <p:cNvSpPr/>
          <p:nvPr/>
        </p:nvSpPr>
        <p:spPr>
          <a:xfrm>
            <a:off x="9098280" y="1143000"/>
            <a:ext cx="2560320" cy="2438400"/>
          </a:xfrm>
          <a:prstGeom prst="roundRect">
            <a:avLst>
              <a:gd name="adj" fmla="val 6122"/>
            </a:avLst>
          </a:prstGeom>
          <a:solidFill>
            <a:schemeClr val="bg1"/>
          </a:solidFill>
          <a:ln w="31750">
            <a:solidFill>
              <a:schemeClr val="tx1"/>
            </a:solidFill>
            <a:prstDash val="solid"/>
          </a:ln>
        </p:spPr>
      </p:sp>
      <p:sp>
        <p:nvSpPr>
          <p:cNvPr id="20" name="Badge 4"/>
          <p:cNvSpPr/>
          <p:nvPr/>
        </p:nvSpPr>
        <p:spPr>
          <a:xfrm>
            <a:off x="9326880" y="1371600"/>
            <a:ext cx="594360" cy="594360"/>
          </a:xfrm>
          <a:prstGeom prst="ellipse">
            <a:avLst/>
          </a:prstGeom>
          <a:solidFill>
            <a:schemeClr val="accent3"/>
          </a:solidFill>
          <a:ln w="25400">
            <a:solidFill>
              <a:schemeClr val="tx1"/>
            </a:solidFill>
            <a:prstDash val="solid"/>
          </a:ln>
        </p:spPr>
      </p:sp>
      <p:pic>
        <p:nvPicPr>
          <p:cNvPr id="21" name="Card icon 4" descr="Pharmacist"/>
          <p:cNvPicPr>
            <a:picLocks noChangeAspect="1"/>
          </p:cNvPicPr>
          <p:nvPr/>
        </p:nvPicPr>
        <p:blipFill>
          <a:blip r:embed="rId5"/>
          <a:stretch>
            <a:fillRect/>
          </a:stretch>
        </p:blipFill>
        <p:spPr>
          <a:xfrm>
            <a:off x="9468612" y="1513332"/>
            <a:ext cx="310896" cy="310896"/>
          </a:xfrm>
          <a:prstGeom prst="rect">
            <a:avLst/>
          </a:prstGeom>
        </p:spPr>
      </p:pic>
      <p:sp>
        <p:nvSpPr>
          <p:cNvPr id="22" name="Card title 4"/>
          <p:cNvSpPr txBox="1"/>
          <p:nvPr/>
        </p:nvSpPr>
        <p:spPr>
          <a:xfrm>
            <a:off x="9326880" y="2057400"/>
            <a:ext cx="2103120" cy="320040"/>
          </a:xfrm>
          <a:prstGeom prst="rect">
            <a:avLst/>
          </a:prstGeom>
          <a:noFill/>
          <a:ln/>
        </p:spPr>
        <p:txBody>
          <a:bodyPr wrap="square" lIns="0" tIns="0" rIns="0" bIns="0" rtlCol="0" anchor="t"/>
          <a:lstStyle/>
          <a:p>
            <a:pPr algn="l" indent="0" marL="0">
              <a:buNone/>
            </a:pPr>
            <a:r>
              <a:rPr lang="en-US" sz="1700" dirty="0">
                <a:solidFill>
                  <a:schemeClr val="tx1"/>
                </a:solidFill>
                <a:latin typeface="+mj-lt" pitchFamily="34" charset="0"/>
                <a:ea typeface="+mj-lt" pitchFamily="34" charset="-122"/>
                <a:cs typeface="+mj-lt" pitchFamily="34" charset="-120"/>
              </a:rPr>
              <a:t>Pharmacist</a:t>
            </a:r>
          </a:p>
        </p:txBody>
      </p:sp>
      <p:sp>
        <p:nvSpPr>
          <p:cNvPr id="23" name="Card text 4"/>
          <p:cNvSpPr txBox="1"/>
          <p:nvPr/>
        </p:nvSpPr>
        <p:spPr>
          <a:xfrm>
            <a:off x="9326880" y="2423160"/>
            <a:ext cx="2103120" cy="1021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Dispenses prescriptions and keeps drug stock accurate.</a:t>
            </a:r>
          </a:p>
        </p:txBody>
      </p:sp>
      <p:sp>
        <p:nvSpPr>
          <p:cNvPr id="24" name="Card Lab technician"/>
          <p:cNvSpPr/>
          <p:nvPr/>
        </p:nvSpPr>
        <p:spPr>
          <a:xfrm>
            <a:off x="731520" y="3810000"/>
            <a:ext cx="2560320" cy="2438400"/>
          </a:xfrm>
          <a:prstGeom prst="roundRect">
            <a:avLst>
              <a:gd name="adj" fmla="val 6122"/>
            </a:avLst>
          </a:prstGeom>
          <a:solidFill>
            <a:schemeClr val="bg1"/>
          </a:solidFill>
          <a:ln w="31750">
            <a:solidFill>
              <a:schemeClr val="tx1"/>
            </a:solidFill>
            <a:prstDash val="solid"/>
          </a:ln>
        </p:spPr>
      </p:sp>
      <p:sp>
        <p:nvSpPr>
          <p:cNvPr id="25" name="Badge 5"/>
          <p:cNvSpPr/>
          <p:nvPr/>
        </p:nvSpPr>
        <p:spPr>
          <a:xfrm>
            <a:off x="960120" y="4038600"/>
            <a:ext cx="594360" cy="594360"/>
          </a:xfrm>
          <a:prstGeom prst="ellipse">
            <a:avLst/>
          </a:prstGeom>
          <a:solidFill>
            <a:schemeClr val="accent1"/>
          </a:solidFill>
          <a:ln w="25400">
            <a:solidFill>
              <a:schemeClr val="tx1"/>
            </a:solidFill>
            <a:prstDash val="solid"/>
          </a:ln>
        </p:spPr>
      </p:sp>
      <p:pic>
        <p:nvPicPr>
          <p:cNvPr id="26" name="Card icon 5" descr="Lab technician"/>
          <p:cNvPicPr>
            <a:picLocks noChangeAspect="1"/>
          </p:cNvPicPr>
          <p:nvPr/>
        </p:nvPicPr>
        <p:blipFill>
          <a:blip r:embed="rId6"/>
          <a:stretch>
            <a:fillRect/>
          </a:stretch>
        </p:blipFill>
        <p:spPr>
          <a:xfrm>
            <a:off x="1101852" y="4180332"/>
            <a:ext cx="310896" cy="310896"/>
          </a:xfrm>
          <a:prstGeom prst="rect">
            <a:avLst/>
          </a:prstGeom>
        </p:spPr>
      </p:pic>
      <p:sp>
        <p:nvSpPr>
          <p:cNvPr id="27" name="Card title 5"/>
          <p:cNvSpPr txBox="1"/>
          <p:nvPr/>
        </p:nvSpPr>
        <p:spPr>
          <a:xfrm>
            <a:off x="960120" y="4724400"/>
            <a:ext cx="2103120" cy="320040"/>
          </a:xfrm>
          <a:prstGeom prst="rect">
            <a:avLst/>
          </a:prstGeom>
          <a:noFill/>
          <a:ln/>
        </p:spPr>
        <p:txBody>
          <a:bodyPr wrap="square" lIns="0" tIns="0" rIns="0" bIns="0" rtlCol="0" anchor="t"/>
          <a:lstStyle/>
          <a:p>
            <a:pPr algn="l" indent="0" marL="0">
              <a:buNone/>
            </a:pPr>
            <a:r>
              <a:rPr lang="en-US" sz="1700" dirty="0">
                <a:solidFill>
                  <a:schemeClr val="tx1"/>
                </a:solidFill>
                <a:latin typeface="+mj-lt" pitchFamily="34" charset="0"/>
                <a:ea typeface="+mj-lt" pitchFamily="34" charset="-122"/>
                <a:cs typeface="+mj-lt" pitchFamily="34" charset="-120"/>
              </a:rPr>
              <a:t>Lab technician</a:t>
            </a:r>
          </a:p>
        </p:txBody>
      </p:sp>
      <p:sp>
        <p:nvSpPr>
          <p:cNvPr id="28" name="Card text 5"/>
          <p:cNvSpPr txBox="1"/>
          <p:nvPr/>
        </p:nvSpPr>
        <p:spPr>
          <a:xfrm>
            <a:off x="960120" y="5090160"/>
            <a:ext cx="2103120" cy="1021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Records results from the work queue; flags are automatic.</a:t>
            </a:r>
          </a:p>
        </p:txBody>
      </p:sp>
      <p:sp>
        <p:nvSpPr>
          <p:cNvPr id="29" name="Card Next of kin"/>
          <p:cNvSpPr/>
          <p:nvPr/>
        </p:nvSpPr>
        <p:spPr>
          <a:xfrm>
            <a:off x="3520440" y="3810000"/>
            <a:ext cx="2560320" cy="2438400"/>
          </a:xfrm>
          <a:prstGeom prst="roundRect">
            <a:avLst>
              <a:gd name="adj" fmla="val 6122"/>
            </a:avLst>
          </a:prstGeom>
          <a:solidFill>
            <a:schemeClr val="bg1"/>
          </a:solidFill>
          <a:ln w="31750">
            <a:solidFill>
              <a:schemeClr val="tx1"/>
            </a:solidFill>
            <a:prstDash val="solid"/>
          </a:ln>
        </p:spPr>
      </p:sp>
      <p:sp>
        <p:nvSpPr>
          <p:cNvPr id="30" name="Badge 6"/>
          <p:cNvSpPr/>
          <p:nvPr/>
        </p:nvSpPr>
        <p:spPr>
          <a:xfrm>
            <a:off x="3749040" y="4038600"/>
            <a:ext cx="594360" cy="594360"/>
          </a:xfrm>
          <a:prstGeom prst="ellipse">
            <a:avLst/>
          </a:prstGeom>
          <a:solidFill>
            <a:schemeClr val="accent1"/>
          </a:solidFill>
          <a:ln w="25400">
            <a:solidFill>
              <a:schemeClr val="tx1"/>
            </a:solidFill>
            <a:prstDash val="solid"/>
          </a:ln>
        </p:spPr>
      </p:sp>
      <p:pic>
        <p:nvPicPr>
          <p:cNvPr id="31" name="Card icon 6" descr="Next of kin"/>
          <p:cNvPicPr>
            <a:picLocks noChangeAspect="1"/>
          </p:cNvPicPr>
          <p:nvPr/>
        </p:nvPicPr>
        <p:blipFill>
          <a:blip r:embed="rId7"/>
          <a:stretch>
            <a:fillRect/>
          </a:stretch>
        </p:blipFill>
        <p:spPr>
          <a:xfrm>
            <a:off x="3890772" y="4180332"/>
            <a:ext cx="310896" cy="310896"/>
          </a:xfrm>
          <a:prstGeom prst="rect">
            <a:avLst/>
          </a:prstGeom>
        </p:spPr>
      </p:pic>
      <p:sp>
        <p:nvSpPr>
          <p:cNvPr id="32" name="Card title 6"/>
          <p:cNvSpPr txBox="1"/>
          <p:nvPr/>
        </p:nvSpPr>
        <p:spPr>
          <a:xfrm>
            <a:off x="3749040" y="4724400"/>
            <a:ext cx="2103120" cy="320040"/>
          </a:xfrm>
          <a:prstGeom prst="rect">
            <a:avLst/>
          </a:prstGeom>
          <a:noFill/>
          <a:ln/>
        </p:spPr>
        <p:txBody>
          <a:bodyPr wrap="square" lIns="0" tIns="0" rIns="0" bIns="0" rtlCol="0" anchor="t"/>
          <a:lstStyle/>
          <a:p>
            <a:pPr algn="l" indent="0" marL="0">
              <a:buNone/>
            </a:pPr>
            <a:r>
              <a:rPr lang="en-US" sz="1700" dirty="0">
                <a:solidFill>
                  <a:schemeClr val="tx1"/>
                </a:solidFill>
                <a:latin typeface="+mj-lt" pitchFamily="34" charset="0"/>
                <a:ea typeface="+mj-lt" pitchFamily="34" charset="-122"/>
                <a:cs typeface="+mj-lt" pitchFamily="34" charset="-120"/>
              </a:rPr>
              <a:t>Next of kin</a:t>
            </a:r>
          </a:p>
        </p:txBody>
      </p:sp>
      <p:sp>
        <p:nvSpPr>
          <p:cNvPr id="33" name="Card text 6"/>
          <p:cNvSpPr txBox="1"/>
          <p:nvPr/>
        </p:nvSpPr>
        <p:spPr>
          <a:xfrm>
            <a:off x="3749040" y="5090160"/>
            <a:ext cx="2103120" cy="1021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Gives emergency consent when a patient cannot.</a:t>
            </a:r>
          </a:p>
        </p:txBody>
      </p:sp>
      <p:sp>
        <p:nvSpPr>
          <p:cNvPr id="34" name="Card Admin"/>
          <p:cNvSpPr/>
          <p:nvPr/>
        </p:nvSpPr>
        <p:spPr>
          <a:xfrm>
            <a:off x="6309360" y="3810000"/>
            <a:ext cx="2560320" cy="2438400"/>
          </a:xfrm>
          <a:prstGeom prst="roundRect">
            <a:avLst>
              <a:gd name="adj" fmla="val 6122"/>
            </a:avLst>
          </a:prstGeom>
          <a:solidFill>
            <a:schemeClr val="bg1"/>
          </a:solidFill>
          <a:ln w="31750">
            <a:solidFill>
              <a:schemeClr val="tx1"/>
            </a:solidFill>
            <a:prstDash val="solid"/>
          </a:ln>
        </p:spPr>
      </p:sp>
      <p:sp>
        <p:nvSpPr>
          <p:cNvPr id="35" name="Badge 7"/>
          <p:cNvSpPr/>
          <p:nvPr/>
        </p:nvSpPr>
        <p:spPr>
          <a:xfrm>
            <a:off x="6537960" y="4038600"/>
            <a:ext cx="594360" cy="594360"/>
          </a:xfrm>
          <a:prstGeom prst="ellipse">
            <a:avLst/>
          </a:prstGeom>
          <a:solidFill>
            <a:schemeClr val="accent1"/>
          </a:solidFill>
          <a:ln w="25400">
            <a:solidFill>
              <a:schemeClr val="tx1"/>
            </a:solidFill>
            <a:prstDash val="solid"/>
          </a:ln>
        </p:spPr>
      </p:sp>
      <p:pic>
        <p:nvPicPr>
          <p:cNvPr id="36" name="Card icon 7" descr="Admin"/>
          <p:cNvPicPr>
            <a:picLocks noChangeAspect="1"/>
          </p:cNvPicPr>
          <p:nvPr/>
        </p:nvPicPr>
        <p:blipFill>
          <a:blip r:embed="rId8"/>
          <a:stretch>
            <a:fillRect/>
          </a:stretch>
        </p:blipFill>
        <p:spPr>
          <a:xfrm>
            <a:off x="6679692" y="4180332"/>
            <a:ext cx="310896" cy="310896"/>
          </a:xfrm>
          <a:prstGeom prst="rect">
            <a:avLst/>
          </a:prstGeom>
        </p:spPr>
      </p:pic>
      <p:sp>
        <p:nvSpPr>
          <p:cNvPr id="37" name="Card title 7"/>
          <p:cNvSpPr txBox="1"/>
          <p:nvPr/>
        </p:nvSpPr>
        <p:spPr>
          <a:xfrm>
            <a:off x="6537960" y="4724400"/>
            <a:ext cx="2103120" cy="320040"/>
          </a:xfrm>
          <a:prstGeom prst="rect">
            <a:avLst/>
          </a:prstGeom>
          <a:noFill/>
          <a:ln/>
        </p:spPr>
        <p:txBody>
          <a:bodyPr wrap="square" lIns="0" tIns="0" rIns="0" bIns="0" rtlCol="0" anchor="t"/>
          <a:lstStyle/>
          <a:p>
            <a:pPr algn="l" indent="0" marL="0">
              <a:buNone/>
            </a:pPr>
            <a:r>
              <a:rPr lang="en-US" sz="1700" dirty="0">
                <a:solidFill>
                  <a:schemeClr val="tx1"/>
                </a:solidFill>
                <a:latin typeface="+mj-lt" pitchFamily="34" charset="0"/>
                <a:ea typeface="+mj-lt" pitchFamily="34" charset="-122"/>
                <a:cs typeface="+mj-lt" pitchFamily="34" charset="-120"/>
              </a:rPr>
              <a:t>Admin</a:t>
            </a:r>
          </a:p>
        </p:txBody>
      </p:sp>
      <p:sp>
        <p:nvSpPr>
          <p:cNvPr id="38" name="Card text 7"/>
          <p:cNvSpPr txBox="1"/>
          <p:nvPr/>
        </p:nvSpPr>
        <p:spPr>
          <a:xfrm>
            <a:off x="6537960" y="5090160"/>
            <a:ext cx="2103120" cy="1021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Manages users and reviews the access logs.</a:t>
            </a:r>
          </a:p>
        </p:txBody>
      </p:sp>
      <p:pic>
        <p:nvPicPr>
          <p:cNvPr id="39" name="Decoration" descr="Decorative medical illustration"/>
          <p:cNvPicPr>
            <a:picLocks noChangeAspect="1"/>
          </p:cNvPicPr>
          <p:nvPr/>
        </p:nvPicPr>
        <p:blipFill>
          <a:blip r:embed="rId9"/>
          <a:stretch>
            <a:fillRect/>
          </a:stretch>
        </p:blipFill>
        <p:spPr>
          <a:xfrm>
            <a:off x="10158600" y="4748400"/>
            <a:ext cx="1500000" cy="1500000"/>
          </a:xfrm>
          <a:prstGeom prst="rect">
            <a:avLst/>
          </a:prstGeom>
        </p:spPr>
      </p:pic>
      <p:sp>
        <p:nvSpPr>
          <p:cNvPr id="40" name="Slide Number Placeholder"/>
          <p:cNvSpPr>
            <a:spLocks noGrp="1"/>
          </p:cNvSpPr>
          <p:nvPr>
            <p:ph type="sldNum" sz="quarter" idx="4294967295"/>
          </p:nvPr>
        </p:nvSpPr>
        <p:spPr>
          <a:xfrm>
            <a:off x="11338560" y="6473952"/>
            <a:ext cx="457200" cy="228600"/>
          </a:xfrm>
          <a:prstGeom prst="rect">
            <a:avLst/>
          </a:prstGeom>
        </p:spPr>
        <p:txBody>
          <a:bodyPr/>
          <a:lstStyle>
            <a:lvl1pPr>
              <a:defRPr sz="1000">
                <a:solidFill>
                  <a:srgbClr val="3F457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bg_market">
    <p:spTree>
      <p:nvGrpSpPr>
        <p:cNvPr id="1" name=""/>
        <p:cNvGrpSpPr/>
        <p:nvPr/>
      </p:nvGrpSpPr>
      <p:grpSpPr>
        <a:xfrm>
          <a:off x="0" y="0"/>
          <a:ext cx="0" cy="0"/>
          <a:chOff x="0" y="0"/>
          <a:chExt cx="0" cy="0"/>
        </a:xfrm>
      </p:grpSpPr>
      <p:pic>
        <p:nvPicPr>
          <p:cNvPr id="2" name="Label Background and Context · Existing systems" descr=""/>
          <p:cNvPicPr>
            <a:picLocks noChangeAspect="1"/>
          </p:cNvPicPr>
          <p:nvPr/>
        </p:nvPicPr>
        <p:blipFill>
          <a:blip r:embed="rId1"/>
          <a:stretch>
            <a:fillRect/>
          </a:stretch>
        </p:blipFill>
        <p:spPr>
          <a:xfrm>
            <a:off x="640080" y="274320"/>
            <a:ext cx="5292000" cy="457200"/>
          </a:xfrm>
          <a:prstGeom prst="rect">
            <a:avLst/>
          </a:prstGeom>
        </p:spPr>
      </p:pic>
      <p:sp>
        <p:nvSpPr>
          <p:cNvPr id="3" name="Title"/>
          <p:cNvSpPr txBox="1"/>
          <p:nvPr/>
        </p:nvSpPr>
        <p:spPr>
          <a:xfrm>
            <a:off x="640080" y="274320"/>
            <a:ext cx="5292000" cy="457200"/>
          </a:xfrm>
          <a:prstGeom prst="rect">
            <a:avLst/>
          </a:prstGeom>
          <a:noFill/>
          <a:ln/>
        </p:spPr>
        <p:txBody>
          <a:bodyPr wrap="square" lIns="0" tIns="0" rIns="0" bIns="0" rtlCol="0" anchor="ctr"/>
          <a:lstStyle/>
          <a:p>
            <a:pPr algn="ctr" indent="0" marL="0">
              <a:buNone/>
            </a:pPr>
            <a:r>
              <a:rPr lang="en-US" sz="1600" b="1" dirty="0">
                <a:solidFill>
                  <a:schemeClr val="tx1"/>
                </a:solidFill>
              </a:rPr>
              <a:t>Background and Context · Existing systems</a:t>
            </a:r>
          </a:p>
        </p:txBody>
      </p:sp>
      <p:sp>
        <p:nvSpPr>
          <p:cNvPr id="4" name="Panel Big EMRs"/>
          <p:cNvSpPr/>
          <p:nvPr/>
        </p:nvSpPr>
        <p:spPr>
          <a:xfrm>
            <a:off x="731520" y="1143000"/>
            <a:ext cx="5326380" cy="4206240"/>
          </a:xfrm>
          <a:prstGeom prst="roundRect">
            <a:avLst>
              <a:gd name="adj" fmla="val 3500"/>
            </a:avLst>
          </a:prstGeom>
          <a:solidFill>
            <a:schemeClr val="bg1"/>
          </a:solidFill>
          <a:ln w="31750">
            <a:solidFill>
              <a:schemeClr val="tx1"/>
            </a:solidFill>
            <a:prstDash val="solid"/>
          </a:ln>
        </p:spPr>
      </p:sp>
      <p:sp>
        <p:nvSpPr>
          <p:cNvPr id="5" name="Badge 1"/>
          <p:cNvSpPr/>
          <p:nvPr/>
        </p:nvSpPr>
        <p:spPr>
          <a:xfrm>
            <a:off x="960120" y="1371600"/>
            <a:ext cx="594360" cy="594360"/>
          </a:xfrm>
          <a:prstGeom prst="ellipse">
            <a:avLst/>
          </a:prstGeom>
          <a:solidFill>
            <a:schemeClr val="accent1"/>
          </a:solidFill>
          <a:ln w="25400">
            <a:solidFill>
              <a:schemeClr val="tx1"/>
            </a:solidFill>
            <a:prstDash val="solid"/>
          </a:ln>
        </p:spPr>
      </p:sp>
      <p:pic>
        <p:nvPicPr>
          <p:cNvPr id="6" name="Panel icon 1" descr="Big EMRs"/>
          <p:cNvPicPr>
            <a:picLocks noChangeAspect="1"/>
          </p:cNvPicPr>
          <p:nvPr/>
        </p:nvPicPr>
        <p:blipFill>
          <a:blip r:embed="rId2"/>
          <a:stretch>
            <a:fillRect/>
          </a:stretch>
        </p:blipFill>
        <p:spPr>
          <a:xfrm>
            <a:off x="1101852" y="1513332"/>
            <a:ext cx="310896" cy="310896"/>
          </a:xfrm>
          <a:prstGeom prst="rect">
            <a:avLst/>
          </a:prstGeom>
        </p:spPr>
      </p:pic>
      <p:sp>
        <p:nvSpPr>
          <p:cNvPr id="7" name="Panel title 1"/>
          <p:cNvSpPr txBox="1"/>
          <p:nvPr/>
        </p:nvSpPr>
        <p:spPr>
          <a:xfrm>
            <a:off x="1737360" y="1371600"/>
            <a:ext cx="4091940" cy="594360"/>
          </a:xfrm>
          <a:prstGeom prst="rect">
            <a:avLst/>
          </a:prstGeom>
          <a:noFill/>
          <a:ln/>
        </p:spPr>
        <p:txBody>
          <a:bodyPr wrap="square" lIns="0" tIns="0" rIns="0" bIns="0" rtlCol="0" anchor="ctr"/>
          <a:lstStyle/>
          <a:p>
            <a:pPr algn="l" indent="0" marL="0">
              <a:buNone/>
            </a:pPr>
            <a:r>
              <a:rPr lang="en-US" sz="2000" dirty="0">
                <a:solidFill>
                  <a:schemeClr val="tx1"/>
                </a:solidFill>
                <a:latin typeface="+mj-lt" pitchFamily="34" charset="0"/>
                <a:ea typeface="+mj-lt" pitchFamily="34" charset="-122"/>
                <a:cs typeface="+mj-lt" pitchFamily="34" charset="-120"/>
              </a:rPr>
              <a:t>Big EMRs</a:t>
            </a:r>
          </a:p>
        </p:txBody>
      </p:sp>
      <p:sp>
        <p:nvSpPr>
          <p:cNvPr id="8" name="Panel bullets 1"/>
          <p:cNvSpPr txBox="1"/>
          <p:nvPr/>
        </p:nvSpPr>
        <p:spPr>
          <a:xfrm>
            <a:off x="960120" y="2194560"/>
            <a:ext cx="4869180" cy="2971800"/>
          </a:xfrm>
          <a:prstGeom prst="rect">
            <a:avLst/>
          </a:prstGeom>
          <a:noFill/>
          <a:ln/>
        </p:spPr>
        <p:txBody>
          <a:bodyPr wrap="square" lIns="0" tIns="0" rIns="0" bIns="0" rtlCol="0" anchor="t"/>
          <a:lstStyle/>
          <a:p>
            <a:pPr marL="228600" indent="-228600" algn="l">
              <a:lnSpc>
                <a:spcPct val="115000"/>
              </a:lnSpc>
              <a:spcAft>
                <a:spcPts val="900"/>
              </a:spcAft>
              <a:buFont typeface="Arial"/>
              <a:buChar char="•"/>
            </a:pPr>
            <a:r>
              <a:rPr lang="en-US" sz="1600" dirty="0">
                <a:solidFill>
                  <a:schemeClr val="tx1"/>
                </a:solidFill>
              </a:rPr>
              <a:t>OpenMRS, Bahmni, DHIS2, SmartCare and commercial hospital systems</a:t>
            </a:r>
          </a:p>
          <a:p>
            <a:pPr marL="228600" indent="-228600" algn="l">
              <a:lnSpc>
                <a:spcPct val="115000"/>
              </a:lnSpc>
              <a:spcAft>
                <a:spcPts val="900"/>
              </a:spcAft>
              <a:buFont typeface="Arial"/>
              <a:buChar char="•"/>
            </a:pPr>
            <a:r>
              <a:rPr lang="en-US" sz="1600" dirty="0">
                <a:solidFill>
                  <a:schemeClr val="tx1"/>
                </a:solidFill>
              </a:rPr>
              <a:t>Powerful, but heavy to set up, license and train for</a:t>
            </a:r>
          </a:p>
          <a:p>
            <a:pPr marL="228600" indent="-228600" algn="l">
              <a:lnSpc>
                <a:spcPct val="115000"/>
              </a:lnSpc>
              <a:spcAft>
                <a:spcPts val="900"/>
              </a:spcAft>
              <a:buFont typeface="Arial"/>
              <a:buChar char="•"/>
            </a:pPr>
            <a:r>
              <a:rPr lang="en-US" sz="1600" dirty="0">
                <a:solidFill>
                  <a:schemeClr val="tx1"/>
                </a:solidFill>
              </a:rPr>
              <a:t>Often focused on national reporting or whole hospitals</a:t>
            </a:r>
          </a:p>
          <a:p>
            <a:pPr marL="228600" indent="-228600" algn="l">
              <a:lnSpc>
                <a:spcPct val="115000"/>
              </a:lnSpc>
              <a:spcAft>
                <a:spcPts val="900"/>
              </a:spcAft>
              <a:buFont typeface="Arial"/>
              <a:buChar char="•"/>
            </a:pPr>
            <a:r>
              <a:rPr lang="en-US" sz="1600" dirty="0">
                <a:solidFill>
                  <a:schemeClr val="tx1"/>
                </a:solidFill>
              </a:rPr>
              <a:t>Not shaped around one campus clinic's daily workflow</a:t>
            </a:r>
          </a:p>
        </p:txBody>
      </p:sp>
      <p:sp>
        <p:nvSpPr>
          <p:cNvPr id="9" name="Panel MediVault"/>
          <p:cNvSpPr/>
          <p:nvPr/>
        </p:nvSpPr>
        <p:spPr>
          <a:xfrm>
            <a:off x="6332220" y="1143000"/>
            <a:ext cx="5326380" cy="4206240"/>
          </a:xfrm>
          <a:prstGeom prst="roundRect">
            <a:avLst>
              <a:gd name="adj" fmla="val 3500"/>
            </a:avLst>
          </a:prstGeom>
          <a:solidFill>
            <a:schemeClr val="bg1"/>
          </a:solidFill>
          <a:ln w="31750">
            <a:solidFill>
              <a:schemeClr val="tx1"/>
            </a:solidFill>
            <a:prstDash val="solid"/>
          </a:ln>
        </p:spPr>
      </p:sp>
      <p:sp>
        <p:nvSpPr>
          <p:cNvPr id="10" name="Badge 2"/>
          <p:cNvSpPr/>
          <p:nvPr/>
        </p:nvSpPr>
        <p:spPr>
          <a:xfrm>
            <a:off x="6560820" y="1371600"/>
            <a:ext cx="594360" cy="594360"/>
          </a:xfrm>
          <a:prstGeom prst="ellipse">
            <a:avLst/>
          </a:prstGeom>
          <a:solidFill>
            <a:schemeClr val="accent3"/>
          </a:solidFill>
          <a:ln w="25400">
            <a:solidFill>
              <a:schemeClr val="tx1"/>
            </a:solidFill>
            <a:prstDash val="solid"/>
          </a:ln>
        </p:spPr>
      </p:sp>
      <p:pic>
        <p:nvPicPr>
          <p:cNvPr id="11" name="Panel icon 2" descr="MediVault"/>
          <p:cNvPicPr>
            <a:picLocks noChangeAspect="1"/>
          </p:cNvPicPr>
          <p:nvPr/>
        </p:nvPicPr>
        <p:blipFill>
          <a:blip r:embed="rId3"/>
          <a:stretch>
            <a:fillRect/>
          </a:stretch>
        </p:blipFill>
        <p:spPr>
          <a:xfrm>
            <a:off x="6702552" y="1513332"/>
            <a:ext cx="310896" cy="310896"/>
          </a:xfrm>
          <a:prstGeom prst="rect">
            <a:avLst/>
          </a:prstGeom>
        </p:spPr>
      </p:pic>
      <p:sp>
        <p:nvSpPr>
          <p:cNvPr id="12" name="Panel title 2"/>
          <p:cNvSpPr txBox="1"/>
          <p:nvPr/>
        </p:nvSpPr>
        <p:spPr>
          <a:xfrm>
            <a:off x="7338060" y="1371600"/>
            <a:ext cx="4091940" cy="594360"/>
          </a:xfrm>
          <a:prstGeom prst="rect">
            <a:avLst/>
          </a:prstGeom>
          <a:noFill/>
          <a:ln/>
        </p:spPr>
        <p:txBody>
          <a:bodyPr wrap="square" lIns="0" tIns="0" rIns="0" bIns="0" rtlCol="0" anchor="ctr"/>
          <a:lstStyle/>
          <a:p>
            <a:pPr algn="l" indent="0" marL="0">
              <a:buNone/>
            </a:pPr>
            <a:r>
              <a:rPr lang="en-US" sz="2000" dirty="0">
                <a:solidFill>
                  <a:schemeClr val="tx1"/>
                </a:solidFill>
                <a:latin typeface="+mj-lt" pitchFamily="34" charset="0"/>
                <a:ea typeface="+mj-lt" pitchFamily="34" charset="-122"/>
                <a:cs typeface="+mj-lt" pitchFamily="34" charset="-120"/>
              </a:rPr>
              <a:t>MediVault</a:t>
            </a:r>
          </a:p>
        </p:txBody>
      </p:sp>
      <p:sp>
        <p:nvSpPr>
          <p:cNvPr id="13" name="Panel bullets 2"/>
          <p:cNvSpPr txBox="1"/>
          <p:nvPr/>
        </p:nvSpPr>
        <p:spPr>
          <a:xfrm>
            <a:off x="6560820" y="2194560"/>
            <a:ext cx="4869180" cy="2971800"/>
          </a:xfrm>
          <a:prstGeom prst="rect">
            <a:avLst/>
          </a:prstGeom>
          <a:noFill/>
          <a:ln/>
        </p:spPr>
        <p:txBody>
          <a:bodyPr wrap="square" lIns="0" tIns="0" rIns="0" bIns="0" rtlCol="0" anchor="t"/>
          <a:lstStyle/>
          <a:p>
            <a:pPr marL="228600" indent="-228600" algn="l">
              <a:lnSpc>
                <a:spcPct val="115000"/>
              </a:lnSpc>
              <a:spcAft>
                <a:spcPts val="900"/>
              </a:spcAft>
              <a:buFont typeface="Arial"/>
              <a:buChar char="•"/>
            </a:pPr>
            <a:r>
              <a:rPr lang="en-US" sz="1600" dirty="0">
                <a:solidFill>
                  <a:schemeClr val="tx1"/>
                </a:solidFill>
              </a:rPr>
              <a:t>Lightweight and right-sized for a university clinic</a:t>
            </a:r>
          </a:p>
          <a:p>
            <a:pPr marL="228600" indent="-228600" algn="l">
              <a:lnSpc>
                <a:spcPct val="115000"/>
              </a:lnSpc>
              <a:spcAft>
                <a:spcPts val="900"/>
              </a:spcAft>
              <a:buFont typeface="Arial"/>
              <a:buChar char="•"/>
            </a:pPr>
            <a:r>
              <a:rPr lang="en-US" sz="1600" dirty="0">
                <a:solidFill>
                  <a:schemeClr val="tx1"/>
                </a:solidFill>
              </a:rPr>
              <a:t>Built around the clinic's real visit workflow</a:t>
            </a:r>
          </a:p>
          <a:p>
            <a:pPr marL="228600" indent="-228600" algn="l">
              <a:lnSpc>
                <a:spcPct val="115000"/>
              </a:lnSpc>
              <a:spcAft>
                <a:spcPts val="900"/>
              </a:spcAft>
              <a:buFont typeface="Arial"/>
              <a:buChar char="•"/>
            </a:pPr>
            <a:r>
              <a:rPr lang="en-US" sz="1600" dirty="0">
                <a:solidFill>
                  <a:schemeClr val="tx1"/>
                </a:solidFill>
              </a:rPr>
              <a:t>Patient in the loop: appointments, messaging, results and consent</a:t>
            </a:r>
          </a:p>
          <a:p>
            <a:pPr marL="228600" indent="-228600" algn="l">
              <a:lnSpc>
                <a:spcPct val="115000"/>
              </a:lnSpc>
              <a:spcAft>
                <a:spcPts val="900"/>
              </a:spcAft>
              <a:buFont typeface="Arial"/>
              <a:buChar char="•"/>
            </a:pPr>
            <a:r>
              <a:rPr lang="en-US" sz="1600" dirty="0">
                <a:solidFill>
                  <a:schemeClr val="tx1"/>
                </a:solidFill>
              </a:rPr>
              <a:t>Could integrate later through standards such as HL7 FHIR</a:t>
            </a:r>
          </a:p>
        </p:txBody>
      </p:sp>
      <p:sp>
        <p:nvSpPr>
          <p:cNvPr id="14" name="Footer note"/>
          <p:cNvSpPr txBox="1"/>
          <p:nvPr/>
        </p:nvSpPr>
        <p:spPr>
          <a:xfrm>
            <a:off x="731520" y="5532120"/>
            <a:ext cx="10927080" cy="420000"/>
          </a:xfrm>
          <a:prstGeom prst="rect">
            <a:avLst/>
          </a:prstGeom>
          <a:noFill/>
          <a:ln/>
        </p:spPr>
        <p:txBody>
          <a:bodyPr wrap="square" lIns="0" tIns="0" rIns="0" bIns="0" rtlCol="0" anchor="ctr"/>
          <a:lstStyle/>
          <a:p>
            <a:pPr algn="l" indent="0" marL="0">
              <a:buNone/>
            </a:pPr>
            <a:r>
              <a:rPr lang="en-US" sz="1600" b="1" dirty="0">
                <a:solidFill>
                  <a:schemeClr val="tx1"/>
                </a:solidFill>
              </a:rPr>
              <a:t>We do not claim to beat them. The aim is the right fit for this clinic.</a:t>
            </a:r>
          </a:p>
        </p:txBody>
      </p:sp>
      <p:sp>
        <p:nvSpPr>
          <p:cNvPr id="15" name="Slide Number Placeholder"/>
          <p:cNvSpPr>
            <a:spLocks noGrp="1"/>
          </p:cNvSpPr>
          <p:nvPr>
            <p:ph type="sldNum" sz="quarter" idx="4294967295"/>
          </p:nvPr>
        </p:nvSpPr>
        <p:spPr>
          <a:xfrm>
            <a:off x="11338560" y="6473952"/>
            <a:ext cx="457200" cy="228600"/>
          </a:xfrm>
          <a:prstGeom prst="rect">
            <a:avLst/>
          </a:prstGeom>
        </p:spPr>
        <p:txBody>
          <a:bodyPr/>
          <a:lstStyle>
            <a:lvl1pPr>
              <a:defRPr sz="1000">
                <a:solidFill>
                  <a:srgbClr val="3F457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bg_objectives">
    <p:spTree>
      <p:nvGrpSpPr>
        <p:cNvPr id="1" name=""/>
        <p:cNvGrpSpPr/>
        <p:nvPr/>
      </p:nvGrpSpPr>
      <p:grpSpPr>
        <a:xfrm>
          <a:off x="0" y="0"/>
          <a:ext cx="0" cy="0"/>
          <a:chOff x="0" y="0"/>
          <a:chExt cx="0" cy="0"/>
        </a:xfrm>
      </p:grpSpPr>
      <p:pic>
        <p:nvPicPr>
          <p:cNvPr id="2" name="Label Background and Context · Project objectives" descr=""/>
          <p:cNvPicPr>
            <a:picLocks noChangeAspect="1"/>
          </p:cNvPicPr>
          <p:nvPr/>
        </p:nvPicPr>
        <p:blipFill>
          <a:blip r:embed="rId1"/>
          <a:stretch>
            <a:fillRect/>
          </a:stretch>
        </p:blipFill>
        <p:spPr>
          <a:xfrm>
            <a:off x="640080" y="274320"/>
            <a:ext cx="5516000" cy="457200"/>
          </a:xfrm>
          <a:prstGeom prst="rect">
            <a:avLst/>
          </a:prstGeom>
        </p:spPr>
      </p:pic>
      <p:sp>
        <p:nvSpPr>
          <p:cNvPr id="3" name="Title"/>
          <p:cNvSpPr txBox="1"/>
          <p:nvPr/>
        </p:nvSpPr>
        <p:spPr>
          <a:xfrm>
            <a:off x="640080" y="274320"/>
            <a:ext cx="5516000" cy="457200"/>
          </a:xfrm>
          <a:prstGeom prst="rect">
            <a:avLst/>
          </a:prstGeom>
          <a:noFill/>
          <a:ln/>
        </p:spPr>
        <p:txBody>
          <a:bodyPr wrap="square" lIns="0" tIns="0" rIns="0" bIns="0" rtlCol="0" anchor="ctr"/>
          <a:lstStyle/>
          <a:p>
            <a:pPr algn="ctr" indent="0" marL="0">
              <a:buNone/>
            </a:pPr>
            <a:r>
              <a:rPr lang="en-US" sz="1600" b="1" dirty="0">
                <a:solidFill>
                  <a:schemeClr val="tx1"/>
                </a:solidFill>
              </a:rPr>
              <a:t>Background and Context · Project objectives</a:t>
            </a:r>
          </a:p>
        </p:txBody>
      </p:sp>
      <p:sp>
        <p:nvSpPr>
          <p:cNvPr id="4" name="Stepper line"/>
          <p:cNvSpPr/>
          <p:nvPr/>
        </p:nvSpPr>
        <p:spPr>
          <a:xfrm>
            <a:off x="1143000" y="1444752"/>
            <a:ext cx="0" cy="4023360"/>
          </a:xfrm>
          <a:prstGeom prst="line">
            <a:avLst/>
          </a:prstGeom>
          <a:noFill/>
          <a:ln w="38100">
            <a:solidFill>
              <a:schemeClr val="accent2"/>
            </a:solidFill>
            <a:prstDash val="solid"/>
          </a:ln>
        </p:spPr>
      </p:sp>
      <p:sp>
        <p:nvSpPr>
          <p:cNvPr id="5" name="Step 1"/>
          <p:cNvSpPr/>
          <p:nvPr/>
        </p:nvSpPr>
        <p:spPr>
          <a:xfrm>
            <a:off x="841248" y="1143000"/>
            <a:ext cx="603504" cy="603504"/>
          </a:xfrm>
          <a:prstGeom prst="ellipse">
            <a:avLst/>
          </a:prstGeom>
          <a:solidFill>
            <a:schemeClr val="accent1"/>
          </a:solidFill>
          <a:ln w="31750">
            <a:solidFill>
              <a:schemeClr val="tx1"/>
            </a:solidFill>
            <a:prstDash val="solid"/>
          </a:ln>
        </p:spPr>
      </p:sp>
      <p:pic>
        <p:nvPicPr>
          <p:cNvPr id="6" name="Step icon 1" descr="Role-based access"/>
          <p:cNvPicPr>
            <a:picLocks noChangeAspect="1"/>
          </p:cNvPicPr>
          <p:nvPr/>
        </p:nvPicPr>
        <p:blipFill>
          <a:blip r:embed="rId2"/>
          <a:stretch>
            <a:fillRect/>
          </a:stretch>
        </p:blipFill>
        <p:spPr>
          <a:xfrm>
            <a:off x="987552" y="1289304"/>
            <a:ext cx="310896" cy="310896"/>
          </a:xfrm>
          <a:prstGeom prst="rect">
            <a:avLst/>
          </a:prstGeom>
        </p:spPr>
      </p:pic>
      <p:sp>
        <p:nvSpPr>
          <p:cNvPr id="7" name="Step title 1"/>
          <p:cNvSpPr txBox="1"/>
          <p:nvPr/>
        </p:nvSpPr>
        <p:spPr>
          <a:xfrm>
            <a:off x="1828800" y="112471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Role-based access</a:t>
            </a:r>
          </a:p>
        </p:txBody>
      </p:sp>
      <p:sp>
        <p:nvSpPr>
          <p:cNvPr id="8" name="Step text 1"/>
          <p:cNvSpPr txBox="1"/>
          <p:nvPr/>
        </p:nvSpPr>
        <p:spPr>
          <a:xfrm>
            <a:off x="1828800" y="145389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Every user sees and does only what their role allows.</a:t>
            </a:r>
          </a:p>
        </p:txBody>
      </p:sp>
      <p:sp>
        <p:nvSpPr>
          <p:cNvPr id="9" name="Step 2"/>
          <p:cNvSpPr/>
          <p:nvPr/>
        </p:nvSpPr>
        <p:spPr>
          <a:xfrm>
            <a:off x="841248" y="2148840"/>
            <a:ext cx="603504" cy="603504"/>
          </a:xfrm>
          <a:prstGeom prst="ellipse">
            <a:avLst/>
          </a:prstGeom>
          <a:solidFill>
            <a:schemeClr val="accent1"/>
          </a:solidFill>
          <a:ln w="31750">
            <a:solidFill>
              <a:schemeClr val="tx1"/>
            </a:solidFill>
            <a:prstDash val="solid"/>
          </a:ln>
        </p:spPr>
      </p:sp>
      <p:pic>
        <p:nvPicPr>
          <p:cNvPr id="10" name="Step icon 2" descr="Student-number verification"/>
          <p:cNvPicPr>
            <a:picLocks noChangeAspect="1"/>
          </p:cNvPicPr>
          <p:nvPr/>
        </p:nvPicPr>
        <p:blipFill>
          <a:blip r:embed="rId3"/>
          <a:stretch>
            <a:fillRect/>
          </a:stretch>
        </p:blipFill>
        <p:spPr>
          <a:xfrm>
            <a:off x="987552" y="2295144"/>
            <a:ext cx="310896" cy="310896"/>
          </a:xfrm>
          <a:prstGeom prst="rect">
            <a:avLst/>
          </a:prstGeom>
        </p:spPr>
      </p:pic>
      <p:sp>
        <p:nvSpPr>
          <p:cNvPr id="11" name="Step title 2"/>
          <p:cNvSpPr txBox="1"/>
          <p:nvPr/>
        </p:nvSpPr>
        <p:spPr>
          <a:xfrm>
            <a:off x="1828800" y="213055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Student-number verification</a:t>
            </a:r>
          </a:p>
        </p:txBody>
      </p:sp>
      <p:sp>
        <p:nvSpPr>
          <p:cNvPr id="12" name="Step text 2"/>
          <p:cNvSpPr txBox="1"/>
          <p:nvPr/>
        </p:nvSpPr>
        <p:spPr>
          <a:xfrm>
            <a:off x="1828800" y="245973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Receptionists confirm eligibility in seconds, with no physical ID card.</a:t>
            </a:r>
          </a:p>
        </p:txBody>
      </p:sp>
      <p:sp>
        <p:nvSpPr>
          <p:cNvPr id="13" name="Step 3"/>
          <p:cNvSpPr/>
          <p:nvPr/>
        </p:nvSpPr>
        <p:spPr>
          <a:xfrm>
            <a:off x="841248" y="3154680"/>
            <a:ext cx="603504" cy="603504"/>
          </a:xfrm>
          <a:prstGeom prst="ellipse">
            <a:avLst/>
          </a:prstGeom>
          <a:solidFill>
            <a:schemeClr val="accent1"/>
          </a:solidFill>
          <a:ln w="31750">
            <a:solidFill>
              <a:schemeClr val="tx1"/>
            </a:solidFill>
            <a:prstDash val="solid"/>
          </a:ln>
        </p:spPr>
      </p:sp>
      <p:pic>
        <p:nvPicPr>
          <p:cNvPr id="14" name="Step icon 3" descr="Electronic medical profiles"/>
          <p:cNvPicPr>
            <a:picLocks noChangeAspect="1"/>
          </p:cNvPicPr>
          <p:nvPr/>
        </p:nvPicPr>
        <p:blipFill>
          <a:blip r:embed="rId4"/>
          <a:stretch>
            <a:fillRect/>
          </a:stretch>
        </p:blipFill>
        <p:spPr>
          <a:xfrm>
            <a:off x="987552" y="3300984"/>
            <a:ext cx="310896" cy="310896"/>
          </a:xfrm>
          <a:prstGeom prst="rect">
            <a:avLst/>
          </a:prstGeom>
        </p:spPr>
      </p:pic>
      <p:sp>
        <p:nvSpPr>
          <p:cNvPr id="15" name="Step title 3"/>
          <p:cNvSpPr txBox="1"/>
          <p:nvPr/>
        </p:nvSpPr>
        <p:spPr>
          <a:xfrm>
            <a:off x="1828800" y="313639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Electronic medical profiles</a:t>
            </a:r>
          </a:p>
        </p:txBody>
      </p:sp>
      <p:sp>
        <p:nvSpPr>
          <p:cNvPr id="16" name="Step text 3"/>
          <p:cNvSpPr txBox="1"/>
          <p:nvPr/>
        </p:nvSpPr>
        <p:spPr>
          <a:xfrm>
            <a:off x="1828800" y="346557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Doctors view and update diagnoses, medications, allergies and visit history.</a:t>
            </a:r>
          </a:p>
        </p:txBody>
      </p:sp>
      <p:sp>
        <p:nvSpPr>
          <p:cNvPr id="17" name="Step 4"/>
          <p:cNvSpPr/>
          <p:nvPr/>
        </p:nvSpPr>
        <p:spPr>
          <a:xfrm>
            <a:off x="841248" y="4160520"/>
            <a:ext cx="603504" cy="603504"/>
          </a:xfrm>
          <a:prstGeom prst="ellipse">
            <a:avLst/>
          </a:prstGeom>
          <a:solidFill>
            <a:schemeClr val="accent1"/>
          </a:solidFill>
          <a:ln w="31750">
            <a:solidFill>
              <a:schemeClr val="tx1"/>
            </a:solidFill>
            <a:prstDash val="solid"/>
          </a:ln>
        </p:spPr>
      </p:sp>
      <p:pic>
        <p:nvPicPr>
          <p:cNvPr id="18" name="Step icon 4" descr="Next of kin consent"/>
          <p:cNvPicPr>
            <a:picLocks noChangeAspect="1"/>
          </p:cNvPicPr>
          <p:nvPr/>
        </p:nvPicPr>
        <p:blipFill>
          <a:blip r:embed="rId5"/>
          <a:stretch>
            <a:fillRect/>
          </a:stretch>
        </p:blipFill>
        <p:spPr>
          <a:xfrm>
            <a:off x="987552" y="4306824"/>
            <a:ext cx="310896" cy="310896"/>
          </a:xfrm>
          <a:prstGeom prst="rect">
            <a:avLst/>
          </a:prstGeom>
        </p:spPr>
      </p:pic>
      <p:sp>
        <p:nvSpPr>
          <p:cNvPr id="19" name="Step title 4"/>
          <p:cNvSpPr txBox="1"/>
          <p:nvPr/>
        </p:nvSpPr>
        <p:spPr>
          <a:xfrm>
            <a:off x="1828800" y="414223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Next of kin consent</a:t>
            </a:r>
          </a:p>
        </p:txBody>
      </p:sp>
      <p:sp>
        <p:nvSpPr>
          <p:cNvPr id="20" name="Step text 4"/>
          <p:cNvSpPr txBox="1"/>
          <p:nvPr/>
        </p:nvSpPr>
        <p:spPr>
          <a:xfrm>
            <a:off x="1828800" y="447141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Patients pre-assign someone who can give consent in an emergency.</a:t>
            </a:r>
          </a:p>
        </p:txBody>
      </p:sp>
      <p:sp>
        <p:nvSpPr>
          <p:cNvPr id="21" name="Step 5"/>
          <p:cNvSpPr/>
          <p:nvPr/>
        </p:nvSpPr>
        <p:spPr>
          <a:xfrm>
            <a:off x="841248" y="5166360"/>
            <a:ext cx="603504" cy="603504"/>
          </a:xfrm>
          <a:prstGeom prst="ellipse">
            <a:avLst/>
          </a:prstGeom>
          <a:solidFill>
            <a:schemeClr val="accent1"/>
          </a:solidFill>
          <a:ln w="31750">
            <a:solidFill>
              <a:schemeClr val="tx1"/>
            </a:solidFill>
            <a:prstDash val="solid"/>
          </a:ln>
        </p:spPr>
      </p:sp>
      <p:pic>
        <p:nvPicPr>
          <p:cNvPr id="22" name="Step icon 5" descr="Access logging"/>
          <p:cNvPicPr>
            <a:picLocks noChangeAspect="1"/>
          </p:cNvPicPr>
          <p:nvPr/>
        </p:nvPicPr>
        <p:blipFill>
          <a:blip r:embed="rId6"/>
          <a:stretch>
            <a:fillRect/>
          </a:stretch>
        </p:blipFill>
        <p:spPr>
          <a:xfrm>
            <a:off x="987552" y="5312664"/>
            <a:ext cx="310896" cy="310896"/>
          </a:xfrm>
          <a:prstGeom prst="rect">
            <a:avLst/>
          </a:prstGeom>
        </p:spPr>
      </p:pic>
      <p:sp>
        <p:nvSpPr>
          <p:cNvPr id="23" name="Step title 5"/>
          <p:cNvSpPr txBox="1"/>
          <p:nvPr/>
        </p:nvSpPr>
        <p:spPr>
          <a:xfrm>
            <a:off x="1828800" y="514807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Access logging</a:t>
            </a:r>
          </a:p>
        </p:txBody>
      </p:sp>
      <p:sp>
        <p:nvSpPr>
          <p:cNvPr id="24" name="Step text 5"/>
          <p:cNvSpPr txBox="1"/>
          <p:nvPr/>
        </p:nvSpPr>
        <p:spPr>
          <a:xfrm>
            <a:off x="1828800" y="547725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Every view or edit of a patient record is written to the audit trail.</a:t>
            </a:r>
          </a:p>
        </p:txBody>
      </p:sp>
      <p:pic>
        <p:nvPicPr>
          <p:cNvPr id="25" name="Decoration" descr="Decorative medical illustration"/>
          <p:cNvPicPr>
            <a:picLocks noChangeAspect="1"/>
          </p:cNvPicPr>
          <p:nvPr/>
        </p:nvPicPr>
        <p:blipFill>
          <a:blip r:embed="rId7"/>
          <a:stretch>
            <a:fillRect/>
          </a:stretch>
        </p:blipFill>
        <p:spPr>
          <a:xfrm>
            <a:off x="10058400" y="2011680"/>
            <a:ext cx="2200000" cy="2200000"/>
          </a:xfrm>
          <a:prstGeom prst="rect">
            <a:avLst/>
          </a:prstGeom>
        </p:spPr>
      </p:pic>
      <p:sp>
        <p:nvSpPr>
          <p:cNvPr id="26" name="Slide Number Placeholder"/>
          <p:cNvSpPr>
            <a:spLocks noGrp="1"/>
          </p:cNvSpPr>
          <p:nvPr>
            <p:ph type="sldNum" sz="quarter" idx="4294967295"/>
          </p:nvPr>
        </p:nvSpPr>
        <p:spPr>
          <a:xfrm>
            <a:off x="11338560" y="6473952"/>
            <a:ext cx="457200" cy="228600"/>
          </a:xfrm>
          <a:prstGeom prst="rect">
            <a:avLst/>
          </a:prstGeom>
        </p:spPr>
        <p:txBody>
          <a:bodyPr/>
          <a:lstStyle>
            <a:lvl1pPr>
              <a:defRPr sz="1000">
                <a:solidFill>
                  <a:srgbClr val="3F457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arch">
    <p:spTree>
      <p:nvGrpSpPr>
        <p:cNvPr id="1" name=""/>
        <p:cNvGrpSpPr/>
        <p:nvPr/>
      </p:nvGrpSpPr>
      <p:grpSpPr>
        <a:xfrm>
          <a:off x="0" y="0"/>
          <a:ext cx="0" cy="0"/>
          <a:chOff x="0" y="0"/>
          <a:chExt cx="0" cy="0"/>
        </a:xfrm>
      </p:grpSpPr>
      <p:pic>
        <p:nvPicPr>
          <p:cNvPr id="2" name="Label System Analysis and Design · Architecture" descr=""/>
          <p:cNvPicPr>
            <a:picLocks noChangeAspect="1"/>
          </p:cNvPicPr>
          <p:nvPr/>
        </p:nvPicPr>
        <p:blipFill>
          <a:blip r:embed="rId1"/>
          <a:stretch>
            <a:fillRect/>
          </a:stretch>
        </p:blipFill>
        <p:spPr>
          <a:xfrm>
            <a:off x="640080" y="274320"/>
            <a:ext cx="5292000" cy="457200"/>
          </a:xfrm>
          <a:prstGeom prst="rect">
            <a:avLst/>
          </a:prstGeom>
        </p:spPr>
      </p:pic>
      <p:sp>
        <p:nvSpPr>
          <p:cNvPr id="3" name="Title"/>
          <p:cNvSpPr txBox="1"/>
          <p:nvPr/>
        </p:nvSpPr>
        <p:spPr>
          <a:xfrm>
            <a:off x="640080" y="274320"/>
            <a:ext cx="5292000" cy="457200"/>
          </a:xfrm>
          <a:prstGeom prst="rect">
            <a:avLst/>
          </a:prstGeom>
          <a:noFill/>
          <a:ln/>
        </p:spPr>
        <p:txBody>
          <a:bodyPr wrap="square" lIns="0" tIns="0" rIns="0" bIns="0" rtlCol="0" anchor="ctr"/>
          <a:lstStyle/>
          <a:p>
            <a:pPr algn="ctr" indent="0" marL="0">
              <a:buNone/>
            </a:pPr>
            <a:r>
              <a:rPr lang="en-US" sz="1600" b="1" dirty="0">
                <a:solidFill>
                  <a:schemeClr val="tx1"/>
                </a:solidFill>
              </a:rPr>
              <a:t>System Analysis and Design · Architecture</a:t>
            </a:r>
          </a:p>
        </p:txBody>
      </p:sp>
      <p:sp>
        <p:nvSpPr>
          <p:cNvPr id="4" name="Stepper line"/>
          <p:cNvSpPr/>
          <p:nvPr/>
        </p:nvSpPr>
        <p:spPr>
          <a:xfrm>
            <a:off x="1143000" y="1444752"/>
            <a:ext cx="0" cy="4023360"/>
          </a:xfrm>
          <a:prstGeom prst="line">
            <a:avLst/>
          </a:prstGeom>
          <a:noFill/>
          <a:ln w="38100">
            <a:solidFill>
              <a:schemeClr val="accent2"/>
            </a:solidFill>
            <a:prstDash val="solid"/>
          </a:ln>
        </p:spPr>
      </p:sp>
      <p:sp>
        <p:nvSpPr>
          <p:cNvPr id="5" name="Step 1"/>
          <p:cNvSpPr/>
          <p:nvPr/>
        </p:nvSpPr>
        <p:spPr>
          <a:xfrm>
            <a:off x="841248" y="1143000"/>
            <a:ext cx="603504" cy="603504"/>
          </a:xfrm>
          <a:prstGeom prst="ellipse">
            <a:avLst/>
          </a:prstGeom>
          <a:solidFill>
            <a:schemeClr val="accent1"/>
          </a:solidFill>
          <a:ln w="31750">
            <a:solidFill>
              <a:schemeClr val="tx1"/>
            </a:solidFill>
            <a:prstDash val="solid"/>
          </a:ln>
        </p:spPr>
      </p:sp>
      <p:pic>
        <p:nvPicPr>
          <p:cNvPr id="6" name="Step icon 1" descr="Browser: React dashboards"/>
          <p:cNvPicPr>
            <a:picLocks noChangeAspect="1"/>
          </p:cNvPicPr>
          <p:nvPr/>
        </p:nvPicPr>
        <p:blipFill>
          <a:blip r:embed="rId2"/>
          <a:stretch>
            <a:fillRect/>
          </a:stretch>
        </p:blipFill>
        <p:spPr>
          <a:xfrm>
            <a:off x="987552" y="1289304"/>
            <a:ext cx="310896" cy="310896"/>
          </a:xfrm>
          <a:prstGeom prst="rect">
            <a:avLst/>
          </a:prstGeom>
        </p:spPr>
      </p:pic>
      <p:sp>
        <p:nvSpPr>
          <p:cNvPr id="7" name="Step title 1"/>
          <p:cNvSpPr txBox="1"/>
          <p:nvPr/>
        </p:nvSpPr>
        <p:spPr>
          <a:xfrm>
            <a:off x="1828800" y="112471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Browser: React dashboards</a:t>
            </a:r>
          </a:p>
        </p:txBody>
      </p:sp>
      <p:sp>
        <p:nvSpPr>
          <p:cNvPr id="8" name="Step text 1"/>
          <p:cNvSpPr txBox="1"/>
          <p:nvPr/>
        </p:nvSpPr>
        <p:spPr>
          <a:xfrm>
            <a:off x="1828800" y="145389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Seven role dashboards built with Next.js pages and Tailwind CSS</a:t>
            </a:r>
          </a:p>
        </p:txBody>
      </p:sp>
      <p:sp>
        <p:nvSpPr>
          <p:cNvPr id="9" name="Step 2"/>
          <p:cNvSpPr/>
          <p:nvPr/>
        </p:nvSpPr>
        <p:spPr>
          <a:xfrm>
            <a:off x="841248" y="2148840"/>
            <a:ext cx="603504" cy="603504"/>
          </a:xfrm>
          <a:prstGeom prst="ellipse">
            <a:avLst/>
          </a:prstGeom>
          <a:solidFill>
            <a:schemeClr val="accent1"/>
          </a:solidFill>
          <a:ln w="31750">
            <a:solidFill>
              <a:schemeClr val="tx1"/>
            </a:solidFill>
            <a:prstDash val="solid"/>
          </a:ln>
        </p:spPr>
      </p:sp>
      <p:pic>
        <p:nvPicPr>
          <p:cNvPr id="10" name="Step icon 2" descr="Middleware: the first gate"/>
          <p:cNvPicPr>
            <a:picLocks noChangeAspect="1"/>
          </p:cNvPicPr>
          <p:nvPr/>
        </p:nvPicPr>
        <p:blipFill>
          <a:blip r:embed="rId3"/>
          <a:stretch>
            <a:fillRect/>
          </a:stretch>
        </p:blipFill>
        <p:spPr>
          <a:xfrm>
            <a:off x="987552" y="2295144"/>
            <a:ext cx="310896" cy="310896"/>
          </a:xfrm>
          <a:prstGeom prst="rect">
            <a:avLst/>
          </a:prstGeom>
        </p:spPr>
      </p:pic>
      <p:sp>
        <p:nvSpPr>
          <p:cNvPr id="11" name="Step title 2"/>
          <p:cNvSpPr txBox="1"/>
          <p:nvPr/>
        </p:nvSpPr>
        <p:spPr>
          <a:xfrm>
            <a:off x="1828800" y="213055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Middleware: the first gate</a:t>
            </a:r>
          </a:p>
        </p:txBody>
      </p:sp>
      <p:sp>
        <p:nvSpPr>
          <p:cNvPr id="12" name="Step text 2"/>
          <p:cNvSpPr txBox="1"/>
          <p:nvPr/>
        </p:nvSpPr>
        <p:spPr>
          <a:xfrm>
            <a:off x="1828800" y="245973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Verifies the JWT signature and expiry, then keeps each role on its own dashboard</a:t>
            </a:r>
          </a:p>
        </p:txBody>
      </p:sp>
      <p:sp>
        <p:nvSpPr>
          <p:cNvPr id="13" name="Step 3"/>
          <p:cNvSpPr/>
          <p:nvPr/>
        </p:nvSpPr>
        <p:spPr>
          <a:xfrm>
            <a:off x="841248" y="3154680"/>
            <a:ext cx="603504" cy="603504"/>
          </a:xfrm>
          <a:prstGeom prst="ellipse">
            <a:avLst/>
          </a:prstGeom>
          <a:solidFill>
            <a:schemeClr val="accent1"/>
          </a:solidFill>
          <a:ln w="31750">
            <a:solidFill>
              <a:schemeClr val="tx1"/>
            </a:solidFill>
            <a:prstDash val="solid"/>
          </a:ln>
        </p:spPr>
      </p:sp>
      <p:pic>
        <p:nvPicPr>
          <p:cNvPr id="14" name="Step icon 3" descr="API route handlers"/>
          <p:cNvPicPr>
            <a:picLocks noChangeAspect="1"/>
          </p:cNvPicPr>
          <p:nvPr/>
        </p:nvPicPr>
        <p:blipFill>
          <a:blip r:embed="rId4"/>
          <a:stretch>
            <a:fillRect/>
          </a:stretch>
        </p:blipFill>
        <p:spPr>
          <a:xfrm>
            <a:off x="987552" y="3300984"/>
            <a:ext cx="310896" cy="310896"/>
          </a:xfrm>
          <a:prstGeom prst="rect">
            <a:avLst/>
          </a:prstGeom>
        </p:spPr>
      </p:pic>
      <p:sp>
        <p:nvSpPr>
          <p:cNvPr id="15" name="Step title 3"/>
          <p:cNvSpPr txBox="1"/>
          <p:nvPr/>
        </p:nvSpPr>
        <p:spPr>
          <a:xfrm>
            <a:off x="1828800" y="313639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API route handlers</a:t>
            </a:r>
          </a:p>
        </p:txBody>
      </p:sp>
      <p:sp>
        <p:nvSpPr>
          <p:cNvPr id="16" name="Step text 3"/>
          <p:cNvSpPr txBox="1"/>
          <p:nvPr/>
        </p:nvSpPr>
        <p:spPr>
          <a:xfrm>
            <a:off x="1828800" y="346557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Every route re-checks the caller with getRoleAndActor and validates input with Zod</a:t>
            </a:r>
          </a:p>
        </p:txBody>
      </p:sp>
      <p:sp>
        <p:nvSpPr>
          <p:cNvPr id="17" name="Step 4"/>
          <p:cNvSpPr/>
          <p:nvPr/>
        </p:nvSpPr>
        <p:spPr>
          <a:xfrm>
            <a:off x="841248" y="4160520"/>
            <a:ext cx="603504" cy="603504"/>
          </a:xfrm>
          <a:prstGeom prst="ellipse">
            <a:avLst/>
          </a:prstGeom>
          <a:solidFill>
            <a:schemeClr val="accent1"/>
          </a:solidFill>
          <a:ln w="31750">
            <a:solidFill>
              <a:schemeClr val="tx1"/>
            </a:solidFill>
            <a:prstDash val="solid"/>
          </a:ln>
        </p:spPr>
      </p:sp>
      <p:pic>
        <p:nvPicPr>
          <p:cNvPr id="18" name="Step icon 4" descr="Prisma and PostgreSQL"/>
          <p:cNvPicPr>
            <a:picLocks noChangeAspect="1"/>
          </p:cNvPicPr>
          <p:nvPr/>
        </p:nvPicPr>
        <p:blipFill>
          <a:blip r:embed="rId5"/>
          <a:stretch>
            <a:fillRect/>
          </a:stretch>
        </p:blipFill>
        <p:spPr>
          <a:xfrm>
            <a:off x="987552" y="4306824"/>
            <a:ext cx="310896" cy="310896"/>
          </a:xfrm>
          <a:prstGeom prst="rect">
            <a:avLst/>
          </a:prstGeom>
        </p:spPr>
      </p:pic>
      <p:sp>
        <p:nvSpPr>
          <p:cNvPr id="19" name="Step title 4"/>
          <p:cNvSpPr txBox="1"/>
          <p:nvPr/>
        </p:nvSpPr>
        <p:spPr>
          <a:xfrm>
            <a:off x="1828800" y="414223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Prisma and PostgreSQL</a:t>
            </a:r>
          </a:p>
        </p:txBody>
      </p:sp>
      <p:sp>
        <p:nvSpPr>
          <p:cNvPr id="20" name="Step text 4"/>
          <p:cNvSpPr txBox="1"/>
          <p:nvPr/>
        </p:nvSpPr>
        <p:spPr>
          <a:xfrm>
            <a:off x="1828800" y="447141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Parameterised queries, with transactions for dispensing and appointments</a:t>
            </a:r>
          </a:p>
        </p:txBody>
      </p:sp>
      <p:sp>
        <p:nvSpPr>
          <p:cNvPr id="21" name="Step 5"/>
          <p:cNvSpPr/>
          <p:nvPr/>
        </p:nvSpPr>
        <p:spPr>
          <a:xfrm>
            <a:off x="841248" y="5166360"/>
            <a:ext cx="603504" cy="603504"/>
          </a:xfrm>
          <a:prstGeom prst="ellipse">
            <a:avLst/>
          </a:prstGeom>
          <a:solidFill>
            <a:schemeClr val="accent1"/>
          </a:solidFill>
          <a:ln w="31750">
            <a:solidFill>
              <a:schemeClr val="tx1"/>
            </a:solidFill>
            <a:prstDash val="solid"/>
          </a:ln>
        </p:spPr>
      </p:sp>
      <p:pic>
        <p:nvPicPr>
          <p:cNvPr id="22" name="Step icon 5" descr="Audit and notifications"/>
          <p:cNvPicPr>
            <a:picLocks noChangeAspect="1"/>
          </p:cNvPicPr>
          <p:nvPr/>
        </p:nvPicPr>
        <p:blipFill>
          <a:blip r:embed="rId6"/>
          <a:stretch>
            <a:fillRect/>
          </a:stretch>
        </p:blipFill>
        <p:spPr>
          <a:xfrm>
            <a:off x="987552" y="5312664"/>
            <a:ext cx="310896" cy="310896"/>
          </a:xfrm>
          <a:prstGeom prst="rect">
            <a:avLst/>
          </a:prstGeom>
        </p:spPr>
      </p:pic>
      <p:sp>
        <p:nvSpPr>
          <p:cNvPr id="23" name="Step title 5"/>
          <p:cNvSpPr txBox="1"/>
          <p:nvPr/>
        </p:nvSpPr>
        <p:spPr>
          <a:xfrm>
            <a:off x="1828800" y="514807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Audit and notifications</a:t>
            </a:r>
          </a:p>
        </p:txBody>
      </p:sp>
      <p:sp>
        <p:nvSpPr>
          <p:cNvPr id="24" name="Step text 5"/>
          <p:cNvSpPr txBox="1"/>
          <p:nvPr/>
        </p:nvSpPr>
        <p:spPr>
          <a:xfrm>
            <a:off x="1828800" y="547725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Each patient-data access is logged; the bell alerts the right role</a:t>
            </a:r>
          </a:p>
        </p:txBody>
      </p:sp>
      <p:pic>
        <p:nvPicPr>
          <p:cNvPr id="25" name="Decoration" descr="Decorative medical illustration"/>
          <p:cNvPicPr>
            <a:picLocks noChangeAspect="1"/>
          </p:cNvPicPr>
          <p:nvPr/>
        </p:nvPicPr>
        <p:blipFill>
          <a:blip r:embed="rId7"/>
          <a:stretch>
            <a:fillRect/>
          </a:stretch>
        </p:blipFill>
        <p:spPr>
          <a:xfrm>
            <a:off x="10058400" y="2011680"/>
            <a:ext cx="2200000" cy="2200000"/>
          </a:xfrm>
          <a:prstGeom prst="rect">
            <a:avLst/>
          </a:prstGeom>
        </p:spPr>
      </p:pic>
      <p:sp>
        <p:nvSpPr>
          <p:cNvPr id="26" name="Slide Number Placeholder"/>
          <p:cNvSpPr>
            <a:spLocks noGrp="1"/>
          </p:cNvSpPr>
          <p:nvPr>
            <p:ph type="sldNum" sz="quarter" idx="4294967295"/>
          </p:nvPr>
        </p:nvSpPr>
        <p:spPr>
          <a:xfrm>
            <a:off x="11338560" y="6473952"/>
            <a:ext cx="457200" cy="228600"/>
          </a:xfrm>
          <a:prstGeom prst="rect">
            <a:avLst/>
          </a:prstGeom>
        </p:spPr>
        <p:txBody>
          <a:bodyPr/>
          <a:lstStyle>
            <a:lvl1pPr>
              <a:defRPr sz="1000">
                <a:solidFill>
                  <a:srgbClr val="3F457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flow">
    <p:spTree>
      <p:nvGrpSpPr>
        <p:cNvPr id="1" name=""/>
        <p:cNvGrpSpPr/>
        <p:nvPr/>
      </p:nvGrpSpPr>
      <p:grpSpPr>
        <a:xfrm>
          <a:off x="0" y="0"/>
          <a:ext cx="0" cy="0"/>
          <a:chOff x="0" y="0"/>
          <a:chExt cx="0" cy="0"/>
        </a:xfrm>
      </p:grpSpPr>
      <p:pic>
        <p:nvPicPr>
          <p:cNvPr id="2" name="Label System Analysis and Design · Request flow" descr=""/>
          <p:cNvPicPr>
            <a:picLocks noChangeAspect="1"/>
          </p:cNvPicPr>
          <p:nvPr/>
        </p:nvPicPr>
        <p:blipFill>
          <a:blip r:embed="rId1"/>
          <a:stretch>
            <a:fillRect/>
          </a:stretch>
        </p:blipFill>
        <p:spPr>
          <a:xfrm>
            <a:off x="640080" y="274320"/>
            <a:ext cx="5292000" cy="457200"/>
          </a:xfrm>
          <a:prstGeom prst="rect">
            <a:avLst/>
          </a:prstGeom>
        </p:spPr>
      </p:pic>
      <p:sp>
        <p:nvSpPr>
          <p:cNvPr id="3" name="Title"/>
          <p:cNvSpPr txBox="1"/>
          <p:nvPr/>
        </p:nvSpPr>
        <p:spPr>
          <a:xfrm>
            <a:off x="640080" y="274320"/>
            <a:ext cx="5292000" cy="457200"/>
          </a:xfrm>
          <a:prstGeom prst="rect">
            <a:avLst/>
          </a:prstGeom>
          <a:noFill/>
          <a:ln/>
        </p:spPr>
        <p:txBody>
          <a:bodyPr wrap="square" lIns="0" tIns="0" rIns="0" bIns="0" rtlCol="0" anchor="ctr"/>
          <a:lstStyle/>
          <a:p>
            <a:pPr algn="ctr" indent="0" marL="0">
              <a:buNone/>
            </a:pPr>
            <a:r>
              <a:rPr lang="en-US" sz="1600" b="1" dirty="0">
                <a:solidFill>
                  <a:schemeClr val="tx1"/>
                </a:solidFill>
              </a:rPr>
              <a:t>System Analysis and Design · Request flow</a:t>
            </a:r>
          </a:p>
        </p:txBody>
      </p:sp>
      <p:sp>
        <p:nvSpPr>
          <p:cNvPr id="4" name="Card 1. Browser"/>
          <p:cNvSpPr/>
          <p:nvPr/>
        </p:nvSpPr>
        <p:spPr>
          <a:xfrm>
            <a:off x="731520" y="1143000"/>
            <a:ext cx="3383280" cy="2438400"/>
          </a:xfrm>
          <a:prstGeom prst="roundRect">
            <a:avLst>
              <a:gd name="adj" fmla="val 6122"/>
            </a:avLst>
          </a:prstGeom>
          <a:solidFill>
            <a:schemeClr val="bg1"/>
          </a:solidFill>
          <a:ln w="31750">
            <a:solidFill>
              <a:schemeClr val="tx1"/>
            </a:solidFill>
            <a:prstDash val="solid"/>
          </a:ln>
        </p:spPr>
      </p:sp>
      <p:sp>
        <p:nvSpPr>
          <p:cNvPr id="5" name="Badge 1"/>
          <p:cNvSpPr/>
          <p:nvPr/>
        </p:nvSpPr>
        <p:spPr>
          <a:xfrm>
            <a:off x="960120" y="1371600"/>
            <a:ext cx="594360" cy="594360"/>
          </a:xfrm>
          <a:prstGeom prst="ellipse">
            <a:avLst/>
          </a:prstGeom>
          <a:solidFill>
            <a:schemeClr val="accent1"/>
          </a:solidFill>
          <a:ln w="25400">
            <a:solidFill>
              <a:schemeClr val="tx1"/>
            </a:solidFill>
            <a:prstDash val="solid"/>
          </a:ln>
        </p:spPr>
      </p:sp>
      <p:pic>
        <p:nvPicPr>
          <p:cNvPr id="6" name="Card icon 1" descr="1. Browser"/>
          <p:cNvPicPr>
            <a:picLocks noChangeAspect="1"/>
          </p:cNvPicPr>
          <p:nvPr/>
        </p:nvPicPr>
        <p:blipFill>
          <a:blip r:embed="rId2"/>
          <a:stretch>
            <a:fillRect/>
          </a:stretch>
        </p:blipFill>
        <p:spPr>
          <a:xfrm>
            <a:off x="1101852" y="1513332"/>
            <a:ext cx="310896" cy="310896"/>
          </a:xfrm>
          <a:prstGeom prst="rect">
            <a:avLst/>
          </a:prstGeom>
        </p:spPr>
      </p:pic>
      <p:sp>
        <p:nvSpPr>
          <p:cNvPr id="7" name="Card title 1"/>
          <p:cNvSpPr txBox="1"/>
          <p:nvPr/>
        </p:nvSpPr>
        <p:spPr>
          <a:xfrm>
            <a:off x="1737360" y="1371600"/>
            <a:ext cx="2148840" cy="594360"/>
          </a:xfrm>
          <a:prstGeom prst="rect">
            <a:avLst/>
          </a:prstGeom>
          <a:noFill/>
          <a:ln/>
        </p:spPr>
        <p:txBody>
          <a:bodyPr wrap="square" lIns="0" tIns="0" rIns="0" bIns="0" rtlCol="0" anchor="ctr"/>
          <a:lstStyle/>
          <a:p>
            <a:pPr algn="l" indent="0" marL="0">
              <a:buNone/>
            </a:pPr>
            <a:r>
              <a:rPr lang="en-US" sz="1700" dirty="0">
                <a:solidFill>
                  <a:schemeClr val="tx1"/>
                </a:solidFill>
                <a:latin typeface="+mj-lt" pitchFamily="34" charset="0"/>
                <a:ea typeface="+mj-lt" pitchFamily="34" charset="-122"/>
                <a:cs typeface="+mj-lt" pitchFamily="34" charset="-120"/>
              </a:rPr>
              <a:t>1. Browser</a:t>
            </a:r>
          </a:p>
        </p:txBody>
      </p:sp>
      <p:sp>
        <p:nvSpPr>
          <p:cNvPr id="8" name="Card text 1"/>
          <p:cNvSpPr txBox="1"/>
          <p:nvPr/>
        </p:nvSpPr>
        <p:spPr>
          <a:xfrm>
            <a:off x="960120" y="2148840"/>
            <a:ext cx="2926080" cy="129540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Role dashboards send the request with the JWT cookie.</a:t>
            </a:r>
          </a:p>
        </p:txBody>
      </p:sp>
      <p:sp>
        <p:nvSpPr>
          <p:cNvPr id="9" name="Card 2. Middleware"/>
          <p:cNvSpPr/>
          <p:nvPr/>
        </p:nvSpPr>
        <p:spPr>
          <a:xfrm>
            <a:off x="4389120" y="1143000"/>
            <a:ext cx="3383280" cy="2438400"/>
          </a:xfrm>
          <a:prstGeom prst="roundRect">
            <a:avLst>
              <a:gd name="adj" fmla="val 6122"/>
            </a:avLst>
          </a:prstGeom>
          <a:solidFill>
            <a:schemeClr val="bg1"/>
          </a:solidFill>
          <a:ln w="31750">
            <a:solidFill>
              <a:schemeClr val="tx1"/>
            </a:solidFill>
            <a:prstDash val="solid"/>
          </a:ln>
        </p:spPr>
      </p:sp>
      <p:sp>
        <p:nvSpPr>
          <p:cNvPr id="10" name="Badge 2"/>
          <p:cNvSpPr/>
          <p:nvPr/>
        </p:nvSpPr>
        <p:spPr>
          <a:xfrm>
            <a:off x="4617720" y="1371600"/>
            <a:ext cx="594360" cy="594360"/>
          </a:xfrm>
          <a:prstGeom prst="ellipse">
            <a:avLst/>
          </a:prstGeom>
          <a:solidFill>
            <a:schemeClr val="accent1"/>
          </a:solidFill>
          <a:ln w="25400">
            <a:solidFill>
              <a:schemeClr val="tx1"/>
            </a:solidFill>
            <a:prstDash val="solid"/>
          </a:ln>
        </p:spPr>
      </p:sp>
      <p:pic>
        <p:nvPicPr>
          <p:cNvPr id="11" name="Card icon 2" descr="2. Middleware"/>
          <p:cNvPicPr>
            <a:picLocks noChangeAspect="1"/>
          </p:cNvPicPr>
          <p:nvPr/>
        </p:nvPicPr>
        <p:blipFill>
          <a:blip r:embed="rId3"/>
          <a:stretch>
            <a:fillRect/>
          </a:stretch>
        </p:blipFill>
        <p:spPr>
          <a:xfrm>
            <a:off x="4759452" y="1513332"/>
            <a:ext cx="310896" cy="310896"/>
          </a:xfrm>
          <a:prstGeom prst="rect">
            <a:avLst/>
          </a:prstGeom>
        </p:spPr>
      </p:pic>
      <p:sp>
        <p:nvSpPr>
          <p:cNvPr id="12" name="Card title 2"/>
          <p:cNvSpPr txBox="1"/>
          <p:nvPr/>
        </p:nvSpPr>
        <p:spPr>
          <a:xfrm>
            <a:off x="5394960" y="1371600"/>
            <a:ext cx="2148840" cy="594360"/>
          </a:xfrm>
          <a:prstGeom prst="rect">
            <a:avLst/>
          </a:prstGeom>
          <a:noFill/>
          <a:ln/>
        </p:spPr>
        <p:txBody>
          <a:bodyPr wrap="square" lIns="0" tIns="0" rIns="0" bIns="0" rtlCol="0" anchor="ctr"/>
          <a:lstStyle/>
          <a:p>
            <a:pPr algn="l" indent="0" marL="0">
              <a:buNone/>
            </a:pPr>
            <a:r>
              <a:rPr lang="en-US" sz="1700" dirty="0">
                <a:solidFill>
                  <a:schemeClr val="tx1"/>
                </a:solidFill>
                <a:latin typeface="+mj-lt" pitchFamily="34" charset="0"/>
                <a:ea typeface="+mj-lt" pitchFamily="34" charset="-122"/>
                <a:cs typeface="+mj-lt" pitchFamily="34" charset="-120"/>
              </a:rPr>
              <a:t>2. Middleware</a:t>
            </a:r>
          </a:p>
        </p:txBody>
      </p:sp>
      <p:sp>
        <p:nvSpPr>
          <p:cNvPr id="13" name="Card text 2"/>
          <p:cNvSpPr txBox="1"/>
          <p:nvPr/>
        </p:nvSpPr>
        <p:spPr>
          <a:xfrm>
            <a:off x="4617720" y="2148840"/>
            <a:ext cx="2926080" cy="129540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Verifies the JWT and checks the role against the route.</a:t>
            </a:r>
          </a:p>
        </p:txBody>
      </p:sp>
      <p:sp>
        <p:nvSpPr>
          <p:cNvPr id="14" name="Card 3. API route"/>
          <p:cNvSpPr/>
          <p:nvPr/>
        </p:nvSpPr>
        <p:spPr>
          <a:xfrm>
            <a:off x="8046720" y="1143000"/>
            <a:ext cx="3383280" cy="2438400"/>
          </a:xfrm>
          <a:prstGeom prst="roundRect">
            <a:avLst>
              <a:gd name="adj" fmla="val 6122"/>
            </a:avLst>
          </a:prstGeom>
          <a:solidFill>
            <a:schemeClr val="bg1"/>
          </a:solidFill>
          <a:ln w="31750">
            <a:solidFill>
              <a:schemeClr val="tx1"/>
            </a:solidFill>
            <a:prstDash val="solid"/>
          </a:ln>
        </p:spPr>
      </p:sp>
      <p:sp>
        <p:nvSpPr>
          <p:cNvPr id="15" name="Badge 3"/>
          <p:cNvSpPr/>
          <p:nvPr/>
        </p:nvSpPr>
        <p:spPr>
          <a:xfrm>
            <a:off x="8275320" y="1371600"/>
            <a:ext cx="594360" cy="594360"/>
          </a:xfrm>
          <a:prstGeom prst="ellipse">
            <a:avLst/>
          </a:prstGeom>
          <a:solidFill>
            <a:schemeClr val="accent1"/>
          </a:solidFill>
          <a:ln w="25400">
            <a:solidFill>
              <a:schemeClr val="tx1"/>
            </a:solidFill>
            <a:prstDash val="solid"/>
          </a:ln>
        </p:spPr>
      </p:sp>
      <p:pic>
        <p:nvPicPr>
          <p:cNvPr id="16" name="Card icon 3" descr="3. API route"/>
          <p:cNvPicPr>
            <a:picLocks noChangeAspect="1"/>
          </p:cNvPicPr>
          <p:nvPr/>
        </p:nvPicPr>
        <p:blipFill>
          <a:blip r:embed="rId4"/>
          <a:stretch>
            <a:fillRect/>
          </a:stretch>
        </p:blipFill>
        <p:spPr>
          <a:xfrm>
            <a:off x="8417052" y="1513332"/>
            <a:ext cx="310896" cy="310896"/>
          </a:xfrm>
          <a:prstGeom prst="rect">
            <a:avLst/>
          </a:prstGeom>
        </p:spPr>
      </p:pic>
      <p:sp>
        <p:nvSpPr>
          <p:cNvPr id="17" name="Card title 3"/>
          <p:cNvSpPr txBox="1"/>
          <p:nvPr/>
        </p:nvSpPr>
        <p:spPr>
          <a:xfrm>
            <a:off x="9052560" y="1371600"/>
            <a:ext cx="2148840" cy="594360"/>
          </a:xfrm>
          <a:prstGeom prst="rect">
            <a:avLst/>
          </a:prstGeom>
          <a:noFill/>
          <a:ln/>
        </p:spPr>
        <p:txBody>
          <a:bodyPr wrap="square" lIns="0" tIns="0" rIns="0" bIns="0" rtlCol="0" anchor="ctr"/>
          <a:lstStyle/>
          <a:p>
            <a:pPr algn="l" indent="0" marL="0">
              <a:buNone/>
            </a:pPr>
            <a:r>
              <a:rPr lang="en-US" sz="1700" dirty="0">
                <a:solidFill>
                  <a:schemeClr val="tx1"/>
                </a:solidFill>
                <a:latin typeface="+mj-lt" pitchFamily="34" charset="0"/>
                <a:ea typeface="+mj-lt" pitchFamily="34" charset="-122"/>
                <a:cs typeface="+mj-lt" pitchFamily="34" charset="-120"/>
              </a:rPr>
              <a:t>3. API route</a:t>
            </a:r>
          </a:p>
        </p:txBody>
      </p:sp>
      <p:sp>
        <p:nvSpPr>
          <p:cNvPr id="18" name="Card text 3"/>
          <p:cNvSpPr txBox="1"/>
          <p:nvPr/>
        </p:nvSpPr>
        <p:spPr>
          <a:xfrm>
            <a:off x="8275320" y="2148840"/>
            <a:ext cx="2926080" cy="129540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Verifies again, then validates the input with Zod.</a:t>
            </a:r>
          </a:p>
        </p:txBody>
      </p:sp>
      <p:sp>
        <p:nvSpPr>
          <p:cNvPr id="19" name="Card 4. Business logic"/>
          <p:cNvSpPr/>
          <p:nvPr/>
        </p:nvSpPr>
        <p:spPr>
          <a:xfrm>
            <a:off x="731520" y="3810000"/>
            <a:ext cx="3383280" cy="2438400"/>
          </a:xfrm>
          <a:prstGeom prst="roundRect">
            <a:avLst>
              <a:gd name="adj" fmla="val 6122"/>
            </a:avLst>
          </a:prstGeom>
          <a:solidFill>
            <a:schemeClr val="bg1"/>
          </a:solidFill>
          <a:ln w="31750">
            <a:solidFill>
              <a:schemeClr val="tx1"/>
            </a:solidFill>
            <a:prstDash val="solid"/>
          </a:ln>
        </p:spPr>
      </p:sp>
      <p:sp>
        <p:nvSpPr>
          <p:cNvPr id="20" name="Badge 4"/>
          <p:cNvSpPr/>
          <p:nvPr/>
        </p:nvSpPr>
        <p:spPr>
          <a:xfrm>
            <a:off x="960120" y="4038600"/>
            <a:ext cx="594360" cy="594360"/>
          </a:xfrm>
          <a:prstGeom prst="ellipse">
            <a:avLst/>
          </a:prstGeom>
          <a:solidFill>
            <a:schemeClr val="accent1"/>
          </a:solidFill>
          <a:ln w="25400">
            <a:solidFill>
              <a:schemeClr val="tx1"/>
            </a:solidFill>
            <a:prstDash val="solid"/>
          </a:ln>
        </p:spPr>
      </p:sp>
      <p:pic>
        <p:nvPicPr>
          <p:cNvPr id="21" name="Card icon 4" descr="4. Business logic"/>
          <p:cNvPicPr>
            <a:picLocks noChangeAspect="1"/>
          </p:cNvPicPr>
          <p:nvPr/>
        </p:nvPicPr>
        <p:blipFill>
          <a:blip r:embed="rId5"/>
          <a:stretch>
            <a:fillRect/>
          </a:stretch>
        </p:blipFill>
        <p:spPr>
          <a:xfrm>
            <a:off x="1101852" y="4180332"/>
            <a:ext cx="310896" cy="310896"/>
          </a:xfrm>
          <a:prstGeom prst="rect">
            <a:avLst/>
          </a:prstGeom>
        </p:spPr>
      </p:pic>
      <p:sp>
        <p:nvSpPr>
          <p:cNvPr id="22" name="Card title 4"/>
          <p:cNvSpPr txBox="1"/>
          <p:nvPr/>
        </p:nvSpPr>
        <p:spPr>
          <a:xfrm>
            <a:off x="1737360" y="4038600"/>
            <a:ext cx="2148840" cy="594360"/>
          </a:xfrm>
          <a:prstGeom prst="rect">
            <a:avLst/>
          </a:prstGeom>
          <a:noFill/>
          <a:ln/>
        </p:spPr>
        <p:txBody>
          <a:bodyPr wrap="square" lIns="0" tIns="0" rIns="0" bIns="0" rtlCol="0" anchor="ctr"/>
          <a:lstStyle/>
          <a:p>
            <a:pPr algn="l" indent="0" marL="0">
              <a:buNone/>
            </a:pPr>
            <a:r>
              <a:rPr lang="en-US" sz="1700" dirty="0">
                <a:solidFill>
                  <a:schemeClr val="tx1"/>
                </a:solidFill>
                <a:latin typeface="+mj-lt" pitchFamily="34" charset="0"/>
                <a:ea typeface="+mj-lt" pitchFamily="34" charset="-122"/>
                <a:cs typeface="+mj-lt" pitchFamily="34" charset="-120"/>
              </a:rPr>
              <a:t>4. Business logic</a:t>
            </a:r>
          </a:p>
        </p:txBody>
      </p:sp>
      <p:sp>
        <p:nvSpPr>
          <p:cNvPr id="23" name="Card text 4"/>
          <p:cNvSpPr txBox="1"/>
          <p:nvPr/>
        </p:nvSpPr>
        <p:spPr>
          <a:xfrm>
            <a:off x="960120" y="4815840"/>
            <a:ext cx="2926080" cy="129540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Rules in src/lib, such as dispensing and lab flagging.</a:t>
            </a:r>
          </a:p>
        </p:txBody>
      </p:sp>
      <p:sp>
        <p:nvSpPr>
          <p:cNvPr id="24" name="Card 5. Prisma + PostgreSQL"/>
          <p:cNvSpPr/>
          <p:nvPr/>
        </p:nvSpPr>
        <p:spPr>
          <a:xfrm>
            <a:off x="4389120" y="3810000"/>
            <a:ext cx="3383280" cy="2438400"/>
          </a:xfrm>
          <a:prstGeom prst="roundRect">
            <a:avLst>
              <a:gd name="adj" fmla="val 6122"/>
            </a:avLst>
          </a:prstGeom>
          <a:solidFill>
            <a:schemeClr val="bg1"/>
          </a:solidFill>
          <a:ln w="31750">
            <a:solidFill>
              <a:schemeClr val="tx1"/>
            </a:solidFill>
            <a:prstDash val="solid"/>
          </a:ln>
        </p:spPr>
      </p:sp>
      <p:sp>
        <p:nvSpPr>
          <p:cNvPr id="25" name="Badge 5"/>
          <p:cNvSpPr/>
          <p:nvPr/>
        </p:nvSpPr>
        <p:spPr>
          <a:xfrm>
            <a:off x="4617720" y="4038600"/>
            <a:ext cx="594360" cy="594360"/>
          </a:xfrm>
          <a:prstGeom prst="ellipse">
            <a:avLst/>
          </a:prstGeom>
          <a:solidFill>
            <a:schemeClr val="accent1"/>
          </a:solidFill>
          <a:ln w="25400">
            <a:solidFill>
              <a:schemeClr val="tx1"/>
            </a:solidFill>
            <a:prstDash val="solid"/>
          </a:ln>
        </p:spPr>
      </p:sp>
      <p:pic>
        <p:nvPicPr>
          <p:cNvPr id="26" name="Card icon 5" descr="5. Prisma + PostgreSQL"/>
          <p:cNvPicPr>
            <a:picLocks noChangeAspect="1"/>
          </p:cNvPicPr>
          <p:nvPr/>
        </p:nvPicPr>
        <p:blipFill>
          <a:blip r:embed="rId6"/>
          <a:stretch>
            <a:fillRect/>
          </a:stretch>
        </p:blipFill>
        <p:spPr>
          <a:xfrm>
            <a:off x="4759452" y="4180332"/>
            <a:ext cx="310896" cy="310896"/>
          </a:xfrm>
          <a:prstGeom prst="rect">
            <a:avLst/>
          </a:prstGeom>
        </p:spPr>
      </p:pic>
      <p:sp>
        <p:nvSpPr>
          <p:cNvPr id="27" name="Card title 5"/>
          <p:cNvSpPr txBox="1"/>
          <p:nvPr/>
        </p:nvSpPr>
        <p:spPr>
          <a:xfrm>
            <a:off x="5394960" y="4038600"/>
            <a:ext cx="2148840" cy="594360"/>
          </a:xfrm>
          <a:prstGeom prst="rect">
            <a:avLst/>
          </a:prstGeom>
          <a:noFill/>
          <a:ln/>
        </p:spPr>
        <p:txBody>
          <a:bodyPr wrap="square" lIns="0" tIns="0" rIns="0" bIns="0" rtlCol="0" anchor="ctr"/>
          <a:lstStyle/>
          <a:p>
            <a:pPr algn="l" indent="0" marL="0">
              <a:buNone/>
            </a:pPr>
            <a:r>
              <a:rPr lang="en-US" sz="1700" dirty="0">
                <a:solidFill>
                  <a:schemeClr val="tx1"/>
                </a:solidFill>
                <a:latin typeface="+mj-lt" pitchFamily="34" charset="0"/>
                <a:ea typeface="+mj-lt" pitchFamily="34" charset="-122"/>
                <a:cs typeface="+mj-lt" pitchFamily="34" charset="-120"/>
              </a:rPr>
              <a:t>5. Prisma + PostgreSQL</a:t>
            </a:r>
          </a:p>
        </p:txBody>
      </p:sp>
      <p:sp>
        <p:nvSpPr>
          <p:cNvPr id="28" name="Card text 5"/>
          <p:cNvSpPr txBox="1"/>
          <p:nvPr/>
        </p:nvSpPr>
        <p:spPr>
          <a:xfrm>
            <a:off x="4617720" y="4815840"/>
            <a:ext cx="2926080" cy="129540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Parameterised queries and transactions.</a:t>
            </a:r>
          </a:p>
        </p:txBody>
      </p:sp>
      <p:sp>
        <p:nvSpPr>
          <p:cNvPr id="29" name="Card 6. Access log"/>
          <p:cNvSpPr/>
          <p:nvPr/>
        </p:nvSpPr>
        <p:spPr>
          <a:xfrm>
            <a:off x="8046720" y="3810000"/>
            <a:ext cx="3383280" cy="2438400"/>
          </a:xfrm>
          <a:prstGeom prst="roundRect">
            <a:avLst>
              <a:gd name="adj" fmla="val 6122"/>
            </a:avLst>
          </a:prstGeom>
          <a:solidFill>
            <a:schemeClr val="bg1"/>
          </a:solidFill>
          <a:ln w="31750">
            <a:solidFill>
              <a:schemeClr val="tx1"/>
            </a:solidFill>
            <a:prstDash val="solid"/>
          </a:ln>
        </p:spPr>
      </p:sp>
      <p:sp>
        <p:nvSpPr>
          <p:cNvPr id="30" name="Badge 6"/>
          <p:cNvSpPr/>
          <p:nvPr/>
        </p:nvSpPr>
        <p:spPr>
          <a:xfrm>
            <a:off x="8275320" y="4038600"/>
            <a:ext cx="594360" cy="594360"/>
          </a:xfrm>
          <a:prstGeom prst="ellipse">
            <a:avLst/>
          </a:prstGeom>
          <a:solidFill>
            <a:schemeClr val="accent1"/>
          </a:solidFill>
          <a:ln w="25400">
            <a:solidFill>
              <a:schemeClr val="tx1"/>
            </a:solidFill>
            <a:prstDash val="solid"/>
          </a:ln>
        </p:spPr>
      </p:sp>
      <p:pic>
        <p:nvPicPr>
          <p:cNvPr id="31" name="Card icon 6" descr="6. Access log"/>
          <p:cNvPicPr>
            <a:picLocks noChangeAspect="1"/>
          </p:cNvPicPr>
          <p:nvPr/>
        </p:nvPicPr>
        <p:blipFill>
          <a:blip r:embed="rId7"/>
          <a:stretch>
            <a:fillRect/>
          </a:stretch>
        </p:blipFill>
        <p:spPr>
          <a:xfrm>
            <a:off x="8417052" y="4180332"/>
            <a:ext cx="310896" cy="310896"/>
          </a:xfrm>
          <a:prstGeom prst="rect">
            <a:avLst/>
          </a:prstGeom>
        </p:spPr>
      </p:pic>
      <p:sp>
        <p:nvSpPr>
          <p:cNvPr id="32" name="Card title 6"/>
          <p:cNvSpPr txBox="1"/>
          <p:nvPr/>
        </p:nvSpPr>
        <p:spPr>
          <a:xfrm>
            <a:off x="9052560" y="4038600"/>
            <a:ext cx="2148840" cy="594360"/>
          </a:xfrm>
          <a:prstGeom prst="rect">
            <a:avLst/>
          </a:prstGeom>
          <a:noFill/>
          <a:ln/>
        </p:spPr>
        <p:txBody>
          <a:bodyPr wrap="square" lIns="0" tIns="0" rIns="0" bIns="0" rtlCol="0" anchor="ctr"/>
          <a:lstStyle/>
          <a:p>
            <a:pPr algn="l" indent="0" marL="0">
              <a:buNone/>
            </a:pPr>
            <a:r>
              <a:rPr lang="en-US" sz="1700" dirty="0">
                <a:solidFill>
                  <a:schemeClr val="tx1"/>
                </a:solidFill>
                <a:latin typeface="+mj-lt" pitchFamily="34" charset="0"/>
                <a:ea typeface="+mj-lt" pitchFamily="34" charset="-122"/>
                <a:cs typeface="+mj-lt" pitchFamily="34" charset="-120"/>
              </a:rPr>
              <a:t>6. Access log</a:t>
            </a:r>
          </a:p>
        </p:txBody>
      </p:sp>
      <p:sp>
        <p:nvSpPr>
          <p:cNvPr id="33" name="Card text 6"/>
          <p:cNvSpPr txBox="1"/>
          <p:nvPr/>
        </p:nvSpPr>
        <p:spPr>
          <a:xfrm>
            <a:off x="8275320" y="4815840"/>
            <a:ext cx="2926080" cy="129540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Patient-data access is recorded, then the response returns.</a:t>
            </a:r>
          </a:p>
        </p:txBody>
      </p:sp>
      <p:sp>
        <p:nvSpPr>
          <p:cNvPr id="34" name="Arrow 1"/>
          <p:cNvSpPr/>
          <p:nvPr/>
        </p:nvSpPr>
        <p:spPr>
          <a:xfrm>
            <a:off x="4138800" y="1521600"/>
            <a:ext cx="226320" cy="300000"/>
          </a:xfrm>
          <a:prstGeom prst="rightArrow">
            <a:avLst/>
          </a:prstGeom>
          <a:solidFill>
            <a:schemeClr val="accent2"/>
          </a:solidFill>
          <a:ln>
            <a:noFill/>
          </a:ln>
        </p:spPr>
      </p:sp>
      <p:sp>
        <p:nvSpPr>
          <p:cNvPr id="35" name="Arrow 2"/>
          <p:cNvSpPr/>
          <p:nvPr/>
        </p:nvSpPr>
        <p:spPr>
          <a:xfrm>
            <a:off x="7796400" y="1521600"/>
            <a:ext cx="226320" cy="300000"/>
          </a:xfrm>
          <a:prstGeom prst="rightArrow">
            <a:avLst/>
          </a:prstGeom>
          <a:solidFill>
            <a:schemeClr val="accent2"/>
          </a:solidFill>
          <a:ln>
            <a:noFill/>
          </a:ln>
        </p:spPr>
      </p:sp>
      <p:sp>
        <p:nvSpPr>
          <p:cNvPr id="36" name="Arrow 4"/>
          <p:cNvSpPr/>
          <p:nvPr/>
        </p:nvSpPr>
        <p:spPr>
          <a:xfrm>
            <a:off x="4138800" y="4188600"/>
            <a:ext cx="226320" cy="300000"/>
          </a:xfrm>
          <a:prstGeom prst="rightArrow">
            <a:avLst/>
          </a:prstGeom>
          <a:solidFill>
            <a:schemeClr val="accent2"/>
          </a:solidFill>
          <a:ln>
            <a:noFill/>
          </a:ln>
        </p:spPr>
      </p:sp>
      <p:sp>
        <p:nvSpPr>
          <p:cNvPr id="37" name="Arrow 5"/>
          <p:cNvSpPr/>
          <p:nvPr/>
        </p:nvSpPr>
        <p:spPr>
          <a:xfrm>
            <a:off x="7796400" y="4188600"/>
            <a:ext cx="226320" cy="300000"/>
          </a:xfrm>
          <a:prstGeom prst="rightArrow">
            <a:avLst/>
          </a:prstGeom>
          <a:solidFill>
            <a:schemeClr val="accent2"/>
          </a:solidFill>
          <a:ln>
            <a:noFill/>
          </a:ln>
        </p:spPr>
      </p:sp>
      <p:sp>
        <p:nvSpPr>
          <p:cNvPr id="38" name="Slide Number Placeholder"/>
          <p:cNvSpPr>
            <a:spLocks noGrp="1"/>
          </p:cNvSpPr>
          <p:nvPr>
            <p:ph type="sldNum" sz="quarter" idx="4294967295"/>
          </p:nvPr>
        </p:nvSpPr>
        <p:spPr>
          <a:xfrm>
            <a:off x="11338560" y="6473952"/>
            <a:ext cx="457200" cy="228600"/>
          </a:xfrm>
          <a:prstGeom prst="rect">
            <a:avLst/>
          </a:prstGeom>
        </p:spPr>
        <p:txBody>
          <a:bodyPr/>
          <a:lstStyle>
            <a:lvl1pPr>
              <a:defRPr sz="1000">
                <a:solidFill>
                  <a:srgbClr val="3F457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tructure">
    <p:spTree>
      <p:nvGrpSpPr>
        <p:cNvPr id="1" name=""/>
        <p:cNvGrpSpPr/>
        <p:nvPr/>
      </p:nvGrpSpPr>
      <p:grpSpPr>
        <a:xfrm>
          <a:off x="0" y="0"/>
          <a:ext cx="0" cy="0"/>
          <a:chOff x="0" y="0"/>
          <a:chExt cx="0" cy="0"/>
        </a:xfrm>
      </p:grpSpPr>
      <p:pic>
        <p:nvPicPr>
          <p:cNvPr id="2" name="Label System Analysis and Design · Project structure" descr=""/>
          <p:cNvPicPr>
            <a:picLocks noChangeAspect="1"/>
          </p:cNvPicPr>
          <p:nvPr/>
        </p:nvPicPr>
        <p:blipFill>
          <a:blip r:embed="rId1"/>
          <a:stretch>
            <a:fillRect/>
          </a:stretch>
        </p:blipFill>
        <p:spPr>
          <a:xfrm>
            <a:off x="640080" y="274320"/>
            <a:ext cx="5852000" cy="457200"/>
          </a:xfrm>
          <a:prstGeom prst="rect">
            <a:avLst/>
          </a:prstGeom>
        </p:spPr>
      </p:pic>
      <p:sp>
        <p:nvSpPr>
          <p:cNvPr id="3" name="Title"/>
          <p:cNvSpPr txBox="1"/>
          <p:nvPr/>
        </p:nvSpPr>
        <p:spPr>
          <a:xfrm>
            <a:off x="640080" y="274320"/>
            <a:ext cx="5852000" cy="457200"/>
          </a:xfrm>
          <a:prstGeom prst="rect">
            <a:avLst/>
          </a:prstGeom>
          <a:noFill/>
          <a:ln/>
        </p:spPr>
        <p:txBody>
          <a:bodyPr wrap="square" lIns="0" tIns="0" rIns="0" bIns="0" rtlCol="0" anchor="ctr"/>
          <a:lstStyle/>
          <a:p>
            <a:pPr algn="ctr" indent="0" marL="0">
              <a:buNone/>
            </a:pPr>
            <a:r>
              <a:rPr lang="en-US" sz="1600" b="1" dirty="0">
                <a:solidFill>
                  <a:schemeClr val="tx1"/>
                </a:solidFill>
              </a:rPr>
              <a:t>System Analysis and Design · Project structure</a:t>
            </a:r>
          </a:p>
        </p:txBody>
      </p:sp>
      <p:sp>
        <p:nvSpPr>
          <p:cNvPr id="4" name="Card prisma/"/>
          <p:cNvSpPr/>
          <p:nvPr/>
        </p:nvSpPr>
        <p:spPr>
          <a:xfrm>
            <a:off x="731520" y="1143000"/>
            <a:ext cx="3383280" cy="2438400"/>
          </a:xfrm>
          <a:prstGeom prst="roundRect">
            <a:avLst>
              <a:gd name="adj" fmla="val 6122"/>
            </a:avLst>
          </a:prstGeom>
          <a:solidFill>
            <a:schemeClr val="bg1"/>
          </a:solidFill>
          <a:ln w="31750">
            <a:solidFill>
              <a:schemeClr val="tx1"/>
            </a:solidFill>
            <a:prstDash val="solid"/>
          </a:ln>
        </p:spPr>
      </p:sp>
      <p:sp>
        <p:nvSpPr>
          <p:cNvPr id="5" name="Badge 1"/>
          <p:cNvSpPr/>
          <p:nvPr/>
        </p:nvSpPr>
        <p:spPr>
          <a:xfrm>
            <a:off x="960120" y="1371600"/>
            <a:ext cx="594360" cy="594360"/>
          </a:xfrm>
          <a:prstGeom prst="ellipse">
            <a:avLst/>
          </a:prstGeom>
          <a:solidFill>
            <a:schemeClr val="accent1"/>
          </a:solidFill>
          <a:ln w="25400">
            <a:solidFill>
              <a:schemeClr val="tx1"/>
            </a:solidFill>
            <a:prstDash val="solid"/>
          </a:ln>
        </p:spPr>
      </p:sp>
      <p:pic>
        <p:nvPicPr>
          <p:cNvPr id="6" name="Card icon 1" descr="prisma/"/>
          <p:cNvPicPr>
            <a:picLocks noChangeAspect="1"/>
          </p:cNvPicPr>
          <p:nvPr/>
        </p:nvPicPr>
        <p:blipFill>
          <a:blip r:embed="rId2"/>
          <a:stretch>
            <a:fillRect/>
          </a:stretch>
        </p:blipFill>
        <p:spPr>
          <a:xfrm>
            <a:off x="1101852" y="1513332"/>
            <a:ext cx="310896" cy="310896"/>
          </a:xfrm>
          <a:prstGeom prst="rect">
            <a:avLst/>
          </a:prstGeom>
        </p:spPr>
      </p:pic>
      <p:sp>
        <p:nvSpPr>
          <p:cNvPr id="7" name="Card title 1"/>
          <p:cNvSpPr txBox="1"/>
          <p:nvPr/>
        </p:nvSpPr>
        <p:spPr>
          <a:xfrm>
            <a:off x="1737360" y="1371600"/>
            <a:ext cx="2148840" cy="594360"/>
          </a:xfrm>
          <a:prstGeom prst="rect">
            <a:avLst/>
          </a:prstGeom>
          <a:noFill/>
          <a:ln/>
        </p:spPr>
        <p:txBody>
          <a:bodyPr wrap="square" lIns="0" tIns="0" rIns="0" bIns="0" rtlCol="0" anchor="ctr"/>
          <a:lstStyle/>
          <a:p>
            <a:pPr algn="l" indent="0" marL="0">
              <a:buNone/>
            </a:pPr>
            <a:r>
              <a:rPr lang="en-US" sz="1700" dirty="0">
                <a:solidFill>
                  <a:schemeClr val="tx1"/>
                </a:solidFill>
                <a:latin typeface="+mj-lt" pitchFamily="34" charset="0"/>
                <a:ea typeface="+mj-lt" pitchFamily="34" charset="-122"/>
                <a:cs typeface="+mj-lt" pitchFamily="34" charset="-120"/>
              </a:rPr>
              <a:t>prisma/</a:t>
            </a:r>
          </a:p>
        </p:txBody>
      </p:sp>
      <p:sp>
        <p:nvSpPr>
          <p:cNvPr id="8" name="Card text 1"/>
          <p:cNvSpPr txBox="1"/>
          <p:nvPr/>
        </p:nvSpPr>
        <p:spPr>
          <a:xfrm>
            <a:off x="960120" y="2148840"/>
            <a:ext cx="2926080" cy="129540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Schema, migrations and the seed script.</a:t>
            </a:r>
          </a:p>
        </p:txBody>
      </p:sp>
      <p:sp>
        <p:nvSpPr>
          <p:cNvPr id="9" name="Card src/app/api/"/>
          <p:cNvSpPr/>
          <p:nvPr/>
        </p:nvSpPr>
        <p:spPr>
          <a:xfrm>
            <a:off x="4389120" y="1143000"/>
            <a:ext cx="3383280" cy="2438400"/>
          </a:xfrm>
          <a:prstGeom prst="roundRect">
            <a:avLst>
              <a:gd name="adj" fmla="val 6122"/>
            </a:avLst>
          </a:prstGeom>
          <a:solidFill>
            <a:schemeClr val="bg1"/>
          </a:solidFill>
          <a:ln w="31750">
            <a:solidFill>
              <a:schemeClr val="tx1"/>
            </a:solidFill>
            <a:prstDash val="solid"/>
          </a:ln>
        </p:spPr>
      </p:sp>
      <p:sp>
        <p:nvSpPr>
          <p:cNvPr id="10" name="Badge 2"/>
          <p:cNvSpPr/>
          <p:nvPr/>
        </p:nvSpPr>
        <p:spPr>
          <a:xfrm>
            <a:off x="4617720" y="1371600"/>
            <a:ext cx="594360" cy="594360"/>
          </a:xfrm>
          <a:prstGeom prst="ellipse">
            <a:avLst/>
          </a:prstGeom>
          <a:solidFill>
            <a:schemeClr val="accent1"/>
          </a:solidFill>
          <a:ln w="25400">
            <a:solidFill>
              <a:schemeClr val="tx1"/>
            </a:solidFill>
            <a:prstDash val="solid"/>
          </a:ln>
        </p:spPr>
      </p:sp>
      <p:pic>
        <p:nvPicPr>
          <p:cNvPr id="11" name="Card icon 2" descr="src/app/api/"/>
          <p:cNvPicPr>
            <a:picLocks noChangeAspect="1"/>
          </p:cNvPicPr>
          <p:nvPr/>
        </p:nvPicPr>
        <p:blipFill>
          <a:blip r:embed="rId3"/>
          <a:stretch>
            <a:fillRect/>
          </a:stretch>
        </p:blipFill>
        <p:spPr>
          <a:xfrm>
            <a:off x="4759452" y="1513332"/>
            <a:ext cx="310896" cy="310896"/>
          </a:xfrm>
          <a:prstGeom prst="rect">
            <a:avLst/>
          </a:prstGeom>
        </p:spPr>
      </p:pic>
      <p:sp>
        <p:nvSpPr>
          <p:cNvPr id="12" name="Card title 2"/>
          <p:cNvSpPr txBox="1"/>
          <p:nvPr/>
        </p:nvSpPr>
        <p:spPr>
          <a:xfrm>
            <a:off x="5394960" y="1371600"/>
            <a:ext cx="2148840" cy="594360"/>
          </a:xfrm>
          <a:prstGeom prst="rect">
            <a:avLst/>
          </a:prstGeom>
          <a:noFill/>
          <a:ln/>
        </p:spPr>
        <p:txBody>
          <a:bodyPr wrap="square" lIns="0" tIns="0" rIns="0" bIns="0" rtlCol="0" anchor="ctr"/>
          <a:lstStyle/>
          <a:p>
            <a:pPr algn="l" indent="0" marL="0">
              <a:buNone/>
            </a:pPr>
            <a:r>
              <a:rPr lang="en-US" sz="1700" dirty="0">
                <a:solidFill>
                  <a:schemeClr val="tx1"/>
                </a:solidFill>
                <a:latin typeface="+mj-lt" pitchFamily="34" charset="0"/>
                <a:ea typeface="+mj-lt" pitchFamily="34" charset="-122"/>
                <a:cs typeface="+mj-lt" pitchFamily="34" charset="-120"/>
              </a:rPr>
              <a:t>src/app/api/</a:t>
            </a:r>
          </a:p>
        </p:txBody>
      </p:sp>
      <p:sp>
        <p:nvSpPr>
          <p:cNvPr id="13" name="Card text 2"/>
          <p:cNvSpPr txBox="1"/>
          <p:nvPr/>
        </p:nvSpPr>
        <p:spPr>
          <a:xfrm>
            <a:off x="4617720" y="2148840"/>
            <a:ext cx="2926080" cy="129540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The REST backend, one folder per domain such as auth, pharmacy and lab.</a:t>
            </a:r>
          </a:p>
        </p:txBody>
      </p:sp>
      <p:sp>
        <p:nvSpPr>
          <p:cNvPr id="14" name="Card src/app/dashboard/"/>
          <p:cNvSpPr/>
          <p:nvPr/>
        </p:nvSpPr>
        <p:spPr>
          <a:xfrm>
            <a:off x="8046720" y="1143000"/>
            <a:ext cx="3383280" cy="2438400"/>
          </a:xfrm>
          <a:prstGeom prst="roundRect">
            <a:avLst>
              <a:gd name="adj" fmla="val 6122"/>
            </a:avLst>
          </a:prstGeom>
          <a:solidFill>
            <a:schemeClr val="bg1"/>
          </a:solidFill>
          <a:ln w="31750">
            <a:solidFill>
              <a:schemeClr val="tx1"/>
            </a:solidFill>
            <a:prstDash val="solid"/>
          </a:ln>
        </p:spPr>
      </p:sp>
      <p:sp>
        <p:nvSpPr>
          <p:cNvPr id="15" name="Badge 3"/>
          <p:cNvSpPr/>
          <p:nvPr/>
        </p:nvSpPr>
        <p:spPr>
          <a:xfrm>
            <a:off x="8275320" y="1371600"/>
            <a:ext cx="594360" cy="594360"/>
          </a:xfrm>
          <a:prstGeom prst="ellipse">
            <a:avLst/>
          </a:prstGeom>
          <a:solidFill>
            <a:schemeClr val="accent1"/>
          </a:solidFill>
          <a:ln w="25400">
            <a:solidFill>
              <a:schemeClr val="tx1"/>
            </a:solidFill>
            <a:prstDash val="solid"/>
          </a:ln>
        </p:spPr>
      </p:sp>
      <p:pic>
        <p:nvPicPr>
          <p:cNvPr id="16" name="Card icon 3" descr="src/app/dashboard/"/>
          <p:cNvPicPr>
            <a:picLocks noChangeAspect="1"/>
          </p:cNvPicPr>
          <p:nvPr/>
        </p:nvPicPr>
        <p:blipFill>
          <a:blip r:embed="rId4"/>
          <a:stretch>
            <a:fillRect/>
          </a:stretch>
        </p:blipFill>
        <p:spPr>
          <a:xfrm>
            <a:off x="8417052" y="1513332"/>
            <a:ext cx="310896" cy="310896"/>
          </a:xfrm>
          <a:prstGeom prst="rect">
            <a:avLst/>
          </a:prstGeom>
        </p:spPr>
      </p:pic>
      <p:sp>
        <p:nvSpPr>
          <p:cNvPr id="17" name="Card title 3"/>
          <p:cNvSpPr txBox="1"/>
          <p:nvPr/>
        </p:nvSpPr>
        <p:spPr>
          <a:xfrm>
            <a:off x="9052560" y="1371600"/>
            <a:ext cx="2148840" cy="594360"/>
          </a:xfrm>
          <a:prstGeom prst="rect">
            <a:avLst/>
          </a:prstGeom>
          <a:noFill/>
          <a:ln/>
        </p:spPr>
        <p:txBody>
          <a:bodyPr wrap="square" lIns="0" tIns="0" rIns="0" bIns="0" rtlCol="0" anchor="ctr"/>
          <a:lstStyle/>
          <a:p>
            <a:pPr algn="l" indent="0" marL="0">
              <a:buNone/>
            </a:pPr>
            <a:r>
              <a:rPr lang="en-US" sz="1700" dirty="0">
                <a:solidFill>
                  <a:schemeClr val="tx1"/>
                </a:solidFill>
                <a:latin typeface="+mj-lt" pitchFamily="34" charset="0"/>
                <a:ea typeface="+mj-lt" pitchFamily="34" charset="-122"/>
                <a:cs typeface="+mj-lt" pitchFamily="34" charset="-120"/>
              </a:rPr>
              <a:t>src/app/dashboard/</a:t>
            </a:r>
          </a:p>
        </p:txBody>
      </p:sp>
      <p:sp>
        <p:nvSpPr>
          <p:cNvPr id="18" name="Card text 3"/>
          <p:cNvSpPr txBox="1"/>
          <p:nvPr/>
        </p:nvSpPr>
        <p:spPr>
          <a:xfrm>
            <a:off x="8275320" y="2148840"/>
            <a:ext cx="2926080" cy="129540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One dashboard per role, all sharing one layout.</a:t>
            </a:r>
          </a:p>
        </p:txBody>
      </p:sp>
      <p:sp>
        <p:nvSpPr>
          <p:cNvPr id="19" name="Card src/lib/"/>
          <p:cNvSpPr/>
          <p:nvPr/>
        </p:nvSpPr>
        <p:spPr>
          <a:xfrm>
            <a:off x="731520" y="3810000"/>
            <a:ext cx="3383280" cy="2438400"/>
          </a:xfrm>
          <a:prstGeom prst="roundRect">
            <a:avLst>
              <a:gd name="adj" fmla="val 6122"/>
            </a:avLst>
          </a:prstGeom>
          <a:solidFill>
            <a:schemeClr val="bg1"/>
          </a:solidFill>
          <a:ln w="31750">
            <a:solidFill>
              <a:schemeClr val="tx1"/>
            </a:solidFill>
            <a:prstDash val="solid"/>
          </a:ln>
        </p:spPr>
      </p:sp>
      <p:sp>
        <p:nvSpPr>
          <p:cNvPr id="20" name="Badge 4"/>
          <p:cNvSpPr/>
          <p:nvPr/>
        </p:nvSpPr>
        <p:spPr>
          <a:xfrm>
            <a:off x="960120" y="4038600"/>
            <a:ext cx="594360" cy="594360"/>
          </a:xfrm>
          <a:prstGeom prst="ellipse">
            <a:avLst/>
          </a:prstGeom>
          <a:solidFill>
            <a:schemeClr val="accent1"/>
          </a:solidFill>
          <a:ln w="25400">
            <a:solidFill>
              <a:schemeClr val="tx1"/>
            </a:solidFill>
            <a:prstDash val="solid"/>
          </a:ln>
        </p:spPr>
      </p:sp>
      <p:pic>
        <p:nvPicPr>
          <p:cNvPr id="21" name="Card icon 4" descr="src/lib/"/>
          <p:cNvPicPr>
            <a:picLocks noChangeAspect="1"/>
          </p:cNvPicPr>
          <p:nvPr/>
        </p:nvPicPr>
        <p:blipFill>
          <a:blip r:embed="rId5"/>
          <a:stretch>
            <a:fillRect/>
          </a:stretch>
        </p:blipFill>
        <p:spPr>
          <a:xfrm>
            <a:off x="1101852" y="4180332"/>
            <a:ext cx="310896" cy="310896"/>
          </a:xfrm>
          <a:prstGeom prst="rect">
            <a:avLst/>
          </a:prstGeom>
        </p:spPr>
      </p:pic>
      <p:sp>
        <p:nvSpPr>
          <p:cNvPr id="22" name="Card title 4"/>
          <p:cNvSpPr txBox="1"/>
          <p:nvPr/>
        </p:nvSpPr>
        <p:spPr>
          <a:xfrm>
            <a:off x="1737360" y="4038600"/>
            <a:ext cx="2148840" cy="594360"/>
          </a:xfrm>
          <a:prstGeom prst="rect">
            <a:avLst/>
          </a:prstGeom>
          <a:noFill/>
          <a:ln/>
        </p:spPr>
        <p:txBody>
          <a:bodyPr wrap="square" lIns="0" tIns="0" rIns="0" bIns="0" rtlCol="0" anchor="ctr"/>
          <a:lstStyle/>
          <a:p>
            <a:pPr algn="l" indent="0" marL="0">
              <a:buNone/>
            </a:pPr>
            <a:r>
              <a:rPr lang="en-US" sz="1700" dirty="0">
                <a:solidFill>
                  <a:schemeClr val="tx1"/>
                </a:solidFill>
                <a:latin typeface="+mj-lt" pitchFamily="34" charset="0"/>
                <a:ea typeface="+mj-lt" pitchFamily="34" charset="-122"/>
                <a:cs typeface="+mj-lt" pitchFamily="34" charset="-120"/>
              </a:rPr>
              <a:t>src/lib/</a:t>
            </a:r>
          </a:p>
        </p:txBody>
      </p:sp>
      <p:sp>
        <p:nvSpPr>
          <p:cNvPr id="23" name="Card text 4"/>
          <p:cNvSpPr txBox="1"/>
          <p:nvPr/>
        </p:nvSpPr>
        <p:spPr>
          <a:xfrm>
            <a:off x="960120" y="4815840"/>
            <a:ext cx="2926080" cy="129540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Business logic kept out of route files so it can be unit tested.</a:t>
            </a:r>
          </a:p>
        </p:txBody>
      </p:sp>
      <p:sp>
        <p:nvSpPr>
          <p:cNvPr id="24" name="Card src/middleware.ts"/>
          <p:cNvSpPr/>
          <p:nvPr/>
        </p:nvSpPr>
        <p:spPr>
          <a:xfrm>
            <a:off x="4389120" y="3810000"/>
            <a:ext cx="3383280" cy="2438400"/>
          </a:xfrm>
          <a:prstGeom prst="roundRect">
            <a:avLst>
              <a:gd name="adj" fmla="val 6122"/>
            </a:avLst>
          </a:prstGeom>
          <a:solidFill>
            <a:schemeClr val="bg1"/>
          </a:solidFill>
          <a:ln w="31750">
            <a:solidFill>
              <a:schemeClr val="tx1"/>
            </a:solidFill>
            <a:prstDash val="solid"/>
          </a:ln>
        </p:spPr>
      </p:sp>
      <p:sp>
        <p:nvSpPr>
          <p:cNvPr id="25" name="Badge 5"/>
          <p:cNvSpPr/>
          <p:nvPr/>
        </p:nvSpPr>
        <p:spPr>
          <a:xfrm>
            <a:off x="4617720" y="4038600"/>
            <a:ext cx="594360" cy="594360"/>
          </a:xfrm>
          <a:prstGeom prst="ellipse">
            <a:avLst/>
          </a:prstGeom>
          <a:solidFill>
            <a:schemeClr val="accent1"/>
          </a:solidFill>
          <a:ln w="25400">
            <a:solidFill>
              <a:schemeClr val="tx1"/>
            </a:solidFill>
            <a:prstDash val="solid"/>
          </a:ln>
        </p:spPr>
      </p:sp>
      <p:pic>
        <p:nvPicPr>
          <p:cNvPr id="26" name="Card icon 5" descr="src/middleware.ts"/>
          <p:cNvPicPr>
            <a:picLocks noChangeAspect="1"/>
          </p:cNvPicPr>
          <p:nvPr/>
        </p:nvPicPr>
        <p:blipFill>
          <a:blip r:embed="rId6"/>
          <a:stretch>
            <a:fillRect/>
          </a:stretch>
        </p:blipFill>
        <p:spPr>
          <a:xfrm>
            <a:off x="4759452" y="4180332"/>
            <a:ext cx="310896" cy="310896"/>
          </a:xfrm>
          <a:prstGeom prst="rect">
            <a:avLst/>
          </a:prstGeom>
        </p:spPr>
      </p:pic>
      <p:sp>
        <p:nvSpPr>
          <p:cNvPr id="27" name="Card title 5"/>
          <p:cNvSpPr txBox="1"/>
          <p:nvPr/>
        </p:nvSpPr>
        <p:spPr>
          <a:xfrm>
            <a:off x="5394960" y="4038600"/>
            <a:ext cx="2148840" cy="594360"/>
          </a:xfrm>
          <a:prstGeom prst="rect">
            <a:avLst/>
          </a:prstGeom>
          <a:noFill/>
          <a:ln/>
        </p:spPr>
        <p:txBody>
          <a:bodyPr wrap="square" lIns="0" tIns="0" rIns="0" bIns="0" rtlCol="0" anchor="ctr"/>
          <a:lstStyle/>
          <a:p>
            <a:pPr algn="l" indent="0" marL="0">
              <a:buNone/>
            </a:pPr>
            <a:r>
              <a:rPr lang="en-US" sz="1700" dirty="0">
                <a:solidFill>
                  <a:schemeClr val="tx1"/>
                </a:solidFill>
                <a:latin typeface="+mj-lt" pitchFamily="34" charset="0"/>
                <a:ea typeface="+mj-lt" pitchFamily="34" charset="-122"/>
                <a:cs typeface="+mj-lt" pitchFamily="34" charset="-120"/>
              </a:rPr>
              <a:t>src/middleware.ts</a:t>
            </a:r>
          </a:p>
        </p:txBody>
      </p:sp>
      <p:sp>
        <p:nvSpPr>
          <p:cNvPr id="28" name="Card text 5"/>
          <p:cNvSpPr txBox="1"/>
          <p:nvPr/>
        </p:nvSpPr>
        <p:spPr>
          <a:xfrm>
            <a:off x="4617720" y="4815840"/>
            <a:ext cx="2926080" cy="129540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The first security gate for every request.</a:t>
            </a:r>
          </a:p>
        </p:txBody>
      </p:sp>
      <p:sp>
        <p:nvSpPr>
          <p:cNvPr id="29" name="Card tests/unit/"/>
          <p:cNvSpPr/>
          <p:nvPr/>
        </p:nvSpPr>
        <p:spPr>
          <a:xfrm>
            <a:off x="8046720" y="3810000"/>
            <a:ext cx="3383280" cy="2438400"/>
          </a:xfrm>
          <a:prstGeom prst="roundRect">
            <a:avLst>
              <a:gd name="adj" fmla="val 6122"/>
            </a:avLst>
          </a:prstGeom>
          <a:solidFill>
            <a:schemeClr val="bg1"/>
          </a:solidFill>
          <a:ln w="31750">
            <a:solidFill>
              <a:schemeClr val="tx1"/>
            </a:solidFill>
            <a:prstDash val="solid"/>
          </a:ln>
        </p:spPr>
      </p:sp>
      <p:sp>
        <p:nvSpPr>
          <p:cNvPr id="30" name="Badge 6"/>
          <p:cNvSpPr/>
          <p:nvPr/>
        </p:nvSpPr>
        <p:spPr>
          <a:xfrm>
            <a:off x="8275320" y="4038600"/>
            <a:ext cx="594360" cy="594360"/>
          </a:xfrm>
          <a:prstGeom prst="ellipse">
            <a:avLst/>
          </a:prstGeom>
          <a:solidFill>
            <a:schemeClr val="accent1"/>
          </a:solidFill>
          <a:ln w="25400">
            <a:solidFill>
              <a:schemeClr val="tx1"/>
            </a:solidFill>
            <a:prstDash val="solid"/>
          </a:ln>
        </p:spPr>
      </p:sp>
      <p:pic>
        <p:nvPicPr>
          <p:cNvPr id="31" name="Card icon 6" descr="tests/unit/"/>
          <p:cNvPicPr>
            <a:picLocks noChangeAspect="1"/>
          </p:cNvPicPr>
          <p:nvPr/>
        </p:nvPicPr>
        <p:blipFill>
          <a:blip r:embed="rId7"/>
          <a:stretch>
            <a:fillRect/>
          </a:stretch>
        </p:blipFill>
        <p:spPr>
          <a:xfrm>
            <a:off x="8417052" y="4180332"/>
            <a:ext cx="310896" cy="310896"/>
          </a:xfrm>
          <a:prstGeom prst="rect">
            <a:avLst/>
          </a:prstGeom>
        </p:spPr>
      </p:pic>
      <p:sp>
        <p:nvSpPr>
          <p:cNvPr id="32" name="Card title 6"/>
          <p:cNvSpPr txBox="1"/>
          <p:nvPr/>
        </p:nvSpPr>
        <p:spPr>
          <a:xfrm>
            <a:off x="9052560" y="4038600"/>
            <a:ext cx="2148840" cy="594360"/>
          </a:xfrm>
          <a:prstGeom prst="rect">
            <a:avLst/>
          </a:prstGeom>
          <a:noFill/>
          <a:ln/>
        </p:spPr>
        <p:txBody>
          <a:bodyPr wrap="square" lIns="0" tIns="0" rIns="0" bIns="0" rtlCol="0" anchor="ctr"/>
          <a:lstStyle/>
          <a:p>
            <a:pPr algn="l" indent="0" marL="0">
              <a:buNone/>
            </a:pPr>
            <a:r>
              <a:rPr lang="en-US" sz="1700" dirty="0">
                <a:solidFill>
                  <a:schemeClr val="tx1"/>
                </a:solidFill>
                <a:latin typeface="+mj-lt" pitchFamily="34" charset="0"/>
                <a:ea typeface="+mj-lt" pitchFamily="34" charset="-122"/>
                <a:cs typeface="+mj-lt" pitchFamily="34" charset="-120"/>
              </a:rPr>
              <a:t>tests/unit/</a:t>
            </a:r>
          </a:p>
        </p:txBody>
      </p:sp>
      <p:sp>
        <p:nvSpPr>
          <p:cNvPr id="33" name="Card text 6"/>
          <p:cNvSpPr txBox="1"/>
          <p:nvPr/>
        </p:nvSpPr>
        <p:spPr>
          <a:xfrm>
            <a:off x="8275320" y="4815840"/>
            <a:ext cx="2926080" cy="129540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Vitest tests for logic, authentication and route safety.</a:t>
            </a:r>
          </a:p>
        </p:txBody>
      </p:sp>
      <p:sp>
        <p:nvSpPr>
          <p:cNvPr id="34" name="Slide Number Placeholder"/>
          <p:cNvSpPr>
            <a:spLocks noGrp="1"/>
          </p:cNvSpPr>
          <p:nvPr>
            <p:ph type="sldNum" sz="quarter" idx="4294967295"/>
          </p:nvPr>
        </p:nvSpPr>
        <p:spPr>
          <a:xfrm>
            <a:off x="11338560" y="6473952"/>
            <a:ext cx="457200" cy="228600"/>
          </a:xfrm>
          <a:prstGeom prst="rect">
            <a:avLst/>
          </a:prstGeom>
        </p:spPr>
        <p:txBody>
          <a:bodyPr/>
          <a:lstStyle>
            <a:lvl1pPr>
              <a:defRPr sz="1000">
                <a:solidFill>
                  <a:srgbClr val="3F457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db_groups">
    <p:spTree>
      <p:nvGrpSpPr>
        <p:cNvPr id="1" name=""/>
        <p:cNvGrpSpPr/>
        <p:nvPr/>
      </p:nvGrpSpPr>
      <p:grpSpPr>
        <a:xfrm>
          <a:off x="0" y="0"/>
          <a:ext cx="0" cy="0"/>
          <a:chOff x="0" y="0"/>
          <a:chExt cx="0" cy="0"/>
        </a:xfrm>
      </p:grpSpPr>
      <p:pic>
        <p:nvPicPr>
          <p:cNvPr id="2" name="Label Database · 18 tables in 7 groups" descr=""/>
          <p:cNvPicPr>
            <a:picLocks noChangeAspect="1"/>
          </p:cNvPicPr>
          <p:nvPr/>
        </p:nvPicPr>
        <p:blipFill>
          <a:blip r:embed="rId1"/>
          <a:stretch>
            <a:fillRect/>
          </a:stretch>
        </p:blipFill>
        <p:spPr>
          <a:xfrm>
            <a:off x="640080" y="274320"/>
            <a:ext cx="4284000" cy="457200"/>
          </a:xfrm>
          <a:prstGeom prst="rect">
            <a:avLst/>
          </a:prstGeom>
        </p:spPr>
      </p:pic>
      <p:sp>
        <p:nvSpPr>
          <p:cNvPr id="3" name="Title"/>
          <p:cNvSpPr txBox="1"/>
          <p:nvPr/>
        </p:nvSpPr>
        <p:spPr>
          <a:xfrm>
            <a:off x="640080" y="274320"/>
            <a:ext cx="4284000" cy="457200"/>
          </a:xfrm>
          <a:prstGeom prst="rect">
            <a:avLst/>
          </a:prstGeom>
          <a:noFill/>
          <a:ln/>
        </p:spPr>
        <p:txBody>
          <a:bodyPr wrap="square" lIns="0" tIns="0" rIns="0" bIns="0" rtlCol="0" anchor="ctr"/>
          <a:lstStyle/>
          <a:p>
            <a:pPr algn="ctr" indent="0" marL="0">
              <a:buNone/>
            </a:pPr>
            <a:r>
              <a:rPr lang="en-US" sz="1600" b="1" dirty="0">
                <a:solidFill>
                  <a:schemeClr val="tx1"/>
                </a:solidFill>
              </a:rPr>
              <a:t>Database · 18 tables in 7 groups</a:t>
            </a:r>
          </a:p>
        </p:txBody>
      </p:sp>
      <p:sp>
        <p:nvSpPr>
          <p:cNvPr id="4" name="Card People"/>
          <p:cNvSpPr/>
          <p:nvPr/>
        </p:nvSpPr>
        <p:spPr>
          <a:xfrm>
            <a:off x="731520" y="1143000"/>
            <a:ext cx="2560320" cy="2438400"/>
          </a:xfrm>
          <a:prstGeom prst="roundRect">
            <a:avLst>
              <a:gd name="adj" fmla="val 6122"/>
            </a:avLst>
          </a:prstGeom>
          <a:solidFill>
            <a:schemeClr val="bg1"/>
          </a:solidFill>
          <a:ln w="31750">
            <a:solidFill>
              <a:schemeClr val="tx1"/>
            </a:solidFill>
            <a:prstDash val="solid"/>
          </a:ln>
        </p:spPr>
      </p:sp>
      <p:sp>
        <p:nvSpPr>
          <p:cNvPr id="5" name="Badge 1"/>
          <p:cNvSpPr/>
          <p:nvPr/>
        </p:nvSpPr>
        <p:spPr>
          <a:xfrm>
            <a:off x="960120" y="1371600"/>
            <a:ext cx="594360" cy="594360"/>
          </a:xfrm>
          <a:prstGeom prst="ellipse">
            <a:avLst/>
          </a:prstGeom>
          <a:solidFill>
            <a:schemeClr val="accent1"/>
          </a:solidFill>
          <a:ln w="25400">
            <a:solidFill>
              <a:schemeClr val="tx1"/>
            </a:solidFill>
            <a:prstDash val="solid"/>
          </a:ln>
        </p:spPr>
      </p:sp>
      <p:pic>
        <p:nvPicPr>
          <p:cNvPr id="6" name="Card icon 1" descr="People"/>
          <p:cNvPicPr>
            <a:picLocks noChangeAspect="1"/>
          </p:cNvPicPr>
          <p:nvPr/>
        </p:nvPicPr>
        <p:blipFill>
          <a:blip r:embed="rId2"/>
          <a:stretch>
            <a:fillRect/>
          </a:stretch>
        </p:blipFill>
        <p:spPr>
          <a:xfrm>
            <a:off x="1101852" y="1513332"/>
            <a:ext cx="310896" cy="310896"/>
          </a:xfrm>
          <a:prstGeom prst="rect">
            <a:avLst/>
          </a:prstGeom>
        </p:spPr>
      </p:pic>
      <p:sp>
        <p:nvSpPr>
          <p:cNvPr id="7" name="Card title 1"/>
          <p:cNvSpPr txBox="1"/>
          <p:nvPr/>
        </p:nvSpPr>
        <p:spPr>
          <a:xfrm>
            <a:off x="960120" y="2057400"/>
            <a:ext cx="2103120" cy="320040"/>
          </a:xfrm>
          <a:prstGeom prst="rect">
            <a:avLst/>
          </a:prstGeom>
          <a:noFill/>
          <a:ln/>
        </p:spPr>
        <p:txBody>
          <a:bodyPr wrap="square" lIns="0" tIns="0" rIns="0" bIns="0" rtlCol="0" anchor="t"/>
          <a:lstStyle/>
          <a:p>
            <a:pPr algn="l" indent="0" marL="0">
              <a:buNone/>
            </a:pPr>
            <a:r>
              <a:rPr lang="en-US" sz="1700" dirty="0">
                <a:solidFill>
                  <a:schemeClr val="tx1"/>
                </a:solidFill>
                <a:latin typeface="+mj-lt" pitchFamily="34" charset="0"/>
                <a:ea typeface="+mj-lt" pitchFamily="34" charset="-122"/>
                <a:cs typeface="+mj-lt" pitchFamily="34" charset="-120"/>
              </a:rPr>
              <a:t>People</a:t>
            </a:r>
          </a:p>
        </p:txBody>
      </p:sp>
      <p:sp>
        <p:nvSpPr>
          <p:cNvPr id="8" name="Card text 1"/>
          <p:cNvSpPr txBox="1"/>
          <p:nvPr/>
        </p:nvSpPr>
        <p:spPr>
          <a:xfrm>
            <a:off x="960120" y="2423160"/>
            <a:ext cx="2103120" cy="1021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User, PatientProfile</a:t>
            </a:r>
          </a:p>
        </p:txBody>
      </p:sp>
      <p:sp>
        <p:nvSpPr>
          <p:cNvPr id="9" name="Card Clinical care"/>
          <p:cNvSpPr/>
          <p:nvPr/>
        </p:nvSpPr>
        <p:spPr>
          <a:xfrm>
            <a:off x="3520440" y="1143000"/>
            <a:ext cx="2560320" cy="2438400"/>
          </a:xfrm>
          <a:prstGeom prst="roundRect">
            <a:avLst>
              <a:gd name="adj" fmla="val 6122"/>
            </a:avLst>
          </a:prstGeom>
          <a:solidFill>
            <a:schemeClr val="bg1"/>
          </a:solidFill>
          <a:ln w="31750">
            <a:solidFill>
              <a:schemeClr val="tx1"/>
            </a:solidFill>
            <a:prstDash val="solid"/>
          </a:ln>
        </p:spPr>
      </p:sp>
      <p:sp>
        <p:nvSpPr>
          <p:cNvPr id="10" name="Badge 2"/>
          <p:cNvSpPr/>
          <p:nvPr/>
        </p:nvSpPr>
        <p:spPr>
          <a:xfrm>
            <a:off x="3749040" y="1371600"/>
            <a:ext cx="594360" cy="594360"/>
          </a:xfrm>
          <a:prstGeom prst="ellipse">
            <a:avLst/>
          </a:prstGeom>
          <a:solidFill>
            <a:schemeClr val="accent1"/>
          </a:solidFill>
          <a:ln w="25400">
            <a:solidFill>
              <a:schemeClr val="tx1"/>
            </a:solidFill>
            <a:prstDash val="solid"/>
          </a:ln>
        </p:spPr>
      </p:sp>
      <p:pic>
        <p:nvPicPr>
          <p:cNvPr id="11" name="Card icon 2" descr="Clinical care"/>
          <p:cNvPicPr>
            <a:picLocks noChangeAspect="1"/>
          </p:cNvPicPr>
          <p:nvPr/>
        </p:nvPicPr>
        <p:blipFill>
          <a:blip r:embed="rId3"/>
          <a:stretch>
            <a:fillRect/>
          </a:stretch>
        </p:blipFill>
        <p:spPr>
          <a:xfrm>
            <a:off x="3890772" y="1513332"/>
            <a:ext cx="310896" cy="310896"/>
          </a:xfrm>
          <a:prstGeom prst="rect">
            <a:avLst/>
          </a:prstGeom>
        </p:spPr>
      </p:pic>
      <p:sp>
        <p:nvSpPr>
          <p:cNvPr id="12" name="Card title 2"/>
          <p:cNvSpPr txBox="1"/>
          <p:nvPr/>
        </p:nvSpPr>
        <p:spPr>
          <a:xfrm>
            <a:off x="3749040" y="2057400"/>
            <a:ext cx="2103120" cy="320040"/>
          </a:xfrm>
          <a:prstGeom prst="rect">
            <a:avLst/>
          </a:prstGeom>
          <a:noFill/>
          <a:ln/>
        </p:spPr>
        <p:txBody>
          <a:bodyPr wrap="square" lIns="0" tIns="0" rIns="0" bIns="0" rtlCol="0" anchor="t"/>
          <a:lstStyle/>
          <a:p>
            <a:pPr algn="l" indent="0" marL="0">
              <a:buNone/>
            </a:pPr>
            <a:r>
              <a:rPr lang="en-US" sz="1700" dirty="0">
                <a:solidFill>
                  <a:schemeClr val="tx1"/>
                </a:solidFill>
                <a:latin typeface="+mj-lt" pitchFamily="34" charset="0"/>
                <a:ea typeface="+mj-lt" pitchFamily="34" charset="-122"/>
                <a:cs typeface="+mj-lt" pitchFamily="34" charset="-120"/>
              </a:rPr>
              <a:t>Clinical care</a:t>
            </a:r>
          </a:p>
        </p:txBody>
      </p:sp>
      <p:sp>
        <p:nvSpPr>
          <p:cNvPr id="13" name="Card text 2"/>
          <p:cNvSpPr txBox="1"/>
          <p:nvPr/>
        </p:nvSpPr>
        <p:spPr>
          <a:xfrm>
            <a:off x="3749040" y="2423160"/>
            <a:ext cx="2103120" cy="1021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MedicalRecord, Visit</a:t>
            </a:r>
          </a:p>
        </p:txBody>
      </p:sp>
      <p:sp>
        <p:nvSpPr>
          <p:cNvPr id="14" name="Card Inpatient"/>
          <p:cNvSpPr/>
          <p:nvPr/>
        </p:nvSpPr>
        <p:spPr>
          <a:xfrm>
            <a:off x="6309360" y="1143000"/>
            <a:ext cx="2560320" cy="2438400"/>
          </a:xfrm>
          <a:prstGeom prst="roundRect">
            <a:avLst>
              <a:gd name="adj" fmla="val 6122"/>
            </a:avLst>
          </a:prstGeom>
          <a:solidFill>
            <a:schemeClr val="bg1"/>
          </a:solidFill>
          <a:ln w="31750">
            <a:solidFill>
              <a:schemeClr val="tx1"/>
            </a:solidFill>
            <a:prstDash val="solid"/>
          </a:ln>
        </p:spPr>
      </p:sp>
      <p:sp>
        <p:nvSpPr>
          <p:cNvPr id="15" name="Badge 3"/>
          <p:cNvSpPr/>
          <p:nvPr/>
        </p:nvSpPr>
        <p:spPr>
          <a:xfrm>
            <a:off x="6537960" y="1371600"/>
            <a:ext cx="594360" cy="594360"/>
          </a:xfrm>
          <a:prstGeom prst="ellipse">
            <a:avLst/>
          </a:prstGeom>
          <a:solidFill>
            <a:schemeClr val="accent1"/>
          </a:solidFill>
          <a:ln w="25400">
            <a:solidFill>
              <a:schemeClr val="tx1"/>
            </a:solidFill>
            <a:prstDash val="solid"/>
          </a:ln>
        </p:spPr>
      </p:sp>
      <p:pic>
        <p:nvPicPr>
          <p:cNvPr id="16" name="Card icon 3" descr="Inpatient"/>
          <p:cNvPicPr>
            <a:picLocks noChangeAspect="1"/>
          </p:cNvPicPr>
          <p:nvPr/>
        </p:nvPicPr>
        <p:blipFill>
          <a:blip r:embed="rId4"/>
          <a:stretch>
            <a:fillRect/>
          </a:stretch>
        </p:blipFill>
        <p:spPr>
          <a:xfrm>
            <a:off x="6679692" y="1513332"/>
            <a:ext cx="310896" cy="310896"/>
          </a:xfrm>
          <a:prstGeom prst="rect">
            <a:avLst/>
          </a:prstGeom>
        </p:spPr>
      </p:pic>
      <p:sp>
        <p:nvSpPr>
          <p:cNvPr id="17" name="Card title 3"/>
          <p:cNvSpPr txBox="1"/>
          <p:nvPr/>
        </p:nvSpPr>
        <p:spPr>
          <a:xfrm>
            <a:off x="6537960" y="2057400"/>
            <a:ext cx="2103120" cy="320040"/>
          </a:xfrm>
          <a:prstGeom prst="rect">
            <a:avLst/>
          </a:prstGeom>
          <a:noFill/>
          <a:ln/>
        </p:spPr>
        <p:txBody>
          <a:bodyPr wrap="square" lIns="0" tIns="0" rIns="0" bIns="0" rtlCol="0" anchor="t"/>
          <a:lstStyle/>
          <a:p>
            <a:pPr algn="l" indent="0" marL="0">
              <a:buNone/>
            </a:pPr>
            <a:r>
              <a:rPr lang="en-US" sz="1700" dirty="0">
                <a:solidFill>
                  <a:schemeClr val="tx1"/>
                </a:solidFill>
                <a:latin typeface="+mj-lt" pitchFamily="34" charset="0"/>
                <a:ea typeface="+mj-lt" pitchFamily="34" charset="-122"/>
                <a:cs typeface="+mj-lt" pitchFamily="34" charset="-120"/>
              </a:rPr>
              <a:t>Inpatient</a:t>
            </a:r>
          </a:p>
        </p:txBody>
      </p:sp>
      <p:sp>
        <p:nvSpPr>
          <p:cNvPr id="18" name="Card text 3"/>
          <p:cNvSpPr txBox="1"/>
          <p:nvPr/>
        </p:nvSpPr>
        <p:spPr>
          <a:xfrm>
            <a:off x="6537960" y="2423160"/>
            <a:ext cx="2103120" cy="1021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Admission, AdmissionNote, VitalsReading, AdmissionCounter</a:t>
            </a:r>
          </a:p>
        </p:txBody>
      </p:sp>
      <p:sp>
        <p:nvSpPr>
          <p:cNvPr id="19" name="Card Pharmacy"/>
          <p:cNvSpPr/>
          <p:nvPr/>
        </p:nvSpPr>
        <p:spPr>
          <a:xfrm>
            <a:off x="9098280" y="1143000"/>
            <a:ext cx="2560320" cy="2438400"/>
          </a:xfrm>
          <a:prstGeom prst="roundRect">
            <a:avLst>
              <a:gd name="adj" fmla="val 6122"/>
            </a:avLst>
          </a:prstGeom>
          <a:solidFill>
            <a:schemeClr val="bg1"/>
          </a:solidFill>
          <a:ln w="31750">
            <a:solidFill>
              <a:schemeClr val="tx1"/>
            </a:solidFill>
            <a:prstDash val="solid"/>
          </a:ln>
        </p:spPr>
      </p:sp>
      <p:sp>
        <p:nvSpPr>
          <p:cNvPr id="20" name="Badge 4"/>
          <p:cNvSpPr/>
          <p:nvPr/>
        </p:nvSpPr>
        <p:spPr>
          <a:xfrm>
            <a:off x="9326880" y="1371600"/>
            <a:ext cx="594360" cy="594360"/>
          </a:xfrm>
          <a:prstGeom prst="ellipse">
            <a:avLst/>
          </a:prstGeom>
          <a:solidFill>
            <a:schemeClr val="accent3"/>
          </a:solidFill>
          <a:ln w="25400">
            <a:solidFill>
              <a:schemeClr val="tx1"/>
            </a:solidFill>
            <a:prstDash val="solid"/>
          </a:ln>
        </p:spPr>
      </p:sp>
      <p:pic>
        <p:nvPicPr>
          <p:cNvPr id="21" name="Card icon 4" descr="Pharmacy"/>
          <p:cNvPicPr>
            <a:picLocks noChangeAspect="1"/>
          </p:cNvPicPr>
          <p:nvPr/>
        </p:nvPicPr>
        <p:blipFill>
          <a:blip r:embed="rId5"/>
          <a:stretch>
            <a:fillRect/>
          </a:stretch>
        </p:blipFill>
        <p:spPr>
          <a:xfrm>
            <a:off x="9468612" y="1513332"/>
            <a:ext cx="310896" cy="310896"/>
          </a:xfrm>
          <a:prstGeom prst="rect">
            <a:avLst/>
          </a:prstGeom>
        </p:spPr>
      </p:pic>
      <p:sp>
        <p:nvSpPr>
          <p:cNvPr id="22" name="Card title 4"/>
          <p:cNvSpPr txBox="1"/>
          <p:nvPr/>
        </p:nvSpPr>
        <p:spPr>
          <a:xfrm>
            <a:off x="9326880" y="2057400"/>
            <a:ext cx="2103120" cy="320040"/>
          </a:xfrm>
          <a:prstGeom prst="rect">
            <a:avLst/>
          </a:prstGeom>
          <a:noFill/>
          <a:ln/>
        </p:spPr>
        <p:txBody>
          <a:bodyPr wrap="square" lIns="0" tIns="0" rIns="0" bIns="0" rtlCol="0" anchor="t"/>
          <a:lstStyle/>
          <a:p>
            <a:pPr algn="l" indent="0" marL="0">
              <a:buNone/>
            </a:pPr>
            <a:r>
              <a:rPr lang="en-US" sz="1700" dirty="0">
                <a:solidFill>
                  <a:schemeClr val="tx1"/>
                </a:solidFill>
                <a:latin typeface="+mj-lt" pitchFamily="34" charset="0"/>
                <a:ea typeface="+mj-lt" pitchFamily="34" charset="-122"/>
                <a:cs typeface="+mj-lt" pitchFamily="34" charset="-120"/>
              </a:rPr>
              <a:t>Pharmacy</a:t>
            </a:r>
          </a:p>
        </p:txBody>
      </p:sp>
      <p:sp>
        <p:nvSpPr>
          <p:cNvPr id="23" name="Card text 4"/>
          <p:cNvSpPr txBox="1"/>
          <p:nvPr/>
        </p:nvSpPr>
        <p:spPr>
          <a:xfrm>
            <a:off x="9326880" y="2423160"/>
            <a:ext cx="2103120" cy="1021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Prescription, DrugInventory</a:t>
            </a:r>
          </a:p>
        </p:txBody>
      </p:sp>
      <p:sp>
        <p:nvSpPr>
          <p:cNvPr id="24" name="Card Laboratory"/>
          <p:cNvSpPr/>
          <p:nvPr/>
        </p:nvSpPr>
        <p:spPr>
          <a:xfrm>
            <a:off x="731520" y="3810000"/>
            <a:ext cx="2560320" cy="2438400"/>
          </a:xfrm>
          <a:prstGeom prst="roundRect">
            <a:avLst>
              <a:gd name="adj" fmla="val 6122"/>
            </a:avLst>
          </a:prstGeom>
          <a:solidFill>
            <a:schemeClr val="bg1"/>
          </a:solidFill>
          <a:ln w="31750">
            <a:solidFill>
              <a:schemeClr val="tx1"/>
            </a:solidFill>
            <a:prstDash val="solid"/>
          </a:ln>
        </p:spPr>
      </p:sp>
      <p:sp>
        <p:nvSpPr>
          <p:cNvPr id="25" name="Badge 5"/>
          <p:cNvSpPr/>
          <p:nvPr/>
        </p:nvSpPr>
        <p:spPr>
          <a:xfrm>
            <a:off x="960120" y="4038600"/>
            <a:ext cx="594360" cy="594360"/>
          </a:xfrm>
          <a:prstGeom prst="ellipse">
            <a:avLst/>
          </a:prstGeom>
          <a:solidFill>
            <a:schemeClr val="accent1"/>
          </a:solidFill>
          <a:ln w="25400">
            <a:solidFill>
              <a:schemeClr val="tx1"/>
            </a:solidFill>
            <a:prstDash val="solid"/>
          </a:ln>
        </p:spPr>
      </p:sp>
      <p:pic>
        <p:nvPicPr>
          <p:cNvPr id="26" name="Card icon 5" descr="Laboratory"/>
          <p:cNvPicPr>
            <a:picLocks noChangeAspect="1"/>
          </p:cNvPicPr>
          <p:nvPr/>
        </p:nvPicPr>
        <p:blipFill>
          <a:blip r:embed="rId6"/>
          <a:stretch>
            <a:fillRect/>
          </a:stretch>
        </p:blipFill>
        <p:spPr>
          <a:xfrm>
            <a:off x="1101852" y="4180332"/>
            <a:ext cx="310896" cy="310896"/>
          </a:xfrm>
          <a:prstGeom prst="rect">
            <a:avLst/>
          </a:prstGeom>
        </p:spPr>
      </p:pic>
      <p:sp>
        <p:nvSpPr>
          <p:cNvPr id="27" name="Card title 5"/>
          <p:cNvSpPr txBox="1"/>
          <p:nvPr/>
        </p:nvSpPr>
        <p:spPr>
          <a:xfrm>
            <a:off x="960120" y="4724400"/>
            <a:ext cx="2103120" cy="320040"/>
          </a:xfrm>
          <a:prstGeom prst="rect">
            <a:avLst/>
          </a:prstGeom>
          <a:noFill/>
          <a:ln/>
        </p:spPr>
        <p:txBody>
          <a:bodyPr wrap="square" lIns="0" tIns="0" rIns="0" bIns="0" rtlCol="0" anchor="t"/>
          <a:lstStyle/>
          <a:p>
            <a:pPr algn="l" indent="0" marL="0">
              <a:buNone/>
            </a:pPr>
            <a:r>
              <a:rPr lang="en-US" sz="1700" dirty="0">
                <a:solidFill>
                  <a:schemeClr val="tx1"/>
                </a:solidFill>
                <a:latin typeface="+mj-lt" pitchFamily="34" charset="0"/>
                <a:ea typeface="+mj-lt" pitchFamily="34" charset="-122"/>
                <a:cs typeface="+mj-lt" pitchFamily="34" charset="-120"/>
              </a:rPr>
              <a:t>Laboratory</a:t>
            </a:r>
          </a:p>
        </p:txBody>
      </p:sp>
      <p:sp>
        <p:nvSpPr>
          <p:cNvPr id="28" name="Card text 5"/>
          <p:cNvSpPr txBox="1"/>
          <p:nvPr/>
        </p:nvSpPr>
        <p:spPr>
          <a:xfrm>
            <a:off x="960120" y="5090160"/>
            <a:ext cx="2103120" cy="1021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LabTest, LabOrder, LabOrderItem</a:t>
            </a:r>
          </a:p>
        </p:txBody>
      </p:sp>
      <p:sp>
        <p:nvSpPr>
          <p:cNvPr id="29" name="Card Engagement"/>
          <p:cNvSpPr/>
          <p:nvPr/>
        </p:nvSpPr>
        <p:spPr>
          <a:xfrm>
            <a:off x="3520440" y="3810000"/>
            <a:ext cx="2560320" cy="2438400"/>
          </a:xfrm>
          <a:prstGeom prst="roundRect">
            <a:avLst>
              <a:gd name="adj" fmla="val 6122"/>
            </a:avLst>
          </a:prstGeom>
          <a:solidFill>
            <a:schemeClr val="bg1"/>
          </a:solidFill>
          <a:ln w="31750">
            <a:solidFill>
              <a:schemeClr val="tx1"/>
            </a:solidFill>
            <a:prstDash val="solid"/>
          </a:ln>
        </p:spPr>
      </p:sp>
      <p:sp>
        <p:nvSpPr>
          <p:cNvPr id="30" name="Badge 6"/>
          <p:cNvSpPr/>
          <p:nvPr/>
        </p:nvSpPr>
        <p:spPr>
          <a:xfrm>
            <a:off x="3749040" y="4038600"/>
            <a:ext cx="594360" cy="594360"/>
          </a:xfrm>
          <a:prstGeom prst="ellipse">
            <a:avLst/>
          </a:prstGeom>
          <a:solidFill>
            <a:schemeClr val="accent1"/>
          </a:solidFill>
          <a:ln w="25400">
            <a:solidFill>
              <a:schemeClr val="tx1"/>
            </a:solidFill>
            <a:prstDash val="solid"/>
          </a:ln>
        </p:spPr>
      </p:sp>
      <p:pic>
        <p:nvPicPr>
          <p:cNvPr id="31" name="Card icon 6" descr="Engagement"/>
          <p:cNvPicPr>
            <a:picLocks noChangeAspect="1"/>
          </p:cNvPicPr>
          <p:nvPr/>
        </p:nvPicPr>
        <p:blipFill>
          <a:blip r:embed="rId7"/>
          <a:stretch>
            <a:fillRect/>
          </a:stretch>
        </p:blipFill>
        <p:spPr>
          <a:xfrm>
            <a:off x="3890772" y="4180332"/>
            <a:ext cx="310896" cy="310896"/>
          </a:xfrm>
          <a:prstGeom prst="rect">
            <a:avLst/>
          </a:prstGeom>
        </p:spPr>
      </p:pic>
      <p:sp>
        <p:nvSpPr>
          <p:cNvPr id="32" name="Card title 6"/>
          <p:cNvSpPr txBox="1"/>
          <p:nvPr/>
        </p:nvSpPr>
        <p:spPr>
          <a:xfrm>
            <a:off x="3749040" y="4724400"/>
            <a:ext cx="2103120" cy="320040"/>
          </a:xfrm>
          <a:prstGeom prst="rect">
            <a:avLst/>
          </a:prstGeom>
          <a:noFill/>
          <a:ln/>
        </p:spPr>
        <p:txBody>
          <a:bodyPr wrap="square" lIns="0" tIns="0" rIns="0" bIns="0" rtlCol="0" anchor="t"/>
          <a:lstStyle/>
          <a:p>
            <a:pPr algn="l" indent="0" marL="0">
              <a:buNone/>
            </a:pPr>
            <a:r>
              <a:rPr lang="en-US" sz="1700" dirty="0">
                <a:solidFill>
                  <a:schemeClr val="tx1"/>
                </a:solidFill>
                <a:latin typeface="+mj-lt" pitchFamily="34" charset="0"/>
                <a:ea typeface="+mj-lt" pitchFamily="34" charset="-122"/>
                <a:cs typeface="+mj-lt" pitchFamily="34" charset="-120"/>
              </a:rPr>
              <a:t>Engagement</a:t>
            </a:r>
          </a:p>
        </p:txBody>
      </p:sp>
      <p:sp>
        <p:nvSpPr>
          <p:cNvPr id="33" name="Card text 6"/>
          <p:cNvSpPr txBox="1"/>
          <p:nvPr/>
        </p:nvSpPr>
        <p:spPr>
          <a:xfrm>
            <a:off x="3749040" y="5090160"/>
            <a:ext cx="2103120" cy="1021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AppointmentRequest, Notification, Message</a:t>
            </a:r>
          </a:p>
        </p:txBody>
      </p:sp>
      <p:sp>
        <p:nvSpPr>
          <p:cNvPr id="34" name="Card Consent and audit"/>
          <p:cNvSpPr/>
          <p:nvPr/>
        </p:nvSpPr>
        <p:spPr>
          <a:xfrm>
            <a:off x="6309360" y="3810000"/>
            <a:ext cx="2560320" cy="2438400"/>
          </a:xfrm>
          <a:prstGeom prst="roundRect">
            <a:avLst>
              <a:gd name="adj" fmla="val 6122"/>
            </a:avLst>
          </a:prstGeom>
          <a:solidFill>
            <a:schemeClr val="bg1"/>
          </a:solidFill>
          <a:ln w="31750">
            <a:solidFill>
              <a:schemeClr val="tx1"/>
            </a:solidFill>
            <a:prstDash val="solid"/>
          </a:ln>
        </p:spPr>
      </p:sp>
      <p:sp>
        <p:nvSpPr>
          <p:cNvPr id="35" name="Badge 7"/>
          <p:cNvSpPr/>
          <p:nvPr/>
        </p:nvSpPr>
        <p:spPr>
          <a:xfrm>
            <a:off x="6537960" y="4038600"/>
            <a:ext cx="594360" cy="594360"/>
          </a:xfrm>
          <a:prstGeom prst="ellipse">
            <a:avLst/>
          </a:prstGeom>
          <a:solidFill>
            <a:schemeClr val="accent1"/>
          </a:solidFill>
          <a:ln w="25400">
            <a:solidFill>
              <a:schemeClr val="tx1"/>
            </a:solidFill>
            <a:prstDash val="solid"/>
          </a:ln>
        </p:spPr>
      </p:sp>
      <p:pic>
        <p:nvPicPr>
          <p:cNvPr id="36" name="Card icon 7" descr="Consent and audit"/>
          <p:cNvPicPr>
            <a:picLocks noChangeAspect="1"/>
          </p:cNvPicPr>
          <p:nvPr/>
        </p:nvPicPr>
        <p:blipFill>
          <a:blip r:embed="rId8"/>
          <a:stretch>
            <a:fillRect/>
          </a:stretch>
        </p:blipFill>
        <p:spPr>
          <a:xfrm>
            <a:off x="6679692" y="4180332"/>
            <a:ext cx="310896" cy="310896"/>
          </a:xfrm>
          <a:prstGeom prst="rect">
            <a:avLst/>
          </a:prstGeom>
        </p:spPr>
      </p:pic>
      <p:sp>
        <p:nvSpPr>
          <p:cNvPr id="37" name="Card title 7"/>
          <p:cNvSpPr txBox="1"/>
          <p:nvPr/>
        </p:nvSpPr>
        <p:spPr>
          <a:xfrm>
            <a:off x="6537960" y="4724400"/>
            <a:ext cx="2103120" cy="320040"/>
          </a:xfrm>
          <a:prstGeom prst="rect">
            <a:avLst/>
          </a:prstGeom>
          <a:noFill/>
          <a:ln/>
        </p:spPr>
        <p:txBody>
          <a:bodyPr wrap="square" lIns="0" tIns="0" rIns="0" bIns="0" rtlCol="0" anchor="t"/>
          <a:lstStyle/>
          <a:p>
            <a:pPr algn="l" indent="0" marL="0">
              <a:buNone/>
            </a:pPr>
            <a:r>
              <a:rPr lang="en-US" sz="1700" dirty="0">
                <a:solidFill>
                  <a:schemeClr val="tx1"/>
                </a:solidFill>
                <a:latin typeface="+mj-lt" pitchFamily="34" charset="0"/>
                <a:ea typeface="+mj-lt" pitchFamily="34" charset="-122"/>
                <a:cs typeface="+mj-lt" pitchFamily="34" charset="-120"/>
              </a:rPr>
              <a:t>Consent and audit</a:t>
            </a:r>
          </a:p>
        </p:txBody>
      </p:sp>
      <p:sp>
        <p:nvSpPr>
          <p:cNvPr id="38" name="Card text 7"/>
          <p:cNvSpPr txBox="1"/>
          <p:nvPr/>
        </p:nvSpPr>
        <p:spPr>
          <a:xfrm>
            <a:off x="6537960" y="5090160"/>
            <a:ext cx="2103120" cy="1021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NextOfKinAssignment, AccessLog</a:t>
            </a:r>
          </a:p>
        </p:txBody>
      </p:sp>
      <p:sp>
        <p:nvSpPr>
          <p:cNvPr id="39" name="Stat"/>
          <p:cNvSpPr txBox="1"/>
          <p:nvPr/>
        </p:nvSpPr>
        <p:spPr>
          <a:xfrm>
            <a:off x="9098280" y="4038600"/>
            <a:ext cx="2560320" cy="900000"/>
          </a:xfrm>
          <a:prstGeom prst="rect">
            <a:avLst/>
          </a:prstGeom>
          <a:noFill/>
          <a:ln/>
        </p:spPr>
        <p:txBody>
          <a:bodyPr wrap="square" lIns="0" tIns="0" rIns="0" bIns="0" rtlCol="0" anchor="t"/>
          <a:lstStyle/>
          <a:p>
            <a:pPr algn="l" indent="0" marL="0">
              <a:buNone/>
            </a:pPr>
            <a:r>
              <a:rPr lang="en-US" sz="4000" dirty="0">
                <a:solidFill>
                  <a:schemeClr val="tx1"/>
                </a:solidFill>
                <a:latin typeface="+mj-lt" pitchFamily="34" charset="0"/>
                <a:ea typeface="+mj-lt" pitchFamily="34" charset="-122"/>
                <a:cs typeface="+mj-lt" pitchFamily="34" charset="-120"/>
              </a:rPr>
              <a:t>18 tables</a:t>
            </a:r>
          </a:p>
        </p:txBody>
      </p:sp>
      <p:sp>
        <p:nvSpPr>
          <p:cNvPr id="40" name="Stat label"/>
          <p:cNvSpPr txBox="1"/>
          <p:nvPr/>
        </p:nvSpPr>
        <p:spPr>
          <a:xfrm>
            <a:off x="9098280" y="4953000"/>
            <a:ext cx="2560320" cy="90000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The ERD is on the next slide; domain model views are in the repo's doc folder.</a:t>
            </a:r>
          </a:p>
        </p:txBody>
      </p:sp>
      <p:sp>
        <p:nvSpPr>
          <p:cNvPr id="41" name="Slide Number Placeholder"/>
          <p:cNvSpPr>
            <a:spLocks noGrp="1"/>
          </p:cNvSpPr>
          <p:nvPr>
            <p:ph type="sldNum" sz="quarter" idx="4294967295"/>
          </p:nvPr>
        </p:nvSpPr>
        <p:spPr>
          <a:xfrm>
            <a:off x="11338560" y="6473952"/>
            <a:ext cx="457200" cy="228600"/>
          </a:xfrm>
          <a:prstGeom prst="rect">
            <a:avLst/>
          </a:prstGeom>
        </p:spPr>
        <p:txBody>
          <a:bodyPr/>
          <a:lstStyle>
            <a:lvl1pPr>
              <a:defRPr sz="1000">
                <a:solidFill>
                  <a:srgbClr val="3F457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db_design">
    <p:spTree>
      <p:nvGrpSpPr>
        <p:cNvPr id="1" name=""/>
        <p:cNvGrpSpPr/>
        <p:nvPr/>
      </p:nvGrpSpPr>
      <p:grpSpPr>
        <a:xfrm>
          <a:off x="0" y="0"/>
          <a:ext cx="0" cy="0"/>
          <a:chOff x="0" y="0"/>
          <a:chExt cx="0" cy="0"/>
        </a:xfrm>
      </p:grpSpPr>
      <p:pic>
        <p:nvPicPr>
          <p:cNvPr id="2" name="Label Database · Design decisions" descr=""/>
          <p:cNvPicPr>
            <a:picLocks noChangeAspect="1"/>
          </p:cNvPicPr>
          <p:nvPr/>
        </p:nvPicPr>
        <p:blipFill>
          <a:blip r:embed="rId1"/>
          <a:stretch>
            <a:fillRect/>
          </a:stretch>
        </p:blipFill>
        <p:spPr>
          <a:xfrm>
            <a:off x="640080" y="274320"/>
            <a:ext cx="3724000" cy="457200"/>
          </a:xfrm>
          <a:prstGeom prst="rect">
            <a:avLst/>
          </a:prstGeom>
        </p:spPr>
      </p:pic>
      <p:sp>
        <p:nvSpPr>
          <p:cNvPr id="3" name="Title"/>
          <p:cNvSpPr txBox="1"/>
          <p:nvPr/>
        </p:nvSpPr>
        <p:spPr>
          <a:xfrm>
            <a:off x="640080" y="274320"/>
            <a:ext cx="3724000" cy="457200"/>
          </a:xfrm>
          <a:prstGeom prst="rect">
            <a:avLst/>
          </a:prstGeom>
          <a:noFill/>
          <a:ln/>
        </p:spPr>
        <p:txBody>
          <a:bodyPr wrap="square" lIns="0" tIns="0" rIns="0" bIns="0" rtlCol="0" anchor="ctr"/>
          <a:lstStyle/>
          <a:p>
            <a:pPr algn="ctr" indent="0" marL="0">
              <a:buNone/>
            </a:pPr>
            <a:r>
              <a:rPr lang="en-US" sz="1600" b="1" dirty="0">
                <a:solidFill>
                  <a:schemeClr val="tx1"/>
                </a:solidFill>
              </a:rPr>
              <a:t>Database · Design decisions</a:t>
            </a:r>
          </a:p>
        </p:txBody>
      </p:sp>
      <p:sp>
        <p:nvSpPr>
          <p:cNvPr id="4" name="Stepper line"/>
          <p:cNvSpPr/>
          <p:nvPr/>
        </p:nvSpPr>
        <p:spPr>
          <a:xfrm>
            <a:off x="1143000" y="1444752"/>
            <a:ext cx="0" cy="3017520"/>
          </a:xfrm>
          <a:prstGeom prst="line">
            <a:avLst/>
          </a:prstGeom>
          <a:noFill/>
          <a:ln w="38100">
            <a:solidFill>
              <a:schemeClr val="accent2"/>
            </a:solidFill>
            <a:prstDash val="solid"/>
          </a:ln>
        </p:spPr>
      </p:sp>
      <p:sp>
        <p:nvSpPr>
          <p:cNvPr id="5" name="Step 1"/>
          <p:cNvSpPr/>
          <p:nvPr/>
        </p:nvSpPr>
        <p:spPr>
          <a:xfrm>
            <a:off x="841248" y="1143000"/>
            <a:ext cx="603504" cy="603504"/>
          </a:xfrm>
          <a:prstGeom prst="ellipse">
            <a:avLst/>
          </a:prstGeom>
          <a:solidFill>
            <a:schemeClr val="accent1"/>
          </a:solidFill>
          <a:ln w="31750">
            <a:solidFill>
              <a:schemeClr val="tx1"/>
            </a:solidFill>
            <a:prstDash val="solid"/>
          </a:ln>
        </p:spPr>
      </p:sp>
      <p:pic>
        <p:nvPicPr>
          <p:cNvPr id="6" name="Step icon 1" descr="One user table"/>
          <p:cNvPicPr>
            <a:picLocks noChangeAspect="1"/>
          </p:cNvPicPr>
          <p:nvPr/>
        </p:nvPicPr>
        <p:blipFill>
          <a:blip r:embed="rId2"/>
          <a:stretch>
            <a:fillRect/>
          </a:stretch>
        </p:blipFill>
        <p:spPr>
          <a:xfrm>
            <a:off x="987552" y="1289304"/>
            <a:ext cx="310896" cy="310896"/>
          </a:xfrm>
          <a:prstGeom prst="rect">
            <a:avLst/>
          </a:prstGeom>
        </p:spPr>
      </p:pic>
      <p:sp>
        <p:nvSpPr>
          <p:cNvPr id="7" name="Step title 1"/>
          <p:cNvSpPr txBox="1"/>
          <p:nvPr/>
        </p:nvSpPr>
        <p:spPr>
          <a:xfrm>
            <a:off x="1828800" y="112471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One user table</a:t>
            </a:r>
          </a:p>
        </p:txBody>
      </p:sp>
      <p:sp>
        <p:nvSpPr>
          <p:cNvPr id="8" name="Step text 1"/>
          <p:cNvSpPr txBox="1"/>
          <p:nvPr/>
        </p:nvSpPr>
        <p:spPr>
          <a:xfrm>
            <a:off x="1828800" y="145389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A single User table with a 7-value Role enum keeps login and access control in one place.</a:t>
            </a:r>
          </a:p>
        </p:txBody>
      </p:sp>
      <p:sp>
        <p:nvSpPr>
          <p:cNvPr id="9" name="Step 2"/>
          <p:cNvSpPr/>
          <p:nvPr/>
        </p:nvSpPr>
        <p:spPr>
          <a:xfrm>
            <a:off x="841248" y="2148840"/>
            <a:ext cx="603504" cy="603504"/>
          </a:xfrm>
          <a:prstGeom prst="ellipse">
            <a:avLst/>
          </a:prstGeom>
          <a:solidFill>
            <a:schemeClr val="accent1"/>
          </a:solidFill>
          <a:ln w="31750">
            <a:solidFill>
              <a:schemeClr val="tx1"/>
            </a:solidFill>
            <a:prstDash val="solid"/>
          </a:ln>
        </p:spPr>
      </p:sp>
      <p:pic>
        <p:nvPicPr>
          <p:cNvPr id="10" name="Step icon 2" descr="One-to-one patient profile"/>
          <p:cNvPicPr>
            <a:picLocks noChangeAspect="1"/>
          </p:cNvPicPr>
          <p:nvPr/>
        </p:nvPicPr>
        <p:blipFill>
          <a:blip r:embed="rId3"/>
          <a:stretch>
            <a:fillRect/>
          </a:stretch>
        </p:blipFill>
        <p:spPr>
          <a:xfrm>
            <a:off x="987552" y="2295144"/>
            <a:ext cx="310896" cy="310896"/>
          </a:xfrm>
          <a:prstGeom prst="rect">
            <a:avLst/>
          </a:prstGeom>
        </p:spPr>
      </p:pic>
      <p:sp>
        <p:nvSpPr>
          <p:cNvPr id="11" name="Step title 2"/>
          <p:cNvSpPr txBox="1"/>
          <p:nvPr/>
        </p:nvSpPr>
        <p:spPr>
          <a:xfrm>
            <a:off x="1828800" y="213055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One-to-one patient profile</a:t>
            </a:r>
          </a:p>
        </p:txBody>
      </p:sp>
      <p:sp>
        <p:nvSpPr>
          <p:cNvPr id="12" name="Step text 2"/>
          <p:cNvSpPr txBox="1"/>
          <p:nvPr/>
        </p:nvSpPr>
        <p:spPr>
          <a:xfrm>
            <a:off x="1828800" y="245973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Patient details sit in PatientProfile, which is deleted together with its user.</a:t>
            </a:r>
          </a:p>
        </p:txBody>
      </p:sp>
      <p:sp>
        <p:nvSpPr>
          <p:cNvPr id="13" name="Step 3"/>
          <p:cNvSpPr/>
          <p:nvPr/>
        </p:nvSpPr>
        <p:spPr>
          <a:xfrm>
            <a:off x="841248" y="3154680"/>
            <a:ext cx="603504" cy="603504"/>
          </a:xfrm>
          <a:prstGeom prst="ellipse">
            <a:avLst/>
          </a:prstGeom>
          <a:solidFill>
            <a:schemeClr val="accent1"/>
          </a:solidFill>
          <a:ln w="31750">
            <a:solidFill>
              <a:schemeClr val="tx1"/>
            </a:solidFill>
            <a:prstDash val="solid"/>
          </a:ln>
        </p:spPr>
      </p:sp>
      <p:pic>
        <p:nvPicPr>
          <p:cNvPr id="14" name="Step icon 3" descr="Ranges copied onto orders"/>
          <p:cNvPicPr>
            <a:picLocks noChangeAspect="1"/>
          </p:cNvPicPr>
          <p:nvPr/>
        </p:nvPicPr>
        <p:blipFill>
          <a:blip r:embed="rId4"/>
          <a:stretch>
            <a:fillRect/>
          </a:stretch>
        </p:blipFill>
        <p:spPr>
          <a:xfrm>
            <a:off x="987552" y="3300984"/>
            <a:ext cx="310896" cy="310896"/>
          </a:xfrm>
          <a:prstGeom prst="rect">
            <a:avLst/>
          </a:prstGeom>
        </p:spPr>
      </p:pic>
      <p:sp>
        <p:nvSpPr>
          <p:cNvPr id="15" name="Step title 3"/>
          <p:cNvSpPr txBox="1"/>
          <p:nvPr/>
        </p:nvSpPr>
        <p:spPr>
          <a:xfrm>
            <a:off x="1828800" y="313639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Ranges copied onto orders</a:t>
            </a:r>
          </a:p>
        </p:txBody>
      </p:sp>
      <p:sp>
        <p:nvSpPr>
          <p:cNvPr id="16" name="Step text 3"/>
          <p:cNvSpPr txBox="1"/>
          <p:nvPr/>
        </p:nvSpPr>
        <p:spPr>
          <a:xfrm>
            <a:off x="1828800" y="346557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Lab reference ranges are copied onto each order, so old results never change meaning.</a:t>
            </a:r>
          </a:p>
        </p:txBody>
      </p:sp>
      <p:sp>
        <p:nvSpPr>
          <p:cNvPr id="17" name="Step 4"/>
          <p:cNvSpPr/>
          <p:nvPr/>
        </p:nvSpPr>
        <p:spPr>
          <a:xfrm>
            <a:off x="841248" y="4160520"/>
            <a:ext cx="603504" cy="603504"/>
          </a:xfrm>
          <a:prstGeom prst="ellipse">
            <a:avLst/>
          </a:prstGeom>
          <a:solidFill>
            <a:schemeClr val="accent1"/>
          </a:solidFill>
          <a:ln w="31750">
            <a:solidFill>
              <a:schemeClr val="tx1"/>
            </a:solidFill>
            <a:prstDash val="solid"/>
          </a:ln>
        </p:spPr>
      </p:sp>
      <p:pic>
        <p:nvPicPr>
          <p:cNvPr id="18" name="Step icon 4" descr="Deactivate, never delete"/>
          <p:cNvPicPr>
            <a:picLocks noChangeAspect="1"/>
          </p:cNvPicPr>
          <p:nvPr/>
        </p:nvPicPr>
        <p:blipFill>
          <a:blip r:embed="rId5"/>
          <a:stretch>
            <a:fillRect/>
          </a:stretch>
        </p:blipFill>
        <p:spPr>
          <a:xfrm>
            <a:off x="987552" y="4306824"/>
            <a:ext cx="310896" cy="310896"/>
          </a:xfrm>
          <a:prstGeom prst="rect">
            <a:avLst/>
          </a:prstGeom>
        </p:spPr>
      </p:pic>
      <p:sp>
        <p:nvSpPr>
          <p:cNvPr id="19" name="Step title 4"/>
          <p:cNvSpPr txBox="1"/>
          <p:nvPr/>
        </p:nvSpPr>
        <p:spPr>
          <a:xfrm>
            <a:off x="1828800" y="414223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Deactivate, never delete</a:t>
            </a:r>
          </a:p>
        </p:txBody>
      </p:sp>
      <p:sp>
        <p:nvSpPr>
          <p:cNvPr id="20" name="Step text 4"/>
          <p:cNvSpPr txBox="1"/>
          <p:nvPr/>
        </p:nvSpPr>
        <p:spPr>
          <a:xfrm>
            <a:off x="1828800" y="447141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Users are deactivated rather than deleted, so clinical history and audit trails survive.</a:t>
            </a:r>
          </a:p>
        </p:txBody>
      </p:sp>
      <p:pic>
        <p:nvPicPr>
          <p:cNvPr id="21" name="Decoration" descr="Decorative medical illustration"/>
          <p:cNvPicPr>
            <a:picLocks noChangeAspect="1"/>
          </p:cNvPicPr>
          <p:nvPr/>
        </p:nvPicPr>
        <p:blipFill>
          <a:blip r:embed="rId6"/>
          <a:stretch>
            <a:fillRect/>
          </a:stretch>
        </p:blipFill>
        <p:spPr>
          <a:xfrm>
            <a:off x="10058400" y="2011680"/>
            <a:ext cx="2200000" cy="2200000"/>
          </a:xfrm>
          <a:prstGeom prst="rect">
            <a:avLst/>
          </a:prstGeom>
        </p:spPr>
      </p:pic>
      <p:sp>
        <p:nvSpPr>
          <p:cNvPr id="22" name="Slide Number Placeholder"/>
          <p:cNvSpPr>
            <a:spLocks noGrp="1"/>
          </p:cNvSpPr>
          <p:nvPr>
            <p:ph type="sldNum" sz="quarter" idx="4294967295"/>
          </p:nvPr>
        </p:nvSpPr>
        <p:spPr>
          <a:xfrm>
            <a:off x="11338560" y="6473952"/>
            <a:ext cx="457200" cy="228600"/>
          </a:xfrm>
          <a:prstGeom prst="rect">
            <a:avLst/>
          </a:prstGeom>
        </p:spPr>
        <p:txBody>
          <a:bodyPr/>
          <a:lstStyle>
            <a:lvl1pPr>
              <a:defRPr sz="1000">
                <a:solidFill>
                  <a:srgbClr val="3F457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alg_auth">
    <p:spTree>
      <p:nvGrpSpPr>
        <p:cNvPr id="1" name=""/>
        <p:cNvGrpSpPr/>
        <p:nvPr/>
      </p:nvGrpSpPr>
      <p:grpSpPr>
        <a:xfrm>
          <a:off x="0" y="0"/>
          <a:ext cx="0" cy="0"/>
          <a:chOff x="0" y="0"/>
          <a:chExt cx="0" cy="0"/>
        </a:xfrm>
      </p:grpSpPr>
      <p:pic>
        <p:nvPicPr>
          <p:cNvPr id="2" name="Label Technical Design · Authentication" descr=""/>
          <p:cNvPicPr>
            <a:picLocks noChangeAspect="1"/>
          </p:cNvPicPr>
          <p:nvPr/>
        </p:nvPicPr>
        <p:blipFill>
          <a:blip r:embed="rId1"/>
          <a:stretch>
            <a:fillRect/>
          </a:stretch>
        </p:blipFill>
        <p:spPr>
          <a:xfrm>
            <a:off x="640080" y="274320"/>
            <a:ext cx="4396000" cy="457200"/>
          </a:xfrm>
          <a:prstGeom prst="rect">
            <a:avLst/>
          </a:prstGeom>
        </p:spPr>
      </p:pic>
      <p:sp>
        <p:nvSpPr>
          <p:cNvPr id="3" name="Title"/>
          <p:cNvSpPr txBox="1"/>
          <p:nvPr/>
        </p:nvSpPr>
        <p:spPr>
          <a:xfrm>
            <a:off x="640080" y="274320"/>
            <a:ext cx="4396000" cy="457200"/>
          </a:xfrm>
          <a:prstGeom prst="rect">
            <a:avLst/>
          </a:prstGeom>
          <a:noFill/>
          <a:ln/>
        </p:spPr>
        <p:txBody>
          <a:bodyPr wrap="square" lIns="0" tIns="0" rIns="0" bIns="0" rtlCol="0" anchor="ctr"/>
          <a:lstStyle/>
          <a:p>
            <a:pPr algn="ctr" indent="0" marL="0">
              <a:buNone/>
            </a:pPr>
            <a:r>
              <a:rPr lang="en-US" sz="1600" b="1" dirty="0">
                <a:solidFill>
                  <a:schemeClr val="tx1"/>
                </a:solidFill>
              </a:rPr>
              <a:t>Technical Design · Authentication</a:t>
            </a:r>
          </a:p>
        </p:txBody>
      </p:sp>
      <p:sp>
        <p:nvSpPr>
          <p:cNvPr id="4" name="Stepper line"/>
          <p:cNvSpPr/>
          <p:nvPr/>
        </p:nvSpPr>
        <p:spPr>
          <a:xfrm>
            <a:off x="1143000" y="1444752"/>
            <a:ext cx="0" cy="4023360"/>
          </a:xfrm>
          <a:prstGeom prst="line">
            <a:avLst/>
          </a:prstGeom>
          <a:noFill/>
          <a:ln w="38100">
            <a:solidFill>
              <a:schemeClr val="accent2"/>
            </a:solidFill>
            <a:prstDash val="solid"/>
          </a:ln>
        </p:spPr>
      </p:sp>
      <p:sp>
        <p:nvSpPr>
          <p:cNvPr id="5" name="Step 1"/>
          <p:cNvSpPr/>
          <p:nvPr/>
        </p:nvSpPr>
        <p:spPr>
          <a:xfrm>
            <a:off x="841248" y="1143000"/>
            <a:ext cx="603504" cy="603504"/>
          </a:xfrm>
          <a:prstGeom prst="ellipse">
            <a:avLst/>
          </a:prstGeom>
          <a:solidFill>
            <a:schemeClr val="accent1"/>
          </a:solidFill>
          <a:ln w="31750">
            <a:solidFill>
              <a:schemeClr val="tx1"/>
            </a:solidFill>
            <a:prstDash val="solid"/>
          </a:ln>
        </p:spPr>
      </p:sp>
      <p:pic>
        <p:nvPicPr>
          <p:cNvPr id="6" name="Step icon 1" descr="Passwords"/>
          <p:cNvPicPr>
            <a:picLocks noChangeAspect="1"/>
          </p:cNvPicPr>
          <p:nvPr/>
        </p:nvPicPr>
        <p:blipFill>
          <a:blip r:embed="rId2"/>
          <a:stretch>
            <a:fillRect/>
          </a:stretch>
        </p:blipFill>
        <p:spPr>
          <a:xfrm>
            <a:off x="987552" y="1289304"/>
            <a:ext cx="310896" cy="310896"/>
          </a:xfrm>
          <a:prstGeom prst="rect">
            <a:avLst/>
          </a:prstGeom>
        </p:spPr>
      </p:pic>
      <p:sp>
        <p:nvSpPr>
          <p:cNvPr id="7" name="Step title 1"/>
          <p:cNvSpPr txBox="1"/>
          <p:nvPr/>
        </p:nvSpPr>
        <p:spPr>
          <a:xfrm>
            <a:off x="1828800" y="112471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Passwords</a:t>
            </a:r>
          </a:p>
        </p:txBody>
      </p:sp>
      <p:sp>
        <p:nvSpPr>
          <p:cNvPr id="8" name="Step text 1"/>
          <p:cNvSpPr txBox="1"/>
          <p:nvPr/>
        </p:nvSpPr>
        <p:spPr>
          <a:xfrm>
            <a:off x="1828800" y="145389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Hashed with bcrypt at 12 rounds, which makes brute-forcing stolen hashes slow.</a:t>
            </a:r>
          </a:p>
        </p:txBody>
      </p:sp>
      <p:sp>
        <p:nvSpPr>
          <p:cNvPr id="9" name="Step 2"/>
          <p:cNvSpPr/>
          <p:nvPr/>
        </p:nvSpPr>
        <p:spPr>
          <a:xfrm>
            <a:off x="841248" y="2148840"/>
            <a:ext cx="603504" cy="603504"/>
          </a:xfrm>
          <a:prstGeom prst="ellipse">
            <a:avLst/>
          </a:prstGeom>
          <a:solidFill>
            <a:schemeClr val="accent1"/>
          </a:solidFill>
          <a:ln w="31750">
            <a:solidFill>
              <a:schemeClr val="tx1"/>
            </a:solidFill>
            <a:prstDash val="solid"/>
          </a:ln>
        </p:spPr>
      </p:sp>
      <p:pic>
        <p:nvPicPr>
          <p:cNvPr id="10" name="Step icon 2" descr="Token in an httpOnly cookie"/>
          <p:cNvPicPr>
            <a:picLocks noChangeAspect="1"/>
          </p:cNvPicPr>
          <p:nvPr/>
        </p:nvPicPr>
        <p:blipFill>
          <a:blip r:embed="rId3"/>
          <a:stretch>
            <a:fillRect/>
          </a:stretch>
        </p:blipFill>
        <p:spPr>
          <a:xfrm>
            <a:off x="987552" y="2295144"/>
            <a:ext cx="310896" cy="310896"/>
          </a:xfrm>
          <a:prstGeom prst="rect">
            <a:avLst/>
          </a:prstGeom>
        </p:spPr>
      </p:pic>
      <p:sp>
        <p:nvSpPr>
          <p:cNvPr id="11" name="Step title 2"/>
          <p:cNvSpPr txBox="1"/>
          <p:nvPr/>
        </p:nvSpPr>
        <p:spPr>
          <a:xfrm>
            <a:off x="1828800" y="213055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Token in an httpOnly cookie</a:t>
            </a:r>
          </a:p>
        </p:txBody>
      </p:sp>
      <p:sp>
        <p:nvSpPr>
          <p:cNvPr id="12" name="Step text 2"/>
          <p:cNvSpPr txBox="1"/>
          <p:nvPr/>
        </p:nvSpPr>
        <p:spPr>
          <a:xfrm>
            <a:off x="1828800" y="245973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A signed JWT (HS256) that JavaScript cannot read, so XSS cannot steal it.</a:t>
            </a:r>
          </a:p>
        </p:txBody>
      </p:sp>
      <p:sp>
        <p:nvSpPr>
          <p:cNvPr id="13" name="Step 3"/>
          <p:cNvSpPr/>
          <p:nvPr/>
        </p:nvSpPr>
        <p:spPr>
          <a:xfrm>
            <a:off x="841248" y="3154680"/>
            <a:ext cx="603504" cy="603504"/>
          </a:xfrm>
          <a:prstGeom prst="ellipse">
            <a:avLst/>
          </a:prstGeom>
          <a:solidFill>
            <a:schemeClr val="accent1"/>
          </a:solidFill>
          <a:ln w="31750">
            <a:solidFill>
              <a:schemeClr val="tx1"/>
            </a:solidFill>
            <a:prstDash val="solid"/>
          </a:ln>
        </p:spPr>
      </p:sp>
      <p:pic>
        <p:nvPicPr>
          <p:cNvPr id="14" name="Step icon 3" descr="Verified twice"/>
          <p:cNvPicPr>
            <a:picLocks noChangeAspect="1"/>
          </p:cNvPicPr>
          <p:nvPr/>
        </p:nvPicPr>
        <p:blipFill>
          <a:blip r:embed="rId4"/>
          <a:stretch>
            <a:fillRect/>
          </a:stretch>
        </p:blipFill>
        <p:spPr>
          <a:xfrm>
            <a:off x="987552" y="3300984"/>
            <a:ext cx="310896" cy="310896"/>
          </a:xfrm>
          <a:prstGeom prst="rect">
            <a:avLst/>
          </a:prstGeom>
        </p:spPr>
      </p:pic>
      <p:sp>
        <p:nvSpPr>
          <p:cNvPr id="15" name="Step title 3"/>
          <p:cNvSpPr txBox="1"/>
          <p:nvPr/>
        </p:nvSpPr>
        <p:spPr>
          <a:xfrm>
            <a:off x="1828800" y="313639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Verified twice</a:t>
            </a:r>
          </a:p>
        </p:txBody>
      </p:sp>
      <p:sp>
        <p:nvSpPr>
          <p:cNvPr id="16" name="Step text 3"/>
          <p:cNvSpPr txBox="1"/>
          <p:nvPr/>
        </p:nvSpPr>
        <p:spPr>
          <a:xfrm>
            <a:off x="1828800" y="346557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Signature and expiry are checked in the middleware and again in every API route.</a:t>
            </a:r>
          </a:p>
        </p:txBody>
      </p:sp>
      <p:sp>
        <p:nvSpPr>
          <p:cNvPr id="17" name="Step 4"/>
          <p:cNvSpPr/>
          <p:nvPr/>
        </p:nvSpPr>
        <p:spPr>
          <a:xfrm>
            <a:off x="841248" y="4160520"/>
            <a:ext cx="603504" cy="603504"/>
          </a:xfrm>
          <a:prstGeom prst="ellipse">
            <a:avLst/>
          </a:prstGeom>
          <a:solidFill>
            <a:schemeClr val="accent1"/>
          </a:solidFill>
          <a:ln w="31750">
            <a:solidFill>
              <a:schemeClr val="tx1"/>
            </a:solidFill>
            <a:prstDash val="solid"/>
          </a:ln>
        </p:spPr>
      </p:sp>
      <p:pic>
        <p:nvPicPr>
          <p:cNvPr id="18" name="Step icon 4" descr="Defence in depth"/>
          <p:cNvPicPr>
            <a:picLocks noChangeAspect="1"/>
          </p:cNvPicPr>
          <p:nvPr/>
        </p:nvPicPr>
        <p:blipFill>
          <a:blip r:embed="rId5"/>
          <a:stretch>
            <a:fillRect/>
          </a:stretch>
        </p:blipFill>
        <p:spPr>
          <a:xfrm>
            <a:off x="987552" y="4306824"/>
            <a:ext cx="310896" cy="310896"/>
          </a:xfrm>
          <a:prstGeom prst="rect">
            <a:avLst/>
          </a:prstGeom>
        </p:spPr>
      </p:pic>
      <p:sp>
        <p:nvSpPr>
          <p:cNvPr id="19" name="Step title 4"/>
          <p:cNvSpPr txBox="1"/>
          <p:nvPr/>
        </p:nvSpPr>
        <p:spPr>
          <a:xfrm>
            <a:off x="1828800" y="414223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Defence in depth</a:t>
            </a:r>
          </a:p>
        </p:txBody>
      </p:sp>
      <p:sp>
        <p:nvSpPr>
          <p:cNvPr id="20" name="Step text 4"/>
          <p:cNvSpPr txBox="1"/>
          <p:nvPr/>
        </p:nvSpPr>
        <p:spPr>
          <a:xfrm>
            <a:off x="1828800" y="447141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If the middleware is ever bypassed, the API still refuses the request.</a:t>
            </a:r>
          </a:p>
        </p:txBody>
      </p:sp>
      <p:sp>
        <p:nvSpPr>
          <p:cNvPr id="21" name="Step 5"/>
          <p:cNvSpPr/>
          <p:nvPr/>
        </p:nvSpPr>
        <p:spPr>
          <a:xfrm>
            <a:off x="841248" y="5166360"/>
            <a:ext cx="603504" cy="603504"/>
          </a:xfrm>
          <a:prstGeom prst="ellipse">
            <a:avLst/>
          </a:prstGeom>
          <a:solidFill>
            <a:schemeClr val="accent1"/>
          </a:solidFill>
          <a:ln w="31750">
            <a:solidFill>
              <a:schemeClr val="tx1"/>
            </a:solidFill>
            <a:prstDash val="solid"/>
          </a:ln>
        </p:spPr>
      </p:sp>
      <p:pic>
        <p:nvPicPr>
          <p:cNvPr id="22" name="Step icon 5" descr="Rate limiting"/>
          <p:cNvPicPr>
            <a:picLocks noChangeAspect="1"/>
          </p:cNvPicPr>
          <p:nvPr/>
        </p:nvPicPr>
        <p:blipFill>
          <a:blip r:embed="rId6"/>
          <a:stretch>
            <a:fillRect/>
          </a:stretch>
        </p:blipFill>
        <p:spPr>
          <a:xfrm>
            <a:off x="987552" y="5312664"/>
            <a:ext cx="310896" cy="310896"/>
          </a:xfrm>
          <a:prstGeom prst="rect">
            <a:avLst/>
          </a:prstGeom>
        </p:spPr>
      </p:pic>
      <p:sp>
        <p:nvSpPr>
          <p:cNvPr id="23" name="Step title 5"/>
          <p:cNvSpPr txBox="1"/>
          <p:nvPr/>
        </p:nvSpPr>
        <p:spPr>
          <a:xfrm>
            <a:off x="1828800" y="514807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Rate limiting</a:t>
            </a:r>
          </a:p>
        </p:txBody>
      </p:sp>
      <p:sp>
        <p:nvSpPr>
          <p:cNvPr id="24" name="Step text 5"/>
          <p:cNvSpPr txBox="1"/>
          <p:nvPr/>
        </p:nvSpPr>
        <p:spPr>
          <a:xfrm>
            <a:off x="1828800" y="547725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5 login attempts per 15 minutes, plus security headers on responses.</a:t>
            </a:r>
          </a:p>
        </p:txBody>
      </p:sp>
      <p:pic>
        <p:nvPicPr>
          <p:cNvPr id="25" name="Decoration" descr="Decorative medical illustration"/>
          <p:cNvPicPr>
            <a:picLocks noChangeAspect="1"/>
          </p:cNvPicPr>
          <p:nvPr/>
        </p:nvPicPr>
        <p:blipFill>
          <a:blip r:embed="rId7"/>
          <a:stretch>
            <a:fillRect/>
          </a:stretch>
        </p:blipFill>
        <p:spPr>
          <a:xfrm>
            <a:off x="10058400" y="2011680"/>
            <a:ext cx="2200000" cy="2200000"/>
          </a:xfrm>
          <a:prstGeom prst="rect">
            <a:avLst/>
          </a:prstGeom>
        </p:spPr>
      </p:pic>
      <p:sp>
        <p:nvSpPr>
          <p:cNvPr id="26" name="Slide Number Placeholder"/>
          <p:cNvSpPr>
            <a:spLocks noGrp="1"/>
          </p:cNvSpPr>
          <p:nvPr>
            <p:ph type="sldNum" sz="quarter" idx="4294967295"/>
          </p:nvPr>
        </p:nvSpPr>
        <p:spPr>
          <a:xfrm>
            <a:off x="11338560" y="6473952"/>
            <a:ext cx="457200" cy="228600"/>
          </a:xfrm>
          <a:prstGeom prst="rect">
            <a:avLst/>
          </a:prstGeom>
        </p:spPr>
        <p:txBody>
          <a:bodyPr/>
          <a:lstStyle>
            <a:lvl1pPr>
              <a:defRPr sz="1000">
                <a:solidFill>
                  <a:srgbClr val="3F457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alg_dispense">
    <p:spTree>
      <p:nvGrpSpPr>
        <p:cNvPr id="1" name=""/>
        <p:cNvGrpSpPr/>
        <p:nvPr/>
      </p:nvGrpSpPr>
      <p:grpSpPr>
        <a:xfrm>
          <a:off x="0" y="0"/>
          <a:ext cx="0" cy="0"/>
          <a:chOff x="0" y="0"/>
          <a:chExt cx="0" cy="0"/>
        </a:xfrm>
      </p:grpSpPr>
      <p:pic>
        <p:nvPicPr>
          <p:cNvPr id="2" name="Label Technical Design · Dispensing" descr=""/>
          <p:cNvPicPr>
            <a:picLocks noChangeAspect="1"/>
          </p:cNvPicPr>
          <p:nvPr/>
        </p:nvPicPr>
        <p:blipFill>
          <a:blip r:embed="rId1"/>
          <a:stretch>
            <a:fillRect/>
          </a:stretch>
        </p:blipFill>
        <p:spPr>
          <a:xfrm>
            <a:off x="640080" y="274320"/>
            <a:ext cx="3948000" cy="457200"/>
          </a:xfrm>
          <a:prstGeom prst="rect">
            <a:avLst/>
          </a:prstGeom>
        </p:spPr>
      </p:pic>
      <p:sp>
        <p:nvSpPr>
          <p:cNvPr id="3" name="Title"/>
          <p:cNvSpPr txBox="1"/>
          <p:nvPr/>
        </p:nvSpPr>
        <p:spPr>
          <a:xfrm>
            <a:off x="640080" y="274320"/>
            <a:ext cx="3948000" cy="457200"/>
          </a:xfrm>
          <a:prstGeom prst="rect">
            <a:avLst/>
          </a:prstGeom>
          <a:noFill/>
          <a:ln/>
        </p:spPr>
        <p:txBody>
          <a:bodyPr wrap="square" lIns="0" tIns="0" rIns="0" bIns="0" rtlCol="0" anchor="ctr"/>
          <a:lstStyle/>
          <a:p>
            <a:pPr algn="ctr" indent="0" marL="0">
              <a:buNone/>
            </a:pPr>
            <a:r>
              <a:rPr lang="en-US" sz="1600" b="1" dirty="0">
                <a:solidFill>
                  <a:schemeClr val="tx1"/>
                </a:solidFill>
              </a:rPr>
              <a:t>Technical Design · Dispensing</a:t>
            </a:r>
          </a:p>
        </p:txBody>
      </p:sp>
      <p:sp>
        <p:nvSpPr>
          <p:cNvPr id="4" name="Stepper line"/>
          <p:cNvSpPr/>
          <p:nvPr/>
        </p:nvSpPr>
        <p:spPr>
          <a:xfrm>
            <a:off x="1143000" y="1444752"/>
            <a:ext cx="0" cy="3017520"/>
          </a:xfrm>
          <a:prstGeom prst="line">
            <a:avLst/>
          </a:prstGeom>
          <a:noFill/>
          <a:ln w="38100">
            <a:solidFill>
              <a:schemeClr val="accent2"/>
            </a:solidFill>
            <a:prstDash val="solid"/>
          </a:ln>
        </p:spPr>
      </p:sp>
      <p:sp>
        <p:nvSpPr>
          <p:cNvPr id="5" name="Step 1"/>
          <p:cNvSpPr/>
          <p:nvPr/>
        </p:nvSpPr>
        <p:spPr>
          <a:xfrm>
            <a:off x="841248" y="1143000"/>
            <a:ext cx="603504" cy="603504"/>
          </a:xfrm>
          <a:prstGeom prst="ellipse">
            <a:avLst/>
          </a:prstGeom>
          <a:solidFill>
            <a:schemeClr val="accent1"/>
          </a:solidFill>
          <a:ln w="31750">
            <a:solidFill>
              <a:schemeClr val="tx1"/>
            </a:solidFill>
            <a:prstDash val="solid"/>
          </a:ln>
        </p:spPr>
      </p:sp>
      <p:pic>
        <p:nvPicPr>
          <p:cNvPr id="6" name="Step icon 1" descr="One database transaction"/>
          <p:cNvPicPr>
            <a:picLocks noChangeAspect="1"/>
          </p:cNvPicPr>
          <p:nvPr/>
        </p:nvPicPr>
        <p:blipFill>
          <a:blip r:embed="rId2"/>
          <a:stretch>
            <a:fillRect/>
          </a:stretch>
        </p:blipFill>
        <p:spPr>
          <a:xfrm>
            <a:off x="987552" y="1289304"/>
            <a:ext cx="310896" cy="310896"/>
          </a:xfrm>
          <a:prstGeom prst="rect">
            <a:avLst/>
          </a:prstGeom>
        </p:spPr>
      </p:pic>
      <p:sp>
        <p:nvSpPr>
          <p:cNvPr id="7" name="Step title 1"/>
          <p:cNvSpPr txBox="1"/>
          <p:nvPr/>
        </p:nvSpPr>
        <p:spPr>
          <a:xfrm>
            <a:off x="1828800" y="112471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One database transaction</a:t>
            </a:r>
          </a:p>
        </p:txBody>
      </p:sp>
      <p:sp>
        <p:nvSpPr>
          <p:cNvPr id="8" name="Step text 1"/>
          <p:cNvSpPr txBox="1"/>
          <p:nvPr/>
        </p:nvSpPr>
        <p:spPr>
          <a:xfrm>
            <a:off x="1828800" y="145389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Claiming the prescription and deducting stock happen together or not at all.</a:t>
            </a:r>
          </a:p>
        </p:txBody>
      </p:sp>
      <p:sp>
        <p:nvSpPr>
          <p:cNvPr id="9" name="Step 2"/>
          <p:cNvSpPr/>
          <p:nvPr/>
        </p:nvSpPr>
        <p:spPr>
          <a:xfrm>
            <a:off x="841248" y="2148840"/>
            <a:ext cx="603504" cy="603504"/>
          </a:xfrm>
          <a:prstGeom prst="ellipse">
            <a:avLst/>
          </a:prstGeom>
          <a:solidFill>
            <a:schemeClr val="accent1"/>
          </a:solidFill>
          <a:ln w="31750">
            <a:solidFill>
              <a:schemeClr val="tx1"/>
            </a:solidFill>
            <a:prstDash val="solid"/>
          </a:ln>
        </p:spPr>
      </p:sp>
      <p:pic>
        <p:nvPicPr>
          <p:cNvPr id="10" name="Step icon 2" descr="Earliest expiry first (FEFO)"/>
          <p:cNvPicPr>
            <a:picLocks noChangeAspect="1"/>
          </p:cNvPicPr>
          <p:nvPr/>
        </p:nvPicPr>
        <p:blipFill>
          <a:blip r:embed="rId3"/>
          <a:stretch>
            <a:fillRect/>
          </a:stretch>
        </p:blipFill>
        <p:spPr>
          <a:xfrm>
            <a:off x="987552" y="2295144"/>
            <a:ext cx="310896" cy="310896"/>
          </a:xfrm>
          <a:prstGeom prst="rect">
            <a:avLst/>
          </a:prstGeom>
        </p:spPr>
      </p:pic>
      <p:sp>
        <p:nvSpPr>
          <p:cNvPr id="11" name="Step title 2"/>
          <p:cNvSpPr txBox="1"/>
          <p:nvPr/>
        </p:nvSpPr>
        <p:spPr>
          <a:xfrm>
            <a:off x="1828800" y="213055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Earliest expiry first (FEFO)</a:t>
            </a:r>
          </a:p>
        </p:txBody>
      </p:sp>
      <p:sp>
        <p:nvSpPr>
          <p:cNvPr id="12" name="Step text 2"/>
          <p:cNvSpPr txBox="1"/>
          <p:nvPr/>
        </p:nvSpPr>
        <p:spPr>
          <a:xfrm>
            <a:off x="1828800" y="245973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Stock comes from the batch that expires soonest, so older stock is used first.</a:t>
            </a:r>
          </a:p>
        </p:txBody>
      </p:sp>
      <p:sp>
        <p:nvSpPr>
          <p:cNvPr id="13" name="Step 3"/>
          <p:cNvSpPr/>
          <p:nvPr/>
        </p:nvSpPr>
        <p:spPr>
          <a:xfrm>
            <a:off x="841248" y="3154680"/>
            <a:ext cx="603504" cy="603504"/>
          </a:xfrm>
          <a:prstGeom prst="ellipse">
            <a:avLst/>
          </a:prstGeom>
          <a:solidFill>
            <a:schemeClr val="accent1"/>
          </a:solidFill>
          <a:ln w="31750">
            <a:solidFill>
              <a:schemeClr val="tx1"/>
            </a:solidFill>
            <a:prstDash val="solid"/>
          </a:ln>
        </p:spPr>
      </p:sp>
      <p:pic>
        <p:nvPicPr>
          <p:cNvPr id="14" name="Step icon 3" descr="Never below zero"/>
          <p:cNvPicPr>
            <a:picLocks noChangeAspect="1"/>
          </p:cNvPicPr>
          <p:nvPr/>
        </p:nvPicPr>
        <p:blipFill>
          <a:blip r:embed="rId4"/>
          <a:stretch>
            <a:fillRect/>
          </a:stretch>
        </p:blipFill>
        <p:spPr>
          <a:xfrm>
            <a:off x="987552" y="3300984"/>
            <a:ext cx="310896" cy="310896"/>
          </a:xfrm>
          <a:prstGeom prst="rect">
            <a:avLst/>
          </a:prstGeom>
        </p:spPr>
      </p:pic>
      <p:sp>
        <p:nvSpPr>
          <p:cNvPr id="15" name="Step title 3"/>
          <p:cNvSpPr txBox="1"/>
          <p:nvPr/>
        </p:nvSpPr>
        <p:spPr>
          <a:xfrm>
            <a:off x="1828800" y="313639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Never below zero</a:t>
            </a:r>
          </a:p>
        </p:txBody>
      </p:sp>
      <p:sp>
        <p:nvSpPr>
          <p:cNvPr id="16" name="Step text 3"/>
          <p:cNvSpPr txBox="1"/>
          <p:nvPr/>
        </p:nvSpPr>
        <p:spPr>
          <a:xfrm>
            <a:off x="1828800" y="346557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If stock is short, the whole dispense rolls back.</a:t>
            </a:r>
          </a:p>
        </p:txBody>
      </p:sp>
      <p:sp>
        <p:nvSpPr>
          <p:cNvPr id="17" name="Step 4"/>
          <p:cNvSpPr/>
          <p:nvPr/>
        </p:nvSpPr>
        <p:spPr>
          <a:xfrm>
            <a:off x="841248" y="4160520"/>
            <a:ext cx="603504" cy="603504"/>
          </a:xfrm>
          <a:prstGeom prst="ellipse">
            <a:avLst/>
          </a:prstGeom>
          <a:solidFill>
            <a:schemeClr val="accent1"/>
          </a:solidFill>
          <a:ln w="31750">
            <a:solidFill>
              <a:schemeClr val="tx1"/>
            </a:solidFill>
            <a:prstDash val="solid"/>
          </a:ln>
        </p:spPr>
      </p:sp>
      <p:pic>
        <p:nvPicPr>
          <p:cNvPr id="18" name="Step icon 4" descr="Records and stock always agree"/>
          <p:cNvPicPr>
            <a:picLocks noChangeAspect="1"/>
          </p:cNvPicPr>
          <p:nvPr/>
        </p:nvPicPr>
        <p:blipFill>
          <a:blip r:embed="rId5"/>
          <a:stretch>
            <a:fillRect/>
          </a:stretch>
        </p:blipFill>
        <p:spPr>
          <a:xfrm>
            <a:off x="987552" y="4306824"/>
            <a:ext cx="310896" cy="310896"/>
          </a:xfrm>
          <a:prstGeom prst="rect">
            <a:avLst/>
          </a:prstGeom>
        </p:spPr>
      </p:pic>
      <p:sp>
        <p:nvSpPr>
          <p:cNvPr id="19" name="Step title 4"/>
          <p:cNvSpPr txBox="1"/>
          <p:nvPr/>
        </p:nvSpPr>
        <p:spPr>
          <a:xfrm>
            <a:off x="1828800" y="414223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Records and stock always agree</a:t>
            </a:r>
          </a:p>
        </p:txBody>
      </p:sp>
      <p:sp>
        <p:nvSpPr>
          <p:cNvPr id="20" name="Step text 4"/>
          <p:cNvSpPr txBox="1"/>
          <p:nvPr/>
        </p:nvSpPr>
        <p:spPr>
          <a:xfrm>
            <a:off x="1828800" y="447141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A failure leaves nothing half-done, so prescription status and inventory cannot disagree.</a:t>
            </a:r>
          </a:p>
        </p:txBody>
      </p:sp>
      <p:pic>
        <p:nvPicPr>
          <p:cNvPr id="21" name="Decoration" descr="Decorative medical illustration"/>
          <p:cNvPicPr>
            <a:picLocks noChangeAspect="1"/>
          </p:cNvPicPr>
          <p:nvPr/>
        </p:nvPicPr>
        <p:blipFill>
          <a:blip r:embed="rId6"/>
          <a:stretch>
            <a:fillRect/>
          </a:stretch>
        </p:blipFill>
        <p:spPr>
          <a:xfrm>
            <a:off x="10058400" y="2011680"/>
            <a:ext cx="2200000" cy="2200000"/>
          </a:xfrm>
          <a:prstGeom prst="rect">
            <a:avLst/>
          </a:prstGeom>
        </p:spPr>
      </p:pic>
      <p:sp>
        <p:nvSpPr>
          <p:cNvPr id="22" name="Slide Number Placeholder"/>
          <p:cNvSpPr>
            <a:spLocks noGrp="1"/>
          </p:cNvSpPr>
          <p:nvPr>
            <p:ph type="sldNum" sz="quarter" idx="4294967295"/>
          </p:nvPr>
        </p:nvSpPr>
        <p:spPr>
          <a:xfrm>
            <a:off x="11338560" y="6473952"/>
            <a:ext cx="457200" cy="228600"/>
          </a:xfrm>
          <a:prstGeom prst="rect">
            <a:avLst/>
          </a:prstGeom>
        </p:spPr>
        <p:txBody>
          <a:bodyPr/>
          <a:lstStyle>
            <a:lvl1pPr>
              <a:defRPr sz="1000">
                <a:solidFill>
                  <a:srgbClr val="3F457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alg_lab">
    <p:spTree>
      <p:nvGrpSpPr>
        <p:cNvPr id="1" name=""/>
        <p:cNvGrpSpPr/>
        <p:nvPr/>
      </p:nvGrpSpPr>
      <p:grpSpPr>
        <a:xfrm>
          <a:off x="0" y="0"/>
          <a:ext cx="0" cy="0"/>
          <a:chOff x="0" y="0"/>
          <a:chExt cx="0" cy="0"/>
        </a:xfrm>
      </p:grpSpPr>
      <p:pic>
        <p:nvPicPr>
          <p:cNvPr id="2" name="Label Technical Design · Lab result flagging" descr=""/>
          <p:cNvPicPr>
            <a:picLocks noChangeAspect="1"/>
          </p:cNvPicPr>
          <p:nvPr/>
        </p:nvPicPr>
        <p:blipFill>
          <a:blip r:embed="rId1"/>
          <a:stretch>
            <a:fillRect/>
          </a:stretch>
        </p:blipFill>
        <p:spPr>
          <a:xfrm>
            <a:off x="640080" y="274320"/>
            <a:ext cx="4956000" cy="457200"/>
          </a:xfrm>
          <a:prstGeom prst="rect">
            <a:avLst/>
          </a:prstGeom>
        </p:spPr>
      </p:pic>
      <p:sp>
        <p:nvSpPr>
          <p:cNvPr id="3" name="Title"/>
          <p:cNvSpPr txBox="1"/>
          <p:nvPr/>
        </p:nvSpPr>
        <p:spPr>
          <a:xfrm>
            <a:off x="640080" y="274320"/>
            <a:ext cx="4956000" cy="457200"/>
          </a:xfrm>
          <a:prstGeom prst="rect">
            <a:avLst/>
          </a:prstGeom>
          <a:noFill/>
          <a:ln/>
        </p:spPr>
        <p:txBody>
          <a:bodyPr wrap="square" lIns="0" tIns="0" rIns="0" bIns="0" rtlCol="0" anchor="ctr"/>
          <a:lstStyle/>
          <a:p>
            <a:pPr algn="ctr" indent="0" marL="0">
              <a:buNone/>
            </a:pPr>
            <a:r>
              <a:rPr lang="en-US" sz="1600" b="1" dirty="0">
                <a:solidFill>
                  <a:schemeClr val="tx1"/>
                </a:solidFill>
              </a:rPr>
              <a:t>Technical Design · Lab result flagging</a:t>
            </a:r>
          </a:p>
        </p:txBody>
      </p:sp>
      <p:sp>
        <p:nvSpPr>
          <p:cNvPr id="4" name="Stepper line"/>
          <p:cNvSpPr/>
          <p:nvPr/>
        </p:nvSpPr>
        <p:spPr>
          <a:xfrm>
            <a:off x="1143000" y="1444752"/>
            <a:ext cx="0" cy="3017520"/>
          </a:xfrm>
          <a:prstGeom prst="line">
            <a:avLst/>
          </a:prstGeom>
          <a:noFill/>
          <a:ln w="38100">
            <a:solidFill>
              <a:schemeClr val="accent2"/>
            </a:solidFill>
            <a:prstDash val="solid"/>
          </a:ln>
        </p:spPr>
      </p:sp>
      <p:sp>
        <p:nvSpPr>
          <p:cNvPr id="5" name="Step 1"/>
          <p:cNvSpPr/>
          <p:nvPr/>
        </p:nvSpPr>
        <p:spPr>
          <a:xfrm>
            <a:off x="841248" y="1143000"/>
            <a:ext cx="603504" cy="603504"/>
          </a:xfrm>
          <a:prstGeom prst="ellipse">
            <a:avLst/>
          </a:prstGeom>
          <a:solidFill>
            <a:schemeClr val="accent1"/>
          </a:solidFill>
          <a:ln w="31750">
            <a:solidFill>
              <a:schemeClr val="tx1"/>
            </a:solidFill>
            <a:prstDash val="solid"/>
          </a:ln>
        </p:spPr>
      </p:sp>
      <p:pic>
        <p:nvPicPr>
          <p:cNvPr id="6" name="Step icon 1" descr="The server decides the flag"/>
          <p:cNvPicPr>
            <a:picLocks noChangeAspect="1"/>
          </p:cNvPicPr>
          <p:nvPr/>
        </p:nvPicPr>
        <p:blipFill>
          <a:blip r:embed="rId2"/>
          <a:stretch>
            <a:fillRect/>
          </a:stretch>
        </p:blipFill>
        <p:spPr>
          <a:xfrm>
            <a:off x="987552" y="1289304"/>
            <a:ext cx="310896" cy="310896"/>
          </a:xfrm>
          <a:prstGeom prst="rect">
            <a:avLst/>
          </a:prstGeom>
        </p:spPr>
      </p:pic>
      <p:sp>
        <p:nvSpPr>
          <p:cNvPr id="7" name="Step title 1"/>
          <p:cNvSpPr txBox="1"/>
          <p:nvPr/>
        </p:nvSpPr>
        <p:spPr>
          <a:xfrm>
            <a:off x="1828800" y="112471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The server decides the flag</a:t>
            </a:r>
          </a:p>
        </p:txBody>
      </p:sp>
      <p:sp>
        <p:nvSpPr>
          <p:cNvPr id="8" name="Step text 1"/>
          <p:cNvSpPr txBox="1"/>
          <p:nvPr/>
        </p:nvSpPr>
        <p:spPr>
          <a:xfrm>
            <a:off x="1828800" y="145389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Each result is compared with its reference range and labelled normal, low, high or critical.</a:t>
            </a:r>
          </a:p>
        </p:txBody>
      </p:sp>
      <p:sp>
        <p:nvSpPr>
          <p:cNvPr id="9" name="Step 2"/>
          <p:cNvSpPr/>
          <p:nvPr/>
        </p:nvSpPr>
        <p:spPr>
          <a:xfrm>
            <a:off x="841248" y="2148840"/>
            <a:ext cx="603504" cy="603504"/>
          </a:xfrm>
          <a:prstGeom prst="ellipse">
            <a:avLst/>
          </a:prstGeom>
          <a:solidFill>
            <a:schemeClr val="accent1"/>
          </a:solidFill>
          <a:ln w="31750">
            <a:solidFill>
              <a:schemeClr val="tx1"/>
            </a:solidFill>
            <a:prstDash val="solid"/>
          </a:ln>
        </p:spPr>
      </p:sp>
      <p:pic>
        <p:nvPicPr>
          <p:cNvPr id="10" name="Step icon 2" descr="Critical limits first"/>
          <p:cNvPicPr>
            <a:picLocks noChangeAspect="1"/>
          </p:cNvPicPr>
          <p:nvPr/>
        </p:nvPicPr>
        <p:blipFill>
          <a:blip r:embed="rId3"/>
          <a:stretch>
            <a:fillRect/>
          </a:stretch>
        </p:blipFill>
        <p:spPr>
          <a:xfrm>
            <a:off x="987552" y="2295144"/>
            <a:ext cx="310896" cy="310896"/>
          </a:xfrm>
          <a:prstGeom prst="rect">
            <a:avLst/>
          </a:prstGeom>
        </p:spPr>
      </p:pic>
      <p:sp>
        <p:nvSpPr>
          <p:cNvPr id="11" name="Step title 2"/>
          <p:cNvSpPr txBox="1"/>
          <p:nvPr/>
        </p:nvSpPr>
        <p:spPr>
          <a:xfrm>
            <a:off x="1828800" y="213055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Critical limits first</a:t>
            </a:r>
          </a:p>
        </p:txBody>
      </p:sp>
      <p:sp>
        <p:nvSpPr>
          <p:cNvPr id="12" name="Step text 2"/>
          <p:cNvSpPr txBox="1"/>
          <p:nvPr/>
        </p:nvSpPr>
        <p:spPr>
          <a:xfrm>
            <a:off x="1828800" y="245973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The server checks critical limits first, then the normal range.</a:t>
            </a:r>
          </a:p>
        </p:txBody>
      </p:sp>
      <p:sp>
        <p:nvSpPr>
          <p:cNvPr id="13" name="Step 3"/>
          <p:cNvSpPr/>
          <p:nvPr/>
        </p:nvSpPr>
        <p:spPr>
          <a:xfrm>
            <a:off x="841248" y="3154680"/>
            <a:ext cx="603504" cy="603504"/>
          </a:xfrm>
          <a:prstGeom prst="ellipse">
            <a:avLst/>
          </a:prstGeom>
          <a:solidFill>
            <a:schemeClr val="accent1"/>
          </a:solidFill>
          <a:ln w="31750">
            <a:solidFill>
              <a:schemeClr val="tx1"/>
            </a:solidFill>
            <a:prstDash val="solid"/>
          </a:ln>
        </p:spPr>
      </p:sp>
      <p:pic>
        <p:nvPicPr>
          <p:cNvPr id="14" name="Step icon 3" descr="Special cases"/>
          <p:cNvPicPr>
            <a:picLocks noChangeAspect="1"/>
          </p:cNvPicPr>
          <p:nvPr/>
        </p:nvPicPr>
        <p:blipFill>
          <a:blip r:embed="rId4"/>
          <a:stretch>
            <a:fillRect/>
          </a:stretch>
        </p:blipFill>
        <p:spPr>
          <a:xfrm>
            <a:off x="987552" y="3300984"/>
            <a:ext cx="310896" cy="310896"/>
          </a:xfrm>
          <a:prstGeom prst="rect">
            <a:avLst/>
          </a:prstGeom>
        </p:spPr>
      </p:pic>
      <p:sp>
        <p:nvSpPr>
          <p:cNvPr id="15" name="Step title 3"/>
          <p:cNvSpPr txBox="1"/>
          <p:nvPr/>
        </p:nvSpPr>
        <p:spPr>
          <a:xfrm>
            <a:off x="1828800" y="313639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Special cases</a:t>
            </a:r>
          </a:p>
        </p:txBody>
      </p:sp>
      <p:sp>
        <p:nvSpPr>
          <p:cNvPr id="16" name="Step text 3"/>
          <p:cNvSpPr txBox="1"/>
          <p:nvPr/>
        </p:nvSpPr>
        <p:spPr>
          <a:xfrm>
            <a:off x="1828800" y="346557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Yes/no tests match a normal answer, and no range means no flag.</a:t>
            </a:r>
          </a:p>
        </p:txBody>
      </p:sp>
      <p:sp>
        <p:nvSpPr>
          <p:cNvPr id="17" name="Step 4"/>
          <p:cNvSpPr/>
          <p:nvPr/>
        </p:nvSpPr>
        <p:spPr>
          <a:xfrm>
            <a:off x="841248" y="4160520"/>
            <a:ext cx="603504" cy="603504"/>
          </a:xfrm>
          <a:prstGeom prst="ellipse">
            <a:avLst/>
          </a:prstGeom>
          <a:solidFill>
            <a:schemeClr val="accent1"/>
          </a:solidFill>
          <a:ln w="31750">
            <a:solidFill>
              <a:schemeClr val="tx1"/>
            </a:solidFill>
            <a:prstDash val="solid"/>
          </a:ln>
        </p:spPr>
      </p:sp>
      <p:pic>
        <p:nvPicPr>
          <p:cNvPr id="18" name="Step icon 4" descr="Doctor releases results"/>
          <p:cNvPicPr>
            <a:picLocks noChangeAspect="1"/>
          </p:cNvPicPr>
          <p:nvPr/>
        </p:nvPicPr>
        <p:blipFill>
          <a:blip r:embed="rId5"/>
          <a:stretch>
            <a:fillRect/>
          </a:stretch>
        </p:blipFill>
        <p:spPr>
          <a:xfrm>
            <a:off x="987552" y="4306824"/>
            <a:ext cx="310896" cy="310896"/>
          </a:xfrm>
          <a:prstGeom prst="rect">
            <a:avLst/>
          </a:prstGeom>
        </p:spPr>
      </p:pic>
      <p:sp>
        <p:nvSpPr>
          <p:cNvPr id="19" name="Step title 4"/>
          <p:cNvSpPr txBox="1"/>
          <p:nvPr/>
        </p:nvSpPr>
        <p:spPr>
          <a:xfrm>
            <a:off x="1828800" y="414223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Doctor releases results</a:t>
            </a:r>
          </a:p>
        </p:txBody>
      </p:sp>
      <p:sp>
        <p:nvSpPr>
          <p:cNvPr id="20" name="Step text 4"/>
          <p:cNvSpPr txBox="1"/>
          <p:nvPr/>
        </p:nvSpPr>
        <p:spPr>
          <a:xfrm>
            <a:off x="1828800" y="447141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Patients see results only after a doctor releases them, so a critical value never arrives without explanation.</a:t>
            </a:r>
          </a:p>
        </p:txBody>
      </p:sp>
      <p:pic>
        <p:nvPicPr>
          <p:cNvPr id="21" name="Decoration" descr="Decorative medical illustration"/>
          <p:cNvPicPr>
            <a:picLocks noChangeAspect="1"/>
          </p:cNvPicPr>
          <p:nvPr/>
        </p:nvPicPr>
        <p:blipFill>
          <a:blip r:embed="rId6"/>
          <a:stretch>
            <a:fillRect/>
          </a:stretch>
        </p:blipFill>
        <p:spPr>
          <a:xfrm>
            <a:off x="10058400" y="2011680"/>
            <a:ext cx="2200000" cy="2200000"/>
          </a:xfrm>
          <a:prstGeom prst="rect">
            <a:avLst/>
          </a:prstGeom>
        </p:spPr>
      </p:pic>
      <p:sp>
        <p:nvSpPr>
          <p:cNvPr id="22" name="Slide Number Placeholder"/>
          <p:cNvSpPr>
            <a:spLocks noGrp="1"/>
          </p:cNvSpPr>
          <p:nvPr>
            <p:ph type="sldNum" sz="quarter" idx="4294967295"/>
          </p:nvPr>
        </p:nvSpPr>
        <p:spPr>
          <a:xfrm>
            <a:off x="11338560" y="6473952"/>
            <a:ext cx="457200" cy="228600"/>
          </a:xfrm>
          <a:prstGeom prst="rect">
            <a:avLst/>
          </a:prstGeom>
        </p:spPr>
        <p:txBody>
          <a:bodyPr/>
          <a:lstStyle>
            <a:lvl1pPr>
              <a:defRPr sz="1000">
                <a:solidFill>
                  <a:srgbClr val="3F457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alg_rules">
    <p:spTree>
      <p:nvGrpSpPr>
        <p:cNvPr id="1" name=""/>
        <p:cNvGrpSpPr/>
        <p:nvPr/>
      </p:nvGrpSpPr>
      <p:grpSpPr>
        <a:xfrm>
          <a:off x="0" y="0"/>
          <a:ext cx="0" cy="0"/>
          <a:chOff x="0" y="0"/>
          <a:chExt cx="0" cy="0"/>
        </a:xfrm>
      </p:grpSpPr>
      <p:pic>
        <p:nvPicPr>
          <p:cNvPr id="2" name="Label Technical Design · Rules and safeguards" descr=""/>
          <p:cNvPicPr>
            <a:picLocks noChangeAspect="1"/>
          </p:cNvPicPr>
          <p:nvPr/>
        </p:nvPicPr>
        <p:blipFill>
          <a:blip r:embed="rId1"/>
          <a:stretch>
            <a:fillRect/>
          </a:stretch>
        </p:blipFill>
        <p:spPr>
          <a:xfrm>
            <a:off x="640080" y="274320"/>
            <a:ext cx="5068000" cy="457200"/>
          </a:xfrm>
          <a:prstGeom prst="rect">
            <a:avLst/>
          </a:prstGeom>
        </p:spPr>
      </p:pic>
      <p:sp>
        <p:nvSpPr>
          <p:cNvPr id="3" name="Title"/>
          <p:cNvSpPr txBox="1"/>
          <p:nvPr/>
        </p:nvSpPr>
        <p:spPr>
          <a:xfrm>
            <a:off x="640080" y="274320"/>
            <a:ext cx="5068000" cy="457200"/>
          </a:xfrm>
          <a:prstGeom prst="rect">
            <a:avLst/>
          </a:prstGeom>
          <a:noFill/>
          <a:ln/>
        </p:spPr>
        <p:txBody>
          <a:bodyPr wrap="square" lIns="0" tIns="0" rIns="0" bIns="0" rtlCol="0" anchor="ctr"/>
          <a:lstStyle/>
          <a:p>
            <a:pPr algn="ctr" indent="0" marL="0">
              <a:buNone/>
            </a:pPr>
            <a:r>
              <a:rPr lang="en-US" sz="1600" b="1" dirty="0">
                <a:solidFill>
                  <a:schemeClr val="tx1"/>
                </a:solidFill>
              </a:rPr>
              <a:t>Technical Design · Rules and safeguards</a:t>
            </a:r>
          </a:p>
        </p:txBody>
      </p:sp>
      <p:sp>
        <p:nvSpPr>
          <p:cNvPr id="4" name="Card Care team rule"/>
          <p:cNvSpPr/>
          <p:nvPr/>
        </p:nvSpPr>
        <p:spPr>
          <a:xfrm>
            <a:off x="731520" y="1463040"/>
            <a:ext cx="2560320" cy="2926080"/>
          </a:xfrm>
          <a:prstGeom prst="roundRect">
            <a:avLst>
              <a:gd name="adj" fmla="val 6122"/>
            </a:avLst>
          </a:prstGeom>
          <a:solidFill>
            <a:schemeClr val="bg1"/>
          </a:solidFill>
          <a:ln w="31750">
            <a:solidFill>
              <a:schemeClr val="tx1"/>
            </a:solidFill>
            <a:prstDash val="solid"/>
          </a:ln>
        </p:spPr>
      </p:sp>
      <p:sp>
        <p:nvSpPr>
          <p:cNvPr id="5" name="Badge 1"/>
          <p:cNvSpPr/>
          <p:nvPr/>
        </p:nvSpPr>
        <p:spPr>
          <a:xfrm>
            <a:off x="960120" y="1691640"/>
            <a:ext cx="594360" cy="594360"/>
          </a:xfrm>
          <a:prstGeom prst="ellipse">
            <a:avLst/>
          </a:prstGeom>
          <a:solidFill>
            <a:schemeClr val="accent1"/>
          </a:solidFill>
          <a:ln w="25400">
            <a:solidFill>
              <a:schemeClr val="tx1"/>
            </a:solidFill>
            <a:prstDash val="solid"/>
          </a:ln>
        </p:spPr>
      </p:sp>
      <p:pic>
        <p:nvPicPr>
          <p:cNvPr id="6" name="Card icon 1" descr="Care team rule"/>
          <p:cNvPicPr>
            <a:picLocks noChangeAspect="1"/>
          </p:cNvPicPr>
          <p:nvPr/>
        </p:nvPicPr>
        <p:blipFill>
          <a:blip r:embed="rId2"/>
          <a:stretch>
            <a:fillRect/>
          </a:stretch>
        </p:blipFill>
        <p:spPr>
          <a:xfrm>
            <a:off x="1101852" y="1833372"/>
            <a:ext cx="310896" cy="310896"/>
          </a:xfrm>
          <a:prstGeom prst="rect">
            <a:avLst/>
          </a:prstGeom>
        </p:spPr>
      </p:pic>
      <p:sp>
        <p:nvSpPr>
          <p:cNvPr id="7" name="Card title 1"/>
          <p:cNvSpPr txBox="1"/>
          <p:nvPr/>
        </p:nvSpPr>
        <p:spPr>
          <a:xfrm>
            <a:off x="960120" y="2377440"/>
            <a:ext cx="2103120" cy="320040"/>
          </a:xfrm>
          <a:prstGeom prst="rect">
            <a:avLst/>
          </a:prstGeom>
          <a:noFill/>
          <a:ln/>
        </p:spPr>
        <p:txBody>
          <a:bodyPr wrap="square" lIns="0" tIns="0" rIns="0" bIns="0" rtlCol="0" anchor="t"/>
          <a:lstStyle/>
          <a:p>
            <a:pPr algn="l" indent="0" marL="0">
              <a:buNone/>
            </a:pPr>
            <a:r>
              <a:rPr lang="en-US" sz="1700" dirty="0">
                <a:solidFill>
                  <a:schemeClr val="tx1"/>
                </a:solidFill>
                <a:latin typeface="+mj-lt" pitchFamily="34" charset="0"/>
                <a:ea typeface="+mj-lt" pitchFamily="34" charset="-122"/>
                <a:cs typeface="+mj-lt" pitchFamily="34" charset="-120"/>
              </a:rPr>
              <a:t>Care team rule</a:t>
            </a:r>
          </a:p>
        </p:txBody>
      </p:sp>
      <p:sp>
        <p:nvSpPr>
          <p:cNvPr id="8" name="Card text 1"/>
          <p:cNvSpPr txBox="1"/>
          <p:nvPr/>
        </p:nvSpPr>
        <p:spPr>
          <a:xfrm>
            <a:off x="960120" y="2743200"/>
            <a:ext cx="2103120" cy="150876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A doctor can message a patient only after a record, prescription, lab order or admission. It is derived, not stored.</a:t>
            </a:r>
          </a:p>
        </p:txBody>
      </p:sp>
      <p:sp>
        <p:nvSpPr>
          <p:cNvPr id="9" name="Card Zod validation"/>
          <p:cNvSpPr/>
          <p:nvPr/>
        </p:nvSpPr>
        <p:spPr>
          <a:xfrm>
            <a:off x="3520440" y="1463040"/>
            <a:ext cx="2560320" cy="2926080"/>
          </a:xfrm>
          <a:prstGeom prst="roundRect">
            <a:avLst>
              <a:gd name="adj" fmla="val 6122"/>
            </a:avLst>
          </a:prstGeom>
          <a:solidFill>
            <a:schemeClr val="bg1"/>
          </a:solidFill>
          <a:ln w="31750">
            <a:solidFill>
              <a:schemeClr val="tx1"/>
            </a:solidFill>
            <a:prstDash val="solid"/>
          </a:ln>
        </p:spPr>
      </p:sp>
      <p:sp>
        <p:nvSpPr>
          <p:cNvPr id="10" name="Badge 2"/>
          <p:cNvSpPr/>
          <p:nvPr/>
        </p:nvSpPr>
        <p:spPr>
          <a:xfrm>
            <a:off x="3749040" y="1691640"/>
            <a:ext cx="594360" cy="594360"/>
          </a:xfrm>
          <a:prstGeom prst="ellipse">
            <a:avLst/>
          </a:prstGeom>
          <a:solidFill>
            <a:schemeClr val="accent1"/>
          </a:solidFill>
          <a:ln w="25400">
            <a:solidFill>
              <a:schemeClr val="tx1"/>
            </a:solidFill>
            <a:prstDash val="solid"/>
          </a:ln>
        </p:spPr>
      </p:sp>
      <p:pic>
        <p:nvPicPr>
          <p:cNvPr id="11" name="Card icon 2" descr="Zod validation"/>
          <p:cNvPicPr>
            <a:picLocks noChangeAspect="1"/>
          </p:cNvPicPr>
          <p:nvPr/>
        </p:nvPicPr>
        <p:blipFill>
          <a:blip r:embed="rId3"/>
          <a:stretch>
            <a:fillRect/>
          </a:stretch>
        </p:blipFill>
        <p:spPr>
          <a:xfrm>
            <a:off x="3890772" y="1833372"/>
            <a:ext cx="310896" cy="310896"/>
          </a:xfrm>
          <a:prstGeom prst="rect">
            <a:avLst/>
          </a:prstGeom>
        </p:spPr>
      </p:pic>
      <p:sp>
        <p:nvSpPr>
          <p:cNvPr id="12" name="Card title 2"/>
          <p:cNvSpPr txBox="1"/>
          <p:nvPr/>
        </p:nvSpPr>
        <p:spPr>
          <a:xfrm>
            <a:off x="3749040" y="2377440"/>
            <a:ext cx="2103120" cy="320040"/>
          </a:xfrm>
          <a:prstGeom prst="rect">
            <a:avLst/>
          </a:prstGeom>
          <a:noFill/>
          <a:ln/>
        </p:spPr>
        <p:txBody>
          <a:bodyPr wrap="square" lIns="0" tIns="0" rIns="0" bIns="0" rtlCol="0" anchor="t"/>
          <a:lstStyle/>
          <a:p>
            <a:pPr algn="l" indent="0" marL="0">
              <a:buNone/>
            </a:pPr>
            <a:r>
              <a:rPr lang="en-US" sz="1700" dirty="0">
                <a:solidFill>
                  <a:schemeClr val="tx1"/>
                </a:solidFill>
                <a:latin typeface="+mj-lt" pitchFamily="34" charset="0"/>
                <a:ea typeface="+mj-lt" pitchFamily="34" charset="-122"/>
                <a:cs typeface="+mj-lt" pitchFamily="34" charset="-120"/>
              </a:rPr>
              <a:t>Zod validation</a:t>
            </a:r>
          </a:p>
        </p:txBody>
      </p:sp>
      <p:sp>
        <p:nvSpPr>
          <p:cNvPr id="13" name="Card text 2"/>
          <p:cNvSpPr txBox="1"/>
          <p:nvPr/>
        </p:nvSpPr>
        <p:spPr>
          <a:xfrm>
            <a:off x="3749040" y="2743200"/>
            <a:ext cx="2103120" cy="150876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Every endpoint validates its input with a Zod schema before any logic runs.</a:t>
            </a:r>
          </a:p>
        </p:txBody>
      </p:sp>
      <p:sp>
        <p:nvSpPr>
          <p:cNvPr id="14" name="Card Prisma queries"/>
          <p:cNvSpPr/>
          <p:nvPr/>
        </p:nvSpPr>
        <p:spPr>
          <a:xfrm>
            <a:off x="6309360" y="1463040"/>
            <a:ext cx="2560320" cy="2926080"/>
          </a:xfrm>
          <a:prstGeom prst="roundRect">
            <a:avLst>
              <a:gd name="adj" fmla="val 6122"/>
            </a:avLst>
          </a:prstGeom>
          <a:solidFill>
            <a:schemeClr val="bg1"/>
          </a:solidFill>
          <a:ln w="31750">
            <a:solidFill>
              <a:schemeClr val="tx1"/>
            </a:solidFill>
            <a:prstDash val="solid"/>
          </a:ln>
        </p:spPr>
      </p:sp>
      <p:sp>
        <p:nvSpPr>
          <p:cNvPr id="15" name="Badge 3"/>
          <p:cNvSpPr/>
          <p:nvPr/>
        </p:nvSpPr>
        <p:spPr>
          <a:xfrm>
            <a:off x="6537960" y="1691640"/>
            <a:ext cx="594360" cy="594360"/>
          </a:xfrm>
          <a:prstGeom prst="ellipse">
            <a:avLst/>
          </a:prstGeom>
          <a:solidFill>
            <a:schemeClr val="accent1"/>
          </a:solidFill>
          <a:ln w="25400">
            <a:solidFill>
              <a:schemeClr val="tx1"/>
            </a:solidFill>
            <a:prstDash val="solid"/>
          </a:ln>
        </p:spPr>
      </p:sp>
      <p:pic>
        <p:nvPicPr>
          <p:cNvPr id="16" name="Card icon 3" descr="Prisma queries"/>
          <p:cNvPicPr>
            <a:picLocks noChangeAspect="1"/>
          </p:cNvPicPr>
          <p:nvPr/>
        </p:nvPicPr>
        <p:blipFill>
          <a:blip r:embed="rId4"/>
          <a:stretch>
            <a:fillRect/>
          </a:stretch>
        </p:blipFill>
        <p:spPr>
          <a:xfrm>
            <a:off x="6679692" y="1833372"/>
            <a:ext cx="310896" cy="310896"/>
          </a:xfrm>
          <a:prstGeom prst="rect">
            <a:avLst/>
          </a:prstGeom>
        </p:spPr>
      </p:pic>
      <p:sp>
        <p:nvSpPr>
          <p:cNvPr id="17" name="Card title 3"/>
          <p:cNvSpPr txBox="1"/>
          <p:nvPr/>
        </p:nvSpPr>
        <p:spPr>
          <a:xfrm>
            <a:off x="6537960" y="2377440"/>
            <a:ext cx="2103120" cy="320040"/>
          </a:xfrm>
          <a:prstGeom prst="rect">
            <a:avLst/>
          </a:prstGeom>
          <a:noFill/>
          <a:ln/>
        </p:spPr>
        <p:txBody>
          <a:bodyPr wrap="square" lIns="0" tIns="0" rIns="0" bIns="0" rtlCol="0" anchor="t"/>
          <a:lstStyle/>
          <a:p>
            <a:pPr algn="l" indent="0" marL="0">
              <a:buNone/>
            </a:pPr>
            <a:r>
              <a:rPr lang="en-US" sz="1700" dirty="0">
                <a:solidFill>
                  <a:schemeClr val="tx1"/>
                </a:solidFill>
                <a:latin typeface="+mj-lt" pitchFamily="34" charset="0"/>
                <a:ea typeface="+mj-lt" pitchFamily="34" charset="-122"/>
                <a:cs typeface="+mj-lt" pitchFamily="34" charset="-120"/>
              </a:rPr>
              <a:t>Prisma queries</a:t>
            </a:r>
          </a:p>
        </p:txBody>
      </p:sp>
      <p:sp>
        <p:nvSpPr>
          <p:cNvPr id="18" name="Card text 3"/>
          <p:cNvSpPr txBox="1"/>
          <p:nvPr/>
        </p:nvSpPr>
        <p:spPr>
          <a:xfrm>
            <a:off x="6537960" y="2743200"/>
            <a:ext cx="2103120" cy="150876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Parameterised queries guard against SQL injection.</a:t>
            </a:r>
          </a:p>
        </p:txBody>
      </p:sp>
      <p:sp>
        <p:nvSpPr>
          <p:cNvPr id="19" name="Card Access log"/>
          <p:cNvSpPr/>
          <p:nvPr/>
        </p:nvSpPr>
        <p:spPr>
          <a:xfrm>
            <a:off x="9098280" y="1463040"/>
            <a:ext cx="2560320" cy="2926080"/>
          </a:xfrm>
          <a:prstGeom prst="roundRect">
            <a:avLst>
              <a:gd name="adj" fmla="val 6122"/>
            </a:avLst>
          </a:prstGeom>
          <a:solidFill>
            <a:schemeClr val="bg1"/>
          </a:solidFill>
          <a:ln w="31750">
            <a:solidFill>
              <a:schemeClr val="tx1"/>
            </a:solidFill>
            <a:prstDash val="solid"/>
          </a:ln>
        </p:spPr>
      </p:sp>
      <p:sp>
        <p:nvSpPr>
          <p:cNvPr id="20" name="Badge 4"/>
          <p:cNvSpPr/>
          <p:nvPr/>
        </p:nvSpPr>
        <p:spPr>
          <a:xfrm>
            <a:off x="9326880" y="1691640"/>
            <a:ext cx="594360" cy="594360"/>
          </a:xfrm>
          <a:prstGeom prst="ellipse">
            <a:avLst/>
          </a:prstGeom>
          <a:solidFill>
            <a:schemeClr val="accent3"/>
          </a:solidFill>
          <a:ln w="25400">
            <a:solidFill>
              <a:schemeClr val="tx1"/>
            </a:solidFill>
            <a:prstDash val="solid"/>
          </a:ln>
        </p:spPr>
      </p:sp>
      <p:pic>
        <p:nvPicPr>
          <p:cNvPr id="21" name="Card icon 4" descr="Access log"/>
          <p:cNvPicPr>
            <a:picLocks noChangeAspect="1"/>
          </p:cNvPicPr>
          <p:nvPr/>
        </p:nvPicPr>
        <p:blipFill>
          <a:blip r:embed="rId5"/>
          <a:stretch>
            <a:fillRect/>
          </a:stretch>
        </p:blipFill>
        <p:spPr>
          <a:xfrm>
            <a:off x="9468612" y="1833372"/>
            <a:ext cx="310896" cy="310896"/>
          </a:xfrm>
          <a:prstGeom prst="rect">
            <a:avLst/>
          </a:prstGeom>
        </p:spPr>
      </p:pic>
      <p:sp>
        <p:nvSpPr>
          <p:cNvPr id="22" name="Card title 4"/>
          <p:cNvSpPr txBox="1"/>
          <p:nvPr/>
        </p:nvSpPr>
        <p:spPr>
          <a:xfrm>
            <a:off x="9326880" y="2377440"/>
            <a:ext cx="2103120" cy="320040"/>
          </a:xfrm>
          <a:prstGeom prst="rect">
            <a:avLst/>
          </a:prstGeom>
          <a:noFill/>
          <a:ln/>
        </p:spPr>
        <p:txBody>
          <a:bodyPr wrap="square" lIns="0" tIns="0" rIns="0" bIns="0" rtlCol="0" anchor="t"/>
          <a:lstStyle/>
          <a:p>
            <a:pPr algn="l" indent="0" marL="0">
              <a:buNone/>
            </a:pPr>
            <a:r>
              <a:rPr lang="en-US" sz="1700" dirty="0">
                <a:solidFill>
                  <a:schemeClr val="tx1"/>
                </a:solidFill>
                <a:latin typeface="+mj-lt" pitchFamily="34" charset="0"/>
                <a:ea typeface="+mj-lt" pitchFamily="34" charset="-122"/>
                <a:cs typeface="+mj-lt" pitchFamily="34" charset="-120"/>
              </a:rPr>
              <a:t>Access log</a:t>
            </a:r>
          </a:p>
        </p:txBody>
      </p:sp>
      <p:sp>
        <p:nvSpPr>
          <p:cNvPr id="23" name="Card text 4"/>
          <p:cNvSpPr txBox="1"/>
          <p:nvPr/>
        </p:nvSpPr>
        <p:spPr>
          <a:xfrm>
            <a:off x="9326880" y="2743200"/>
            <a:ext cx="2103120" cy="150876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Every patient-data access is written to the AccessLog.</a:t>
            </a:r>
          </a:p>
        </p:txBody>
      </p:sp>
      <p:sp>
        <p:nvSpPr>
          <p:cNvPr id="24" name="Slide Number Placeholder"/>
          <p:cNvSpPr>
            <a:spLocks noGrp="1"/>
          </p:cNvSpPr>
          <p:nvPr>
            <p:ph type="sldNum" sz="quarter" idx="4294967295"/>
          </p:nvPr>
        </p:nvSpPr>
        <p:spPr>
          <a:xfrm>
            <a:off x="11338560" y="6473952"/>
            <a:ext cx="457200" cy="228600"/>
          </a:xfrm>
          <a:prstGeom prst="rect">
            <a:avLst/>
          </a:prstGeom>
        </p:spPr>
        <p:txBody>
          <a:bodyPr/>
          <a:lstStyle>
            <a:lvl1pPr>
              <a:defRPr sz="1000">
                <a:solidFill>
                  <a:srgbClr val="3F457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Label Development Environment" descr="preencoded.png">    </p:cNvPr>
          <p:cNvPicPr>
            <a:picLocks noChangeAspect="1"/>
          </p:cNvPicPr>
          <p:nvPr/>
        </p:nvPicPr>
        <p:blipFill>
          <a:blip r:embed="rId1"/>
          <a:stretch>
            <a:fillRect/>
          </a:stretch>
        </p:blipFill>
        <p:spPr>
          <a:xfrm>
            <a:off x="640080" y="274320"/>
            <a:ext cx="3086100" cy="457200"/>
          </a:xfrm>
          <a:prstGeom prst="rect">
            <a:avLst/>
          </a:prstGeom>
        </p:spPr>
      </p:pic>
      <p:sp>
        <p:nvSpPr>
          <p:cNvPr id="3" name="Text 0"/>
          <p:cNvSpPr txBox="1"/>
          <p:nvPr/>
        </p:nvSpPr>
        <p:spPr>
          <a:xfrm>
            <a:off x="640080" y="274320"/>
            <a:ext cx="3086100" cy="457200"/>
          </a:xfrm>
          <a:prstGeom prst="rect">
            <a:avLst/>
          </a:prstGeom>
          <a:noFill/>
          <a:ln/>
        </p:spPr>
        <p:txBody>
          <a:bodyPr wrap="square" lIns="0" tIns="0" rIns="0" bIns="0" rtlCol="0" anchor="ctr"/>
          <a:lstStyle/>
          <a:p>
            <a:pPr algn="ctr" indent="0" marL="0">
              <a:buNone/>
            </a:pPr>
            <a:r>
              <a:rPr lang="en-US" sz="1600" b="1" dirty="0">
                <a:solidFill>
                  <a:schemeClr val="tx1"/>
                </a:solidFill>
              </a:rPr>
              <a:t>Development Environment</a:t>
            </a:r>
            <a:endParaRPr lang="en-US" sz="1600" dirty="0"/>
          </a:p>
        </p:txBody>
      </p:sp>
      <p:pic>
        <p:nvPicPr>
          <p:cNvPr id="4" name="Label       Operating system" descr="preencoded.png">    </p:cNvPr>
          <p:cNvPicPr>
            <a:picLocks noChangeAspect="1"/>
          </p:cNvPicPr>
          <p:nvPr/>
        </p:nvPicPr>
        <p:blipFill>
          <a:blip r:embed="rId2"/>
          <a:stretch>
            <a:fillRect/>
          </a:stretch>
        </p:blipFill>
        <p:spPr>
          <a:xfrm>
            <a:off x="640080" y="1188720"/>
            <a:ext cx="2651760" cy="457200"/>
          </a:xfrm>
          <a:prstGeom prst="rect">
            <a:avLst/>
          </a:prstGeom>
        </p:spPr>
      </p:pic>
      <p:sp>
        <p:nvSpPr>
          <p:cNvPr id="5" name="Text 1"/>
          <p:cNvSpPr txBox="1"/>
          <p:nvPr/>
        </p:nvSpPr>
        <p:spPr>
          <a:xfrm>
            <a:off x="640080" y="1188720"/>
            <a:ext cx="2651760" cy="457200"/>
          </a:xfrm>
          <a:prstGeom prst="rect">
            <a:avLst/>
          </a:prstGeom>
          <a:noFill/>
          <a:ln/>
        </p:spPr>
        <p:txBody>
          <a:bodyPr wrap="square" lIns="0" tIns="0" rIns="0" bIns="0" rtlCol="0" anchor="ctr"/>
          <a:lstStyle/>
          <a:p>
            <a:pPr algn="ctr" indent="0" marL="0">
              <a:buNone/>
            </a:pPr>
            <a:r>
              <a:rPr lang="en-US" sz="1500" b="1" dirty="0">
                <a:solidFill>
                  <a:schemeClr val="tx1"/>
                </a:solidFill>
              </a:rPr>
              <a:t>      Operating system</a:t>
            </a:r>
            <a:endParaRPr lang="en-US" sz="1500" dirty="0"/>
          </a:p>
        </p:txBody>
      </p:sp>
      <p:pic>
        <p:nvPicPr>
          <p:cNvPr id="6" name="Icon Operating system" descr="preencoded.png">    </p:cNvPr>
          <p:cNvPicPr>
            <a:picLocks noChangeAspect="1"/>
          </p:cNvPicPr>
          <p:nvPr/>
        </p:nvPicPr>
        <p:blipFill>
          <a:blip r:embed="rId3"/>
          <a:stretch>
            <a:fillRect/>
          </a:stretch>
        </p:blipFill>
        <p:spPr>
          <a:xfrm>
            <a:off x="804672" y="1298448"/>
            <a:ext cx="246888" cy="246888"/>
          </a:xfrm>
          <a:prstGeom prst="rect">
            <a:avLst/>
          </a:prstGeom>
        </p:spPr>
      </p:pic>
      <p:sp>
        <p:nvSpPr>
          <p:cNvPr id="7" name="Text 2"/>
          <p:cNvSpPr txBox="1"/>
          <p:nvPr/>
        </p:nvSpPr>
        <p:spPr>
          <a:xfrm>
            <a:off x="3520440" y="1188720"/>
            <a:ext cx="6400800" cy="457200"/>
          </a:xfrm>
          <a:prstGeom prst="rect">
            <a:avLst/>
          </a:prstGeom>
          <a:noFill/>
          <a:ln/>
        </p:spPr>
        <p:txBody>
          <a:bodyPr wrap="square" lIns="0" tIns="0" rIns="0" bIns="0" rtlCol="0" anchor="ctr"/>
          <a:lstStyle/>
          <a:p>
            <a:pPr indent="0" marL="0">
              <a:buNone/>
            </a:pPr>
            <a:r>
              <a:rPr lang="en-US" sz="1600" dirty="0">
                <a:solidFill>
                  <a:schemeClr val="tx1"/>
                </a:solidFill>
              </a:rPr>
              <a:t>Developed on Windows; also runs on Linux and macOS</a:t>
            </a:r>
            <a:endParaRPr lang="en-US" sz="1600" dirty="0"/>
          </a:p>
        </p:txBody>
      </p:sp>
      <p:pic>
        <p:nvPicPr>
          <p:cNvPr id="8" name="Label       Languages" descr="preencoded.png">    </p:cNvPr>
          <p:cNvPicPr>
            <a:picLocks noChangeAspect="1"/>
          </p:cNvPicPr>
          <p:nvPr/>
        </p:nvPicPr>
        <p:blipFill>
          <a:blip r:embed="rId4"/>
          <a:stretch>
            <a:fillRect/>
          </a:stretch>
        </p:blipFill>
        <p:spPr>
          <a:xfrm>
            <a:off x="640080" y="2011680"/>
            <a:ext cx="2651760" cy="457200"/>
          </a:xfrm>
          <a:prstGeom prst="rect">
            <a:avLst/>
          </a:prstGeom>
        </p:spPr>
      </p:pic>
      <p:sp>
        <p:nvSpPr>
          <p:cNvPr id="9" name="Text 3"/>
          <p:cNvSpPr txBox="1"/>
          <p:nvPr/>
        </p:nvSpPr>
        <p:spPr>
          <a:xfrm>
            <a:off x="640080" y="2011680"/>
            <a:ext cx="2651760" cy="457200"/>
          </a:xfrm>
          <a:prstGeom prst="rect">
            <a:avLst/>
          </a:prstGeom>
          <a:noFill/>
          <a:ln/>
        </p:spPr>
        <p:txBody>
          <a:bodyPr wrap="square" lIns="0" tIns="0" rIns="0" bIns="0" rtlCol="0" anchor="ctr"/>
          <a:lstStyle/>
          <a:p>
            <a:pPr algn="ctr" indent="0" marL="0">
              <a:buNone/>
            </a:pPr>
            <a:r>
              <a:rPr lang="en-US" sz="1500" b="1" dirty="0">
                <a:solidFill>
                  <a:schemeClr val="tx1"/>
                </a:solidFill>
              </a:rPr>
              <a:t>      Languages</a:t>
            </a:r>
            <a:endParaRPr lang="en-US" sz="1500" dirty="0"/>
          </a:p>
        </p:txBody>
      </p:sp>
      <p:pic>
        <p:nvPicPr>
          <p:cNvPr id="10" name="Icon Languages" descr="preencoded.png">    </p:cNvPr>
          <p:cNvPicPr>
            <a:picLocks noChangeAspect="1"/>
          </p:cNvPicPr>
          <p:nvPr/>
        </p:nvPicPr>
        <p:blipFill>
          <a:blip r:embed="rId5"/>
          <a:stretch>
            <a:fillRect/>
          </a:stretch>
        </p:blipFill>
        <p:spPr>
          <a:xfrm>
            <a:off x="804672" y="2121408"/>
            <a:ext cx="246888" cy="246888"/>
          </a:xfrm>
          <a:prstGeom prst="rect">
            <a:avLst/>
          </a:prstGeom>
        </p:spPr>
      </p:pic>
      <p:sp>
        <p:nvSpPr>
          <p:cNvPr id="11" name="Text 4"/>
          <p:cNvSpPr txBox="1"/>
          <p:nvPr/>
        </p:nvSpPr>
        <p:spPr>
          <a:xfrm>
            <a:off x="3520440" y="2011680"/>
            <a:ext cx="6400800" cy="457200"/>
          </a:xfrm>
          <a:prstGeom prst="rect">
            <a:avLst/>
          </a:prstGeom>
          <a:noFill/>
          <a:ln/>
        </p:spPr>
        <p:txBody>
          <a:bodyPr wrap="square" lIns="0" tIns="0" rIns="0" bIns="0" rtlCol="0" anchor="ctr"/>
          <a:lstStyle/>
          <a:p>
            <a:pPr indent="0" marL="0">
              <a:buNone/>
            </a:pPr>
            <a:r>
              <a:rPr lang="en-US" sz="1600" dirty="0">
                <a:solidFill>
                  <a:schemeClr val="tx1"/>
                </a:solidFill>
              </a:rPr>
              <a:t>TypeScript, SQL (Prisma migrations) and CSS (Tailwind)</a:t>
            </a:r>
            <a:endParaRPr lang="en-US" sz="1600" dirty="0"/>
          </a:p>
        </p:txBody>
      </p:sp>
      <p:pic>
        <p:nvPicPr>
          <p:cNvPr id="12" name="Label       Frameworks" descr="preencoded.png">    </p:cNvPr>
          <p:cNvPicPr>
            <a:picLocks noChangeAspect="1"/>
          </p:cNvPicPr>
          <p:nvPr/>
        </p:nvPicPr>
        <p:blipFill>
          <a:blip r:embed="rId6"/>
          <a:stretch>
            <a:fillRect/>
          </a:stretch>
        </p:blipFill>
        <p:spPr>
          <a:xfrm>
            <a:off x="640080" y="2834640"/>
            <a:ext cx="2651760" cy="457200"/>
          </a:xfrm>
          <a:prstGeom prst="rect">
            <a:avLst/>
          </a:prstGeom>
        </p:spPr>
      </p:pic>
      <p:sp>
        <p:nvSpPr>
          <p:cNvPr id="13" name="Text 5"/>
          <p:cNvSpPr txBox="1"/>
          <p:nvPr/>
        </p:nvSpPr>
        <p:spPr>
          <a:xfrm>
            <a:off x="640080" y="2834640"/>
            <a:ext cx="2651760" cy="457200"/>
          </a:xfrm>
          <a:prstGeom prst="rect">
            <a:avLst/>
          </a:prstGeom>
          <a:noFill/>
          <a:ln/>
        </p:spPr>
        <p:txBody>
          <a:bodyPr wrap="square" lIns="0" tIns="0" rIns="0" bIns="0" rtlCol="0" anchor="ctr"/>
          <a:lstStyle/>
          <a:p>
            <a:pPr algn="ctr" indent="0" marL="0">
              <a:buNone/>
            </a:pPr>
            <a:r>
              <a:rPr lang="en-US" sz="1500" b="1" dirty="0">
                <a:solidFill>
                  <a:schemeClr val="tx1"/>
                </a:solidFill>
              </a:rPr>
              <a:t>      Frameworks</a:t>
            </a:r>
            <a:endParaRPr lang="en-US" sz="1500" dirty="0"/>
          </a:p>
        </p:txBody>
      </p:sp>
      <p:pic>
        <p:nvPicPr>
          <p:cNvPr id="14" name="Icon Frameworks" descr="preencoded.png">    </p:cNvPr>
          <p:cNvPicPr>
            <a:picLocks noChangeAspect="1"/>
          </p:cNvPicPr>
          <p:nvPr/>
        </p:nvPicPr>
        <p:blipFill>
          <a:blip r:embed="rId7"/>
          <a:stretch>
            <a:fillRect/>
          </a:stretch>
        </p:blipFill>
        <p:spPr>
          <a:xfrm>
            <a:off x="804672" y="2944368"/>
            <a:ext cx="246888" cy="246888"/>
          </a:xfrm>
          <a:prstGeom prst="rect">
            <a:avLst/>
          </a:prstGeom>
        </p:spPr>
      </p:pic>
      <p:sp>
        <p:nvSpPr>
          <p:cNvPr id="15" name="Text 6"/>
          <p:cNvSpPr txBox="1"/>
          <p:nvPr/>
        </p:nvSpPr>
        <p:spPr>
          <a:xfrm>
            <a:off x="3520440" y="2834640"/>
            <a:ext cx="6400800" cy="457200"/>
          </a:xfrm>
          <a:prstGeom prst="rect">
            <a:avLst/>
          </a:prstGeom>
          <a:noFill/>
          <a:ln/>
        </p:spPr>
        <p:txBody>
          <a:bodyPr wrap="square" lIns="0" tIns="0" rIns="0" bIns="0" rtlCol="0" anchor="ctr"/>
          <a:lstStyle/>
          <a:p>
            <a:pPr indent="0" marL="0">
              <a:buNone/>
            </a:pPr>
            <a:r>
              <a:rPr lang="en-US" sz="1600" dirty="0">
                <a:solidFill>
                  <a:schemeClr val="tx1"/>
                </a:solidFill>
              </a:rPr>
              <a:t>Next.js 14, React 18, Tailwind 3, Prisma 5, Zod, jose</a:t>
            </a:r>
            <a:endParaRPr lang="en-US" sz="1600" dirty="0"/>
          </a:p>
        </p:txBody>
      </p:sp>
      <p:pic>
        <p:nvPicPr>
          <p:cNvPr id="16" name="Label       Database" descr="preencoded.png">    </p:cNvPr>
          <p:cNvPicPr>
            <a:picLocks noChangeAspect="1"/>
          </p:cNvPicPr>
          <p:nvPr/>
        </p:nvPicPr>
        <p:blipFill>
          <a:blip r:embed="rId8"/>
          <a:stretch>
            <a:fillRect/>
          </a:stretch>
        </p:blipFill>
        <p:spPr>
          <a:xfrm>
            <a:off x="640080" y="3657600"/>
            <a:ext cx="2651760" cy="457200"/>
          </a:xfrm>
          <a:prstGeom prst="rect">
            <a:avLst/>
          </a:prstGeom>
        </p:spPr>
      </p:pic>
      <p:sp>
        <p:nvSpPr>
          <p:cNvPr id="17" name="Text 7"/>
          <p:cNvSpPr txBox="1"/>
          <p:nvPr/>
        </p:nvSpPr>
        <p:spPr>
          <a:xfrm>
            <a:off x="640080" y="3657600"/>
            <a:ext cx="2651760" cy="457200"/>
          </a:xfrm>
          <a:prstGeom prst="rect">
            <a:avLst/>
          </a:prstGeom>
          <a:noFill/>
          <a:ln/>
        </p:spPr>
        <p:txBody>
          <a:bodyPr wrap="square" lIns="0" tIns="0" rIns="0" bIns="0" rtlCol="0" anchor="ctr"/>
          <a:lstStyle/>
          <a:p>
            <a:pPr algn="ctr" indent="0" marL="0">
              <a:buNone/>
            </a:pPr>
            <a:r>
              <a:rPr lang="en-US" sz="1500" b="1" dirty="0">
                <a:solidFill>
                  <a:schemeClr val="tx1"/>
                </a:solidFill>
              </a:rPr>
              <a:t>      Database</a:t>
            </a:r>
            <a:endParaRPr lang="en-US" sz="1500" dirty="0"/>
          </a:p>
        </p:txBody>
      </p:sp>
      <p:pic>
        <p:nvPicPr>
          <p:cNvPr id="18" name="Icon Database" descr="preencoded.png">    </p:cNvPr>
          <p:cNvPicPr>
            <a:picLocks noChangeAspect="1"/>
          </p:cNvPicPr>
          <p:nvPr/>
        </p:nvPicPr>
        <p:blipFill>
          <a:blip r:embed="rId9"/>
          <a:stretch>
            <a:fillRect/>
          </a:stretch>
        </p:blipFill>
        <p:spPr>
          <a:xfrm>
            <a:off x="804672" y="3767328"/>
            <a:ext cx="246888" cy="246888"/>
          </a:xfrm>
          <a:prstGeom prst="rect">
            <a:avLst/>
          </a:prstGeom>
        </p:spPr>
      </p:pic>
      <p:sp>
        <p:nvSpPr>
          <p:cNvPr id="19" name="Text 8"/>
          <p:cNvSpPr txBox="1"/>
          <p:nvPr/>
        </p:nvSpPr>
        <p:spPr>
          <a:xfrm>
            <a:off x="3520440" y="3657600"/>
            <a:ext cx="6400800" cy="457200"/>
          </a:xfrm>
          <a:prstGeom prst="rect">
            <a:avLst/>
          </a:prstGeom>
          <a:noFill/>
          <a:ln/>
        </p:spPr>
        <p:txBody>
          <a:bodyPr wrap="square" lIns="0" tIns="0" rIns="0" bIns="0" rtlCol="0" anchor="ctr"/>
          <a:lstStyle/>
          <a:p>
            <a:pPr indent="0" marL="0">
              <a:buNone/>
            </a:pPr>
            <a:r>
              <a:rPr lang="en-US" sz="1600" dirty="0">
                <a:solidFill>
                  <a:schemeClr val="tx1"/>
                </a:solidFill>
              </a:rPr>
              <a:t>PostgreSQL 15+, 18 tables and 5 migrations</a:t>
            </a:r>
            <a:endParaRPr lang="en-US" sz="1600" dirty="0"/>
          </a:p>
        </p:txBody>
      </p:sp>
      <p:pic>
        <p:nvPicPr>
          <p:cNvPr id="20" name="Label       IDE and tools" descr="preencoded.png">    </p:cNvPr>
          <p:cNvPicPr>
            <a:picLocks noChangeAspect="1"/>
          </p:cNvPicPr>
          <p:nvPr/>
        </p:nvPicPr>
        <p:blipFill>
          <a:blip r:embed="rId10"/>
          <a:stretch>
            <a:fillRect/>
          </a:stretch>
        </p:blipFill>
        <p:spPr>
          <a:xfrm>
            <a:off x="640080" y="4480560"/>
            <a:ext cx="2651760" cy="457200"/>
          </a:xfrm>
          <a:prstGeom prst="rect">
            <a:avLst/>
          </a:prstGeom>
        </p:spPr>
      </p:pic>
      <p:sp>
        <p:nvSpPr>
          <p:cNvPr id="21" name="Text 9"/>
          <p:cNvSpPr txBox="1"/>
          <p:nvPr/>
        </p:nvSpPr>
        <p:spPr>
          <a:xfrm>
            <a:off x="640080" y="4480560"/>
            <a:ext cx="2651760" cy="457200"/>
          </a:xfrm>
          <a:prstGeom prst="rect">
            <a:avLst/>
          </a:prstGeom>
          <a:noFill/>
          <a:ln/>
        </p:spPr>
        <p:txBody>
          <a:bodyPr wrap="square" lIns="0" tIns="0" rIns="0" bIns="0" rtlCol="0" anchor="ctr"/>
          <a:lstStyle/>
          <a:p>
            <a:pPr algn="ctr" indent="0" marL="0">
              <a:buNone/>
            </a:pPr>
            <a:r>
              <a:rPr lang="en-US" sz="1500" b="1" dirty="0">
                <a:solidFill>
                  <a:schemeClr val="tx1"/>
                </a:solidFill>
              </a:rPr>
              <a:t>      IDE and tools</a:t>
            </a:r>
            <a:endParaRPr lang="en-US" sz="1500" dirty="0"/>
          </a:p>
        </p:txBody>
      </p:sp>
      <p:pic>
        <p:nvPicPr>
          <p:cNvPr id="22" name="Icon IDE and tools" descr="preencoded.png">    </p:cNvPr>
          <p:cNvPicPr>
            <a:picLocks noChangeAspect="1"/>
          </p:cNvPicPr>
          <p:nvPr/>
        </p:nvPicPr>
        <p:blipFill>
          <a:blip r:embed="rId11"/>
          <a:stretch>
            <a:fillRect/>
          </a:stretch>
        </p:blipFill>
        <p:spPr>
          <a:xfrm>
            <a:off x="804672" y="4590288"/>
            <a:ext cx="246888" cy="246888"/>
          </a:xfrm>
          <a:prstGeom prst="rect">
            <a:avLst/>
          </a:prstGeom>
        </p:spPr>
      </p:pic>
      <p:sp>
        <p:nvSpPr>
          <p:cNvPr id="23" name="Text 10"/>
          <p:cNvSpPr txBox="1"/>
          <p:nvPr/>
        </p:nvSpPr>
        <p:spPr>
          <a:xfrm>
            <a:off x="3520440" y="4480560"/>
            <a:ext cx="6400800" cy="457200"/>
          </a:xfrm>
          <a:prstGeom prst="rect">
            <a:avLst/>
          </a:prstGeom>
          <a:noFill/>
          <a:ln/>
        </p:spPr>
        <p:txBody>
          <a:bodyPr wrap="square" lIns="0" tIns="0" rIns="0" bIns="0" rtlCol="0" anchor="ctr"/>
          <a:lstStyle/>
          <a:p>
            <a:pPr indent="0" marL="0">
              <a:buNone/>
            </a:pPr>
            <a:r>
              <a:rPr lang="en-US" sz="1600" dirty="0">
                <a:solidFill>
                  <a:schemeClr val="tx1"/>
                </a:solidFill>
              </a:rPr>
              <a:t>VS Code, Prisma Studio, Vitest, ts-node, npm</a:t>
            </a:r>
            <a:endParaRPr lang="en-US" sz="1600" dirty="0"/>
          </a:p>
        </p:txBody>
      </p:sp>
      <p:pic>
        <p:nvPicPr>
          <p:cNvPr id="24" name="Label       Version control" descr="preencoded.png">    </p:cNvPr>
          <p:cNvPicPr>
            <a:picLocks noChangeAspect="1"/>
          </p:cNvPicPr>
          <p:nvPr/>
        </p:nvPicPr>
        <p:blipFill>
          <a:blip r:embed="rId12"/>
          <a:stretch>
            <a:fillRect/>
          </a:stretch>
        </p:blipFill>
        <p:spPr>
          <a:xfrm>
            <a:off x="640080" y="5303520"/>
            <a:ext cx="2651760" cy="457200"/>
          </a:xfrm>
          <a:prstGeom prst="rect">
            <a:avLst/>
          </a:prstGeom>
        </p:spPr>
      </p:pic>
      <p:sp>
        <p:nvSpPr>
          <p:cNvPr id="25" name="Text 11"/>
          <p:cNvSpPr txBox="1"/>
          <p:nvPr/>
        </p:nvSpPr>
        <p:spPr>
          <a:xfrm>
            <a:off x="640080" y="5303520"/>
            <a:ext cx="2651760" cy="457200"/>
          </a:xfrm>
          <a:prstGeom prst="rect">
            <a:avLst/>
          </a:prstGeom>
          <a:noFill/>
          <a:ln/>
        </p:spPr>
        <p:txBody>
          <a:bodyPr wrap="square" lIns="0" tIns="0" rIns="0" bIns="0" rtlCol="0" anchor="ctr"/>
          <a:lstStyle/>
          <a:p>
            <a:pPr algn="ctr" indent="0" marL="0">
              <a:buNone/>
            </a:pPr>
            <a:r>
              <a:rPr lang="en-US" sz="1500" b="1" dirty="0">
                <a:solidFill>
                  <a:schemeClr val="tx1"/>
                </a:solidFill>
              </a:rPr>
              <a:t>      Version control</a:t>
            </a:r>
            <a:endParaRPr lang="en-US" sz="1500" dirty="0"/>
          </a:p>
        </p:txBody>
      </p:sp>
      <p:pic>
        <p:nvPicPr>
          <p:cNvPr id="26" name="Icon Version control" descr="preencoded.png">    </p:cNvPr>
          <p:cNvPicPr>
            <a:picLocks noChangeAspect="1"/>
          </p:cNvPicPr>
          <p:nvPr/>
        </p:nvPicPr>
        <p:blipFill>
          <a:blip r:embed="rId13"/>
          <a:stretch>
            <a:fillRect/>
          </a:stretch>
        </p:blipFill>
        <p:spPr>
          <a:xfrm>
            <a:off x="804672" y="5413248"/>
            <a:ext cx="246888" cy="246888"/>
          </a:xfrm>
          <a:prstGeom prst="rect">
            <a:avLst/>
          </a:prstGeom>
        </p:spPr>
      </p:pic>
      <p:sp>
        <p:nvSpPr>
          <p:cNvPr id="27" name="Text 12"/>
          <p:cNvSpPr txBox="1"/>
          <p:nvPr/>
        </p:nvSpPr>
        <p:spPr>
          <a:xfrm>
            <a:off x="3520440" y="5303520"/>
            <a:ext cx="6400800" cy="457200"/>
          </a:xfrm>
          <a:prstGeom prst="rect">
            <a:avLst/>
          </a:prstGeom>
          <a:noFill/>
          <a:ln/>
        </p:spPr>
        <p:txBody>
          <a:bodyPr wrap="square" lIns="0" tIns="0" rIns="0" bIns="0" rtlCol="0" anchor="ctr"/>
          <a:lstStyle/>
          <a:p>
            <a:pPr indent="0" marL="0">
              <a:buNone/>
            </a:pPr>
            <a:r>
              <a:rPr lang="en-US" sz="1600" dirty="0">
                <a:solidFill>
                  <a:schemeClr val="tx1"/>
                </a:solidFill>
              </a:rPr>
              <a:t>Git and GitHub; run locally for the demo, no Docker</a:t>
            </a:r>
            <a:endParaRPr lang="en-US" sz="1600" dirty="0"/>
          </a:p>
        </p:txBody>
      </p:sp>
      <p:pic>
        <p:nvPicPr>
          <p:cNvPr id="28" name="Icon bottle" descr="preencoded.png">    </p:cNvPr>
          <p:cNvPicPr>
            <a:picLocks noChangeAspect="1"/>
          </p:cNvPicPr>
          <p:nvPr/>
        </p:nvPicPr>
        <p:blipFill>
          <a:blip r:embed="rId14"/>
          <a:stretch>
            <a:fillRect/>
          </a:stretch>
        </p:blipFill>
        <p:spPr>
          <a:xfrm rot="-600000">
            <a:off x="10332720" y="4480560"/>
            <a:ext cx="2468880" cy="2468880"/>
          </a:xfrm>
          <a:prstGeom prst="rect">
            <a:avLst/>
          </a:prstGeom>
        </p:spPr>
      </p:pic>
      <p:pic>
        <p:nvPicPr>
          <p:cNvPr id="29" name="Icon caps" descr="preencoded.png">    </p:cNvPr>
          <p:cNvPicPr>
            <a:picLocks noChangeAspect="1"/>
          </p:cNvPicPr>
          <p:nvPr/>
        </p:nvPicPr>
        <p:blipFill>
          <a:blip r:embed="rId15"/>
          <a:stretch>
            <a:fillRect/>
          </a:stretch>
        </p:blipFill>
        <p:spPr>
          <a:xfrm rot="480000">
            <a:off x="10607040" y="-640080"/>
            <a:ext cx="2103120" cy="2103120"/>
          </a:xfrm>
          <a:prstGeom prst="rect">
            <a:avLst/>
          </a:prstGeom>
        </p:spPr>
      </p:pic>
      <p:sp>
        <p:nvSpPr>
          <p:cNvPr id="25" name="Slide Number Placeholder 0"/>
          <p:cNvSpPr>
            <a:spLocks noGrp="1"/>
          </p:cNvSpPr>
          <p:nvPr>
            <p:ph type="sldNum" sz="quarter" idx="4294967295"/>
          </p:nvPr>
        </p:nvSpPr>
        <p:spPr>
          <a:xfrm>
            <a:off x="11338560" y="647395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3F457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Label System Components / Modules" descr="preencoded.png">    </p:cNvPr>
          <p:cNvPicPr>
            <a:picLocks noChangeAspect="1"/>
          </p:cNvPicPr>
          <p:nvPr/>
        </p:nvPicPr>
        <p:blipFill>
          <a:blip r:embed="rId1"/>
          <a:stretch>
            <a:fillRect/>
          </a:stretch>
        </p:blipFill>
        <p:spPr>
          <a:xfrm>
            <a:off x="640080" y="274320"/>
            <a:ext cx="3543300" cy="457200"/>
          </a:xfrm>
          <a:prstGeom prst="rect">
            <a:avLst/>
          </a:prstGeom>
        </p:spPr>
      </p:pic>
      <p:sp>
        <p:nvSpPr>
          <p:cNvPr id="3" name="Text 0"/>
          <p:cNvSpPr txBox="1"/>
          <p:nvPr/>
        </p:nvSpPr>
        <p:spPr>
          <a:xfrm>
            <a:off x="640080" y="274320"/>
            <a:ext cx="3543300" cy="457200"/>
          </a:xfrm>
          <a:prstGeom prst="rect">
            <a:avLst/>
          </a:prstGeom>
          <a:noFill/>
          <a:ln/>
        </p:spPr>
        <p:txBody>
          <a:bodyPr wrap="square" lIns="0" tIns="0" rIns="0" bIns="0" rtlCol="0" anchor="ctr"/>
          <a:lstStyle/>
          <a:p>
            <a:pPr algn="ctr" indent="0" marL="0">
              <a:buNone/>
            </a:pPr>
            <a:r>
              <a:rPr lang="en-US" sz="1600" b="1" dirty="0">
                <a:solidFill>
                  <a:schemeClr val="tx1"/>
                </a:solidFill>
              </a:rPr>
              <a:t>System Components / Modules</a:t>
            </a:r>
            <a:endParaRPr lang="en-US" sz="1600" dirty="0"/>
          </a:p>
        </p:txBody>
      </p:sp>
      <p:sp>
        <p:nvSpPr>
          <p:cNvPr id="4" name="Card Access control"/>
          <p:cNvSpPr/>
          <p:nvPr/>
        </p:nvSpPr>
        <p:spPr>
          <a:xfrm>
            <a:off x="731520" y="1234440"/>
            <a:ext cx="3383280" cy="2240280"/>
          </a:xfrm>
          <a:prstGeom prst="roundRect">
            <a:avLst>
              <a:gd name="adj" fmla="val 6122"/>
            </a:avLst>
          </a:prstGeom>
          <a:solidFill>
            <a:schemeClr val="bg1"/>
          </a:solidFill>
          <a:ln w="31750">
            <a:solidFill>
              <a:schemeClr val="tx1"/>
            </a:solidFill>
            <a:prstDash val="solid"/>
          </a:ln>
        </p:spPr>
      </p:sp>
      <p:sp>
        <p:nvSpPr>
          <p:cNvPr id="5" name="Badge 0"/>
          <p:cNvSpPr/>
          <p:nvPr/>
        </p:nvSpPr>
        <p:spPr>
          <a:xfrm>
            <a:off x="960120" y="1463040"/>
            <a:ext cx="640080" cy="640080"/>
          </a:xfrm>
          <a:prstGeom prst="ellipse">
            <a:avLst/>
          </a:prstGeom>
          <a:solidFill>
            <a:schemeClr val="accent1"/>
          </a:solidFill>
          <a:ln w="25400">
            <a:solidFill>
              <a:schemeClr val="tx1"/>
            </a:solidFill>
            <a:prstDash val="solid"/>
          </a:ln>
        </p:spPr>
      </p:sp>
      <p:pic>
        <p:nvPicPr>
          <p:cNvPr id="6" name="Module icon 0" descr="preencoded.png">    </p:cNvPr>
          <p:cNvPicPr>
            <a:picLocks noChangeAspect="1"/>
          </p:cNvPicPr>
          <p:nvPr/>
        </p:nvPicPr>
        <p:blipFill>
          <a:blip r:embed="rId2"/>
          <a:stretch>
            <a:fillRect/>
          </a:stretch>
        </p:blipFill>
        <p:spPr>
          <a:xfrm>
            <a:off x="1124712" y="1627632"/>
            <a:ext cx="310896" cy="310896"/>
          </a:xfrm>
          <a:prstGeom prst="rect">
            <a:avLst/>
          </a:prstGeom>
        </p:spPr>
      </p:pic>
      <p:sp>
        <p:nvSpPr>
          <p:cNvPr id="7" name="Text 3"/>
          <p:cNvSpPr txBox="1"/>
          <p:nvPr/>
        </p:nvSpPr>
        <p:spPr>
          <a:xfrm>
            <a:off x="1737360" y="1463040"/>
            <a:ext cx="2240280" cy="640080"/>
          </a:xfrm>
          <a:prstGeom prst="rect">
            <a:avLst/>
          </a:prstGeom>
          <a:noFill/>
          <a:ln/>
        </p:spPr>
        <p:txBody>
          <a:bodyPr wrap="square" lIns="0" tIns="0" rIns="0" bIns="0" rtlCol="0" anchor="ctr"/>
          <a:lstStyle/>
          <a:p>
            <a:pPr indent="0" marL="0">
              <a:buNone/>
            </a:pPr>
            <a:r>
              <a:rPr lang="en-US" sz="1700" dirty="0">
                <a:solidFill>
                  <a:schemeClr val="tx1"/>
                </a:solidFill>
                <a:latin typeface="+mj-lt" pitchFamily="34" charset="0"/>
                <a:ea typeface="+mj-lt" pitchFamily="34" charset="-122"/>
                <a:cs typeface="+mj-lt" pitchFamily="34" charset="-120"/>
              </a:rPr>
              <a:t>Access control</a:t>
            </a:r>
            <a:endParaRPr lang="en-US" sz="1700" dirty="0"/>
          </a:p>
        </p:txBody>
      </p:sp>
      <p:sp>
        <p:nvSpPr>
          <p:cNvPr id="8" name="Text 4"/>
          <p:cNvSpPr txBox="1"/>
          <p:nvPr/>
        </p:nvSpPr>
        <p:spPr>
          <a:xfrm>
            <a:off x="960120" y="2240280"/>
            <a:ext cx="2926080" cy="1097280"/>
          </a:xfrm>
          <a:prstGeom prst="rect">
            <a:avLst/>
          </a:prstGeom>
          <a:noFill/>
          <a:ln/>
        </p:spPr>
        <p:txBody>
          <a:bodyPr wrap="square" lIns="0" tIns="0" rIns="0" bIns="0" rtlCol="0" anchor="t"/>
          <a:lstStyle/>
          <a:p>
            <a:pPr indent="0" marL="0">
              <a:lnSpc>
                <a:spcPct val="115000"/>
              </a:lnSpc>
              <a:buNone/>
            </a:pPr>
            <a:r>
              <a:rPr lang="en-US" sz="1400" dirty="0">
                <a:solidFill>
                  <a:schemeClr val="tx1"/>
                </a:solidFill>
              </a:rPr>
              <a:t>JWT login, RBAC middleware, rate limiting and admin user management.</a:t>
            </a:r>
            <a:endParaRPr lang="en-US" sz="1400" dirty="0"/>
          </a:p>
        </p:txBody>
      </p:sp>
      <p:sp>
        <p:nvSpPr>
          <p:cNvPr id="9" name="Card Clinical records"/>
          <p:cNvSpPr/>
          <p:nvPr/>
        </p:nvSpPr>
        <p:spPr>
          <a:xfrm>
            <a:off x="4389120" y="1234440"/>
            <a:ext cx="3383280" cy="2240280"/>
          </a:xfrm>
          <a:prstGeom prst="roundRect">
            <a:avLst>
              <a:gd name="adj" fmla="val 6122"/>
            </a:avLst>
          </a:prstGeom>
          <a:solidFill>
            <a:schemeClr val="bg1"/>
          </a:solidFill>
          <a:ln w="31750">
            <a:solidFill>
              <a:schemeClr val="tx1"/>
            </a:solidFill>
            <a:prstDash val="solid"/>
          </a:ln>
        </p:spPr>
      </p:sp>
      <p:sp>
        <p:nvSpPr>
          <p:cNvPr id="10" name="Badge 1"/>
          <p:cNvSpPr/>
          <p:nvPr/>
        </p:nvSpPr>
        <p:spPr>
          <a:xfrm>
            <a:off x="4617720" y="1463040"/>
            <a:ext cx="640080" cy="640080"/>
          </a:xfrm>
          <a:prstGeom prst="ellipse">
            <a:avLst/>
          </a:prstGeom>
          <a:solidFill>
            <a:schemeClr val="accent1"/>
          </a:solidFill>
          <a:ln w="25400">
            <a:solidFill>
              <a:schemeClr val="tx1"/>
            </a:solidFill>
            <a:prstDash val="solid"/>
          </a:ln>
        </p:spPr>
      </p:sp>
      <p:pic>
        <p:nvPicPr>
          <p:cNvPr id="11" name="Module icon 1" descr="preencoded.png">    </p:cNvPr>
          <p:cNvPicPr>
            <a:picLocks noChangeAspect="1"/>
          </p:cNvPicPr>
          <p:nvPr/>
        </p:nvPicPr>
        <p:blipFill>
          <a:blip r:embed="rId3"/>
          <a:stretch>
            <a:fillRect/>
          </a:stretch>
        </p:blipFill>
        <p:spPr>
          <a:xfrm>
            <a:off x="4782312" y="1627632"/>
            <a:ext cx="310896" cy="310896"/>
          </a:xfrm>
          <a:prstGeom prst="rect">
            <a:avLst/>
          </a:prstGeom>
        </p:spPr>
      </p:pic>
      <p:sp>
        <p:nvSpPr>
          <p:cNvPr id="12" name="Text 7"/>
          <p:cNvSpPr txBox="1"/>
          <p:nvPr/>
        </p:nvSpPr>
        <p:spPr>
          <a:xfrm>
            <a:off x="5394960" y="1463040"/>
            <a:ext cx="2240280" cy="640080"/>
          </a:xfrm>
          <a:prstGeom prst="rect">
            <a:avLst/>
          </a:prstGeom>
          <a:noFill/>
          <a:ln/>
        </p:spPr>
        <p:txBody>
          <a:bodyPr wrap="square" lIns="0" tIns="0" rIns="0" bIns="0" rtlCol="0" anchor="ctr"/>
          <a:lstStyle/>
          <a:p>
            <a:pPr indent="0" marL="0">
              <a:buNone/>
            </a:pPr>
            <a:r>
              <a:rPr lang="en-US" sz="1700" dirty="0">
                <a:solidFill>
                  <a:schemeClr val="tx1"/>
                </a:solidFill>
                <a:latin typeface="+mj-lt" pitchFamily="34" charset="0"/>
                <a:ea typeface="+mj-lt" pitchFamily="34" charset="-122"/>
                <a:cs typeface="+mj-lt" pitchFamily="34" charset="-120"/>
              </a:rPr>
              <a:t>Clinical care</a:t>
            </a:r>
            <a:endParaRPr lang="en-US" sz="1700" dirty="0"/>
          </a:p>
        </p:txBody>
      </p:sp>
      <p:sp>
        <p:nvSpPr>
          <p:cNvPr id="13" name="Text 8"/>
          <p:cNvSpPr txBox="1"/>
          <p:nvPr/>
        </p:nvSpPr>
        <p:spPr>
          <a:xfrm>
            <a:off x="4617720" y="2240280"/>
            <a:ext cx="2926080" cy="1097280"/>
          </a:xfrm>
          <a:prstGeom prst="rect">
            <a:avLst/>
          </a:prstGeom>
          <a:noFill/>
          <a:ln/>
        </p:spPr>
        <p:txBody>
          <a:bodyPr wrap="square" lIns="0" tIns="0" rIns="0" bIns="0" rtlCol="0" anchor="t"/>
          <a:lstStyle/>
          <a:p>
            <a:pPr indent="0" marL="0">
              <a:lnSpc>
                <a:spcPct val="115000"/>
              </a:lnSpc>
              <a:buNone/>
            </a:pPr>
            <a:r>
              <a:rPr lang="en-US" sz="1400" dirty="0">
                <a:solidFill>
                  <a:schemeClr val="tx1"/>
                </a:solidFill>
              </a:rPr>
              <a:t>Medical records, visits, student verification, profiles and inpatient admissions.</a:t>
            </a:r>
            <a:endParaRPr lang="en-US" sz="1400" dirty="0"/>
          </a:p>
        </p:txBody>
      </p:sp>
      <p:sp>
        <p:nvSpPr>
          <p:cNvPr id="14" name="Card Pharmacy"/>
          <p:cNvSpPr/>
          <p:nvPr/>
        </p:nvSpPr>
        <p:spPr>
          <a:xfrm>
            <a:off x="8046720" y="1234440"/>
            <a:ext cx="3383280" cy="2240280"/>
          </a:xfrm>
          <a:prstGeom prst="roundRect">
            <a:avLst>
              <a:gd name="adj" fmla="val 6122"/>
            </a:avLst>
          </a:prstGeom>
          <a:solidFill>
            <a:schemeClr val="bg1"/>
          </a:solidFill>
          <a:ln w="31750">
            <a:solidFill>
              <a:schemeClr val="tx1"/>
            </a:solidFill>
            <a:prstDash val="solid"/>
          </a:ln>
        </p:spPr>
      </p:sp>
      <p:sp>
        <p:nvSpPr>
          <p:cNvPr id="15" name="Badge 2"/>
          <p:cNvSpPr/>
          <p:nvPr/>
        </p:nvSpPr>
        <p:spPr>
          <a:xfrm>
            <a:off x="8275320" y="1463040"/>
            <a:ext cx="640080" cy="640080"/>
          </a:xfrm>
          <a:prstGeom prst="ellipse">
            <a:avLst/>
          </a:prstGeom>
          <a:solidFill>
            <a:schemeClr val="accent3"/>
          </a:solidFill>
          <a:ln w="25400">
            <a:solidFill>
              <a:schemeClr val="tx1"/>
            </a:solidFill>
            <a:prstDash val="solid"/>
          </a:ln>
        </p:spPr>
      </p:sp>
      <p:pic>
        <p:nvPicPr>
          <p:cNvPr id="16" name="Module icon 2" descr="preencoded.png">    </p:cNvPr>
          <p:cNvPicPr>
            <a:picLocks noChangeAspect="1"/>
          </p:cNvPicPr>
          <p:nvPr/>
        </p:nvPicPr>
        <p:blipFill>
          <a:blip r:embed="rId4"/>
          <a:stretch>
            <a:fillRect/>
          </a:stretch>
        </p:blipFill>
        <p:spPr>
          <a:xfrm>
            <a:off x="8439912" y="1627632"/>
            <a:ext cx="310896" cy="310896"/>
          </a:xfrm>
          <a:prstGeom prst="rect">
            <a:avLst/>
          </a:prstGeom>
        </p:spPr>
      </p:pic>
      <p:sp>
        <p:nvSpPr>
          <p:cNvPr id="17" name="Text 11"/>
          <p:cNvSpPr txBox="1"/>
          <p:nvPr/>
        </p:nvSpPr>
        <p:spPr>
          <a:xfrm>
            <a:off x="9052560" y="1463040"/>
            <a:ext cx="2240280" cy="640080"/>
          </a:xfrm>
          <a:prstGeom prst="rect">
            <a:avLst/>
          </a:prstGeom>
          <a:noFill/>
          <a:ln/>
        </p:spPr>
        <p:txBody>
          <a:bodyPr wrap="square" lIns="0" tIns="0" rIns="0" bIns="0" rtlCol="0" anchor="ctr"/>
          <a:lstStyle/>
          <a:p>
            <a:pPr indent="0" marL="0">
              <a:buNone/>
            </a:pPr>
            <a:r>
              <a:rPr lang="en-US" sz="1700" dirty="0">
                <a:solidFill>
                  <a:schemeClr val="tx1"/>
                </a:solidFill>
                <a:latin typeface="+mj-lt" pitchFamily="34" charset="0"/>
                <a:ea typeface="+mj-lt" pitchFamily="34" charset="-122"/>
                <a:cs typeface="+mj-lt" pitchFamily="34" charset="-120"/>
              </a:rPr>
              <a:t>Pharmacy</a:t>
            </a:r>
            <a:endParaRPr lang="en-US" sz="1700" dirty="0"/>
          </a:p>
        </p:txBody>
      </p:sp>
      <p:sp>
        <p:nvSpPr>
          <p:cNvPr id="18" name="Text 12"/>
          <p:cNvSpPr txBox="1"/>
          <p:nvPr/>
        </p:nvSpPr>
        <p:spPr>
          <a:xfrm>
            <a:off x="8275320" y="2240280"/>
            <a:ext cx="2926080" cy="1097280"/>
          </a:xfrm>
          <a:prstGeom prst="rect">
            <a:avLst/>
          </a:prstGeom>
          <a:noFill/>
          <a:ln/>
        </p:spPr>
        <p:txBody>
          <a:bodyPr wrap="square" lIns="0" tIns="0" rIns="0" bIns="0" rtlCol="0" anchor="t"/>
          <a:lstStyle/>
          <a:p>
            <a:pPr indent="0" marL="0">
              <a:lnSpc>
                <a:spcPct val="115000"/>
              </a:lnSpc>
              <a:buNone/>
            </a:pPr>
            <a:r>
              <a:rPr lang="en-US" sz="1400" dirty="0">
                <a:solidFill>
                  <a:schemeClr val="tx1"/>
                </a:solidFill>
              </a:rPr>
              <a:t>Prescriptions, drug inventory and transactional dispensing.</a:t>
            </a:r>
            <a:endParaRPr lang="en-US" sz="1400" dirty="0"/>
          </a:p>
        </p:txBody>
      </p:sp>
      <p:sp>
        <p:nvSpPr>
          <p:cNvPr id="19" name="Card Laboratory"/>
          <p:cNvSpPr/>
          <p:nvPr/>
        </p:nvSpPr>
        <p:spPr>
          <a:xfrm>
            <a:off x="731520" y="3703320"/>
            <a:ext cx="3383280" cy="2240280"/>
          </a:xfrm>
          <a:prstGeom prst="roundRect">
            <a:avLst>
              <a:gd name="adj" fmla="val 6122"/>
            </a:avLst>
          </a:prstGeom>
          <a:solidFill>
            <a:schemeClr val="bg1"/>
          </a:solidFill>
          <a:ln w="31750">
            <a:solidFill>
              <a:schemeClr val="tx1"/>
            </a:solidFill>
            <a:prstDash val="solid"/>
          </a:ln>
        </p:spPr>
      </p:sp>
      <p:sp>
        <p:nvSpPr>
          <p:cNvPr id="20" name="Badge 3"/>
          <p:cNvSpPr/>
          <p:nvPr/>
        </p:nvSpPr>
        <p:spPr>
          <a:xfrm>
            <a:off x="960120" y="3931920"/>
            <a:ext cx="640080" cy="640080"/>
          </a:xfrm>
          <a:prstGeom prst="ellipse">
            <a:avLst/>
          </a:prstGeom>
          <a:solidFill>
            <a:schemeClr val="accent1"/>
          </a:solidFill>
          <a:ln w="25400">
            <a:solidFill>
              <a:schemeClr val="tx1"/>
            </a:solidFill>
            <a:prstDash val="solid"/>
          </a:ln>
        </p:spPr>
      </p:sp>
      <p:pic>
        <p:nvPicPr>
          <p:cNvPr id="21" name="Module icon 3" descr="preencoded.png">    </p:cNvPr>
          <p:cNvPicPr>
            <a:picLocks noChangeAspect="1"/>
          </p:cNvPicPr>
          <p:nvPr/>
        </p:nvPicPr>
        <p:blipFill>
          <a:blip r:embed="rId5"/>
          <a:stretch>
            <a:fillRect/>
          </a:stretch>
        </p:blipFill>
        <p:spPr>
          <a:xfrm>
            <a:off x="1124712" y="4096512"/>
            <a:ext cx="310896" cy="310896"/>
          </a:xfrm>
          <a:prstGeom prst="rect">
            <a:avLst/>
          </a:prstGeom>
        </p:spPr>
      </p:pic>
      <p:sp>
        <p:nvSpPr>
          <p:cNvPr id="22" name="Text 15"/>
          <p:cNvSpPr txBox="1"/>
          <p:nvPr/>
        </p:nvSpPr>
        <p:spPr>
          <a:xfrm>
            <a:off x="1737360" y="3931920"/>
            <a:ext cx="2240280" cy="640080"/>
          </a:xfrm>
          <a:prstGeom prst="rect">
            <a:avLst/>
          </a:prstGeom>
          <a:noFill/>
          <a:ln/>
        </p:spPr>
        <p:txBody>
          <a:bodyPr wrap="square" lIns="0" tIns="0" rIns="0" bIns="0" rtlCol="0" anchor="ctr"/>
          <a:lstStyle/>
          <a:p>
            <a:pPr indent="0" marL="0">
              <a:buNone/>
            </a:pPr>
            <a:r>
              <a:rPr lang="en-US" sz="1700" dirty="0">
                <a:solidFill>
                  <a:schemeClr val="tx1"/>
                </a:solidFill>
                <a:latin typeface="+mj-lt" pitchFamily="34" charset="0"/>
                <a:ea typeface="+mj-lt" pitchFamily="34" charset="-122"/>
                <a:cs typeface="+mj-lt" pitchFamily="34" charset="-120"/>
              </a:rPr>
              <a:t>Laboratory</a:t>
            </a:r>
            <a:endParaRPr lang="en-US" sz="1700" dirty="0"/>
          </a:p>
        </p:txBody>
      </p:sp>
      <p:sp>
        <p:nvSpPr>
          <p:cNvPr id="23" name="Text 16"/>
          <p:cNvSpPr txBox="1"/>
          <p:nvPr/>
        </p:nvSpPr>
        <p:spPr>
          <a:xfrm>
            <a:off x="960120" y="4709160"/>
            <a:ext cx="2926080" cy="1097280"/>
          </a:xfrm>
          <a:prstGeom prst="rect">
            <a:avLst/>
          </a:prstGeom>
          <a:noFill/>
          <a:ln/>
        </p:spPr>
        <p:txBody>
          <a:bodyPr wrap="square" lIns="0" tIns="0" rIns="0" bIns="0" rtlCol="0" anchor="t"/>
          <a:lstStyle/>
          <a:p>
            <a:pPr indent="0" marL="0">
              <a:lnSpc>
                <a:spcPct val="115000"/>
              </a:lnSpc>
              <a:buNone/>
            </a:pPr>
            <a:r>
              <a:rPr lang="en-US" sz="1400" dirty="0">
                <a:solidFill>
                  <a:schemeClr val="tx1"/>
                </a:solidFill>
              </a:rPr>
              <a:t>Test catalogue, orders, results, flags and doctor release.</a:t>
            </a:r>
            <a:endParaRPr lang="en-US" sz="1400" dirty="0"/>
          </a:p>
        </p:txBody>
      </p:sp>
      <p:sp>
        <p:nvSpPr>
          <p:cNvPr id="24" name="Card Patient engagement"/>
          <p:cNvSpPr/>
          <p:nvPr/>
        </p:nvSpPr>
        <p:spPr>
          <a:xfrm>
            <a:off x="4389120" y="3703320"/>
            <a:ext cx="3383280" cy="2240280"/>
          </a:xfrm>
          <a:prstGeom prst="roundRect">
            <a:avLst>
              <a:gd name="adj" fmla="val 6122"/>
            </a:avLst>
          </a:prstGeom>
          <a:solidFill>
            <a:schemeClr val="bg1"/>
          </a:solidFill>
          <a:ln w="31750">
            <a:solidFill>
              <a:schemeClr val="tx1"/>
            </a:solidFill>
            <a:prstDash val="solid"/>
          </a:ln>
        </p:spPr>
      </p:sp>
      <p:sp>
        <p:nvSpPr>
          <p:cNvPr id="25" name="Badge 4"/>
          <p:cNvSpPr/>
          <p:nvPr/>
        </p:nvSpPr>
        <p:spPr>
          <a:xfrm>
            <a:off x="4617720" y="3931920"/>
            <a:ext cx="640080" cy="640080"/>
          </a:xfrm>
          <a:prstGeom prst="ellipse">
            <a:avLst/>
          </a:prstGeom>
          <a:solidFill>
            <a:schemeClr val="accent1"/>
          </a:solidFill>
          <a:ln w="25400">
            <a:solidFill>
              <a:schemeClr val="tx1"/>
            </a:solidFill>
            <a:prstDash val="solid"/>
          </a:ln>
        </p:spPr>
      </p:sp>
      <p:pic>
        <p:nvPicPr>
          <p:cNvPr id="26" name="Module icon 4" descr="preencoded.png">    </p:cNvPr>
          <p:cNvPicPr>
            <a:picLocks noChangeAspect="1"/>
          </p:cNvPicPr>
          <p:nvPr/>
        </p:nvPicPr>
        <p:blipFill>
          <a:blip r:embed="rId6"/>
          <a:stretch>
            <a:fillRect/>
          </a:stretch>
        </p:blipFill>
        <p:spPr>
          <a:xfrm>
            <a:off x="4782312" y="4096512"/>
            <a:ext cx="310896" cy="310896"/>
          </a:xfrm>
          <a:prstGeom prst="rect">
            <a:avLst/>
          </a:prstGeom>
        </p:spPr>
      </p:pic>
      <p:sp>
        <p:nvSpPr>
          <p:cNvPr id="27" name="Text 19"/>
          <p:cNvSpPr txBox="1"/>
          <p:nvPr/>
        </p:nvSpPr>
        <p:spPr>
          <a:xfrm>
            <a:off x="5394960" y="3931920"/>
            <a:ext cx="2240280" cy="640080"/>
          </a:xfrm>
          <a:prstGeom prst="rect">
            <a:avLst/>
          </a:prstGeom>
          <a:noFill/>
          <a:ln/>
        </p:spPr>
        <p:txBody>
          <a:bodyPr wrap="square" lIns="0" tIns="0" rIns="0" bIns="0" rtlCol="0" anchor="ctr"/>
          <a:lstStyle/>
          <a:p>
            <a:pPr indent="0" marL="0">
              <a:buNone/>
            </a:pPr>
            <a:r>
              <a:rPr lang="en-US" sz="1700" dirty="0">
                <a:solidFill>
                  <a:schemeClr val="tx1"/>
                </a:solidFill>
                <a:latin typeface="+mj-lt" pitchFamily="34" charset="0"/>
                <a:ea typeface="+mj-lt" pitchFamily="34" charset="-122"/>
                <a:cs typeface="+mj-lt" pitchFamily="34" charset="-120"/>
              </a:rPr>
              <a:t>Patient engagement</a:t>
            </a:r>
            <a:endParaRPr lang="en-US" sz="1700" dirty="0"/>
          </a:p>
        </p:txBody>
      </p:sp>
      <p:sp>
        <p:nvSpPr>
          <p:cNvPr id="28" name="Text 20"/>
          <p:cNvSpPr txBox="1"/>
          <p:nvPr/>
        </p:nvSpPr>
        <p:spPr>
          <a:xfrm>
            <a:off x="4617720" y="4709160"/>
            <a:ext cx="2926080" cy="1097280"/>
          </a:xfrm>
          <a:prstGeom prst="rect">
            <a:avLst/>
          </a:prstGeom>
          <a:noFill/>
          <a:ln/>
        </p:spPr>
        <p:txBody>
          <a:bodyPr wrap="square" lIns="0" tIns="0" rIns="0" bIns="0" rtlCol="0" anchor="t"/>
          <a:lstStyle/>
          <a:p>
            <a:pPr indent="0" marL="0">
              <a:lnSpc>
                <a:spcPct val="115000"/>
              </a:lnSpc>
              <a:buNone/>
            </a:pPr>
            <a:r>
              <a:rPr lang="en-US" sz="1400" dirty="0">
                <a:solidFill>
                  <a:schemeClr val="tx1"/>
                </a:solidFill>
              </a:rPr>
              <a:t>Appointments, notifications, care timeline and secure messaging.</a:t>
            </a:r>
            <a:endParaRPr lang="en-US" sz="1400" dirty="0"/>
          </a:p>
        </p:txBody>
      </p:sp>
      <p:sp>
        <p:nvSpPr>
          <p:cNvPr id="29" name="Card Consent and audit"/>
          <p:cNvSpPr/>
          <p:nvPr/>
        </p:nvSpPr>
        <p:spPr>
          <a:xfrm>
            <a:off x="8046720" y="3703320"/>
            <a:ext cx="3383280" cy="2240280"/>
          </a:xfrm>
          <a:prstGeom prst="roundRect">
            <a:avLst>
              <a:gd name="adj" fmla="val 6122"/>
            </a:avLst>
          </a:prstGeom>
          <a:solidFill>
            <a:schemeClr val="bg1"/>
          </a:solidFill>
          <a:ln w="31750">
            <a:solidFill>
              <a:schemeClr val="tx1"/>
            </a:solidFill>
            <a:prstDash val="solid"/>
          </a:ln>
        </p:spPr>
      </p:sp>
      <p:sp>
        <p:nvSpPr>
          <p:cNvPr id="30" name="Badge 5"/>
          <p:cNvSpPr/>
          <p:nvPr/>
        </p:nvSpPr>
        <p:spPr>
          <a:xfrm>
            <a:off x="8275320" y="3931920"/>
            <a:ext cx="640080" cy="640080"/>
          </a:xfrm>
          <a:prstGeom prst="ellipse">
            <a:avLst/>
          </a:prstGeom>
          <a:solidFill>
            <a:schemeClr val="accent1"/>
          </a:solidFill>
          <a:ln w="25400">
            <a:solidFill>
              <a:schemeClr val="tx1"/>
            </a:solidFill>
            <a:prstDash val="solid"/>
          </a:ln>
        </p:spPr>
      </p:sp>
      <p:pic>
        <p:nvPicPr>
          <p:cNvPr id="31" name="Module icon 5" descr="preencoded.png">    </p:cNvPr>
          <p:cNvPicPr>
            <a:picLocks noChangeAspect="1"/>
          </p:cNvPicPr>
          <p:nvPr/>
        </p:nvPicPr>
        <p:blipFill>
          <a:blip r:embed="rId7"/>
          <a:stretch>
            <a:fillRect/>
          </a:stretch>
        </p:blipFill>
        <p:spPr>
          <a:xfrm>
            <a:off x="8439912" y="4096512"/>
            <a:ext cx="310896" cy="310896"/>
          </a:xfrm>
          <a:prstGeom prst="rect">
            <a:avLst/>
          </a:prstGeom>
        </p:spPr>
      </p:pic>
      <p:sp>
        <p:nvSpPr>
          <p:cNvPr id="32" name="Text 23"/>
          <p:cNvSpPr txBox="1"/>
          <p:nvPr/>
        </p:nvSpPr>
        <p:spPr>
          <a:xfrm>
            <a:off x="9052560" y="3931920"/>
            <a:ext cx="2240280" cy="640080"/>
          </a:xfrm>
          <a:prstGeom prst="rect">
            <a:avLst/>
          </a:prstGeom>
          <a:noFill/>
          <a:ln/>
        </p:spPr>
        <p:txBody>
          <a:bodyPr wrap="square" lIns="0" tIns="0" rIns="0" bIns="0" rtlCol="0" anchor="ctr"/>
          <a:lstStyle/>
          <a:p>
            <a:pPr indent="0" marL="0">
              <a:buNone/>
            </a:pPr>
            <a:r>
              <a:rPr lang="en-US" sz="1700" dirty="0">
                <a:solidFill>
                  <a:schemeClr val="tx1"/>
                </a:solidFill>
                <a:latin typeface="+mj-lt" pitchFamily="34" charset="0"/>
                <a:ea typeface="+mj-lt" pitchFamily="34" charset="-122"/>
                <a:cs typeface="+mj-lt" pitchFamily="34" charset="-120"/>
              </a:rPr>
              <a:t>Consent and audit</a:t>
            </a:r>
            <a:endParaRPr lang="en-US" sz="1700" dirty="0"/>
          </a:p>
        </p:txBody>
      </p:sp>
      <p:sp>
        <p:nvSpPr>
          <p:cNvPr id="33" name="Text 24"/>
          <p:cNvSpPr txBox="1"/>
          <p:nvPr/>
        </p:nvSpPr>
        <p:spPr>
          <a:xfrm>
            <a:off x="8275320" y="4709160"/>
            <a:ext cx="2926080" cy="1097280"/>
          </a:xfrm>
          <a:prstGeom prst="rect">
            <a:avLst/>
          </a:prstGeom>
          <a:noFill/>
          <a:ln/>
        </p:spPr>
        <p:txBody>
          <a:bodyPr wrap="square" lIns="0" tIns="0" rIns="0" bIns="0" rtlCol="0" anchor="t"/>
          <a:lstStyle/>
          <a:p>
            <a:pPr indent="0" marL="0">
              <a:lnSpc>
                <a:spcPct val="115000"/>
              </a:lnSpc>
              <a:buNone/>
            </a:pPr>
            <a:r>
              <a:rPr lang="en-US" sz="1400" dirty="0">
                <a:solidFill>
                  <a:schemeClr val="tx1"/>
                </a:solidFill>
              </a:rPr>
              <a:t>Next of kin consent, access logs and CSV export.</a:t>
            </a:r>
            <a:endParaRPr lang="en-US" sz="1400" dirty="0"/>
          </a:p>
        </p:txBody>
      </p:sp>
      <p:pic>
        <p:nvPicPr>
          <p:cNvPr id="34" name="Icon caps" descr="preencoded.png">    </p:cNvPr>
          <p:cNvPicPr>
            <a:picLocks noChangeAspect="1"/>
          </p:cNvPicPr>
          <p:nvPr/>
        </p:nvPicPr>
        <p:blipFill>
          <a:blip r:embed="rId8"/>
          <a:stretch>
            <a:fillRect/>
          </a:stretch>
        </p:blipFill>
        <p:spPr>
          <a:xfrm rot="1500000">
            <a:off x="11155680" y="5943600"/>
            <a:ext cx="1280160" cy="1280160"/>
          </a:xfrm>
          <a:prstGeom prst="rect">
            <a:avLst/>
          </a:prstGeom>
        </p:spPr>
      </p:pic>
      <p:sp>
        <p:nvSpPr>
          <p:cNvPr id="25" name="Slide Number Placeholder 0"/>
          <p:cNvSpPr>
            <a:spLocks noGrp="1"/>
          </p:cNvSpPr>
          <p:nvPr>
            <p:ph type="sldNum" sz="quarter" idx="4294967295"/>
          </p:nvPr>
        </p:nvSpPr>
        <p:spPr>
          <a:xfrm>
            <a:off x="11338560" y="647395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3F457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Label Key Implementation Details" descr="preencoded.png">    </p:cNvPr>
          <p:cNvPicPr>
            <a:picLocks noChangeAspect="1"/>
          </p:cNvPicPr>
          <p:nvPr/>
        </p:nvPicPr>
        <p:blipFill>
          <a:blip r:embed="rId1"/>
          <a:stretch>
            <a:fillRect/>
          </a:stretch>
        </p:blipFill>
        <p:spPr>
          <a:xfrm>
            <a:off x="640080" y="274320"/>
            <a:ext cx="3429000" cy="457200"/>
          </a:xfrm>
          <a:prstGeom prst="rect">
            <a:avLst/>
          </a:prstGeom>
        </p:spPr>
      </p:pic>
      <p:sp>
        <p:nvSpPr>
          <p:cNvPr id="3" name="Text 0"/>
          <p:cNvSpPr txBox="1"/>
          <p:nvPr/>
        </p:nvSpPr>
        <p:spPr>
          <a:xfrm>
            <a:off x="640080" y="274320"/>
            <a:ext cx="3429000" cy="457200"/>
          </a:xfrm>
          <a:prstGeom prst="rect">
            <a:avLst/>
          </a:prstGeom>
          <a:noFill/>
          <a:ln/>
        </p:spPr>
        <p:txBody>
          <a:bodyPr wrap="square" lIns="0" tIns="0" rIns="0" bIns="0" rtlCol="0" anchor="ctr"/>
          <a:lstStyle/>
          <a:p>
            <a:pPr algn="ctr" indent="0" marL="0">
              <a:buNone/>
            </a:pPr>
            <a:r>
              <a:rPr lang="en-US" sz="1600" b="1" dirty="0">
                <a:solidFill>
                  <a:schemeClr val="tx1"/>
                </a:solidFill>
              </a:rPr>
              <a:t>Key Implementation Details</a:t>
            </a:r>
            <a:endParaRPr lang="en-US" sz="1600" dirty="0"/>
          </a:p>
        </p:txBody>
      </p:sp>
      <p:sp>
        <p:nvSpPr>
          <p:cNvPr id="4" name="Stepper line"/>
          <p:cNvSpPr/>
          <p:nvPr/>
        </p:nvSpPr>
        <p:spPr>
          <a:xfrm>
            <a:off x="1143000" y="1444752"/>
            <a:ext cx="0" cy="3877056"/>
          </a:xfrm>
          <a:prstGeom prst="line">
            <a:avLst/>
          </a:prstGeom>
          <a:noFill/>
          <a:ln w="38100">
            <a:solidFill>
              <a:schemeClr val="accent2"/>
            </a:solidFill>
            <a:prstDash val="solid"/>
          </a:ln>
        </p:spPr>
      </p:sp>
      <p:sp>
        <p:nvSpPr>
          <p:cNvPr id="5" name="Step 1"/>
          <p:cNvSpPr/>
          <p:nvPr/>
        </p:nvSpPr>
        <p:spPr>
          <a:xfrm>
            <a:off x="841248" y="1143000"/>
            <a:ext cx="603504" cy="603504"/>
          </a:xfrm>
          <a:prstGeom prst="ellipse">
            <a:avLst/>
          </a:prstGeom>
          <a:solidFill>
            <a:schemeClr val="accent1"/>
          </a:solidFill>
          <a:ln w="31750">
            <a:solidFill>
              <a:schemeClr val="tx1"/>
            </a:solidFill>
            <a:prstDash val="solid"/>
          </a:ln>
        </p:spPr>
      </p:sp>
      <p:pic>
        <p:nvPicPr>
          <p:cNvPr id="6" name="Step icon 1" descr="preencoded.png">    </p:cNvPr>
          <p:cNvPicPr>
            <a:picLocks noChangeAspect="1"/>
          </p:cNvPicPr>
          <p:nvPr/>
        </p:nvPicPr>
        <p:blipFill>
          <a:blip r:embed="rId2"/>
          <a:stretch>
            <a:fillRect/>
          </a:stretch>
        </p:blipFill>
        <p:spPr>
          <a:xfrm>
            <a:off x="987552" y="1289304"/>
            <a:ext cx="310896" cy="310896"/>
          </a:xfrm>
          <a:prstGeom prst="rect">
            <a:avLst/>
          </a:prstGeom>
        </p:spPr>
      </p:pic>
      <p:sp>
        <p:nvSpPr>
          <p:cNvPr id="7" name="Text 3"/>
          <p:cNvSpPr txBox="1"/>
          <p:nvPr/>
        </p:nvSpPr>
        <p:spPr>
          <a:xfrm>
            <a:off x="1828800" y="1124712"/>
            <a:ext cx="7680960" cy="310896"/>
          </a:xfrm>
          <a:prstGeom prst="rect">
            <a:avLst/>
          </a:prstGeom>
          <a:noFill/>
          <a:ln/>
        </p:spPr>
        <p:txBody>
          <a:bodyPr wrap="square" lIns="0" tIns="0" rIns="0" bIns="0" rtlCol="0" anchor="t"/>
          <a:lstStyle/>
          <a:p>
            <a:pPr indent="0" marL="0">
              <a:buNone/>
            </a:pPr>
            <a:r>
              <a:rPr lang="en-US" sz="1700" b="1" dirty="0">
                <a:solidFill>
                  <a:schemeClr val="tx1"/>
                </a:solidFill>
              </a:rPr>
              <a:t>One source of truth</a:t>
            </a:r>
            <a:endParaRPr lang="en-US" sz="1700" dirty="0"/>
          </a:p>
        </p:txBody>
      </p:sp>
      <p:sp>
        <p:nvSpPr>
          <p:cNvPr id="8" name="Text 4"/>
          <p:cNvSpPr txBox="1"/>
          <p:nvPr/>
        </p:nvSpPr>
        <p:spPr>
          <a:xfrm>
            <a:off x="1828800" y="1453896"/>
            <a:ext cx="7680960" cy="566928"/>
          </a:xfrm>
          <a:prstGeom prst="rect">
            <a:avLst/>
          </a:prstGeom>
          <a:noFill/>
          <a:ln/>
        </p:spPr>
        <p:txBody>
          <a:bodyPr wrap="square" lIns="0" tIns="0" rIns="0" bIns="0" rtlCol="0" anchor="t"/>
          <a:lstStyle/>
          <a:p>
            <a:pPr indent="0" marL="0">
              <a:lnSpc>
                <a:spcPct val="115000"/>
              </a:lnSpc>
              <a:buNone/>
            </a:pPr>
            <a:r>
              <a:rPr lang="en-US" sz="1400" dirty="0">
                <a:solidFill>
                  <a:schemeClr val="tx1"/>
                </a:solidFill>
              </a:rPr>
              <a:t>roles.ts maps each role to its dashboard; jwt.ts is the only place tokens are read</a:t>
            </a:r>
            <a:endParaRPr lang="en-US" sz="1400" dirty="0"/>
          </a:p>
        </p:txBody>
      </p:sp>
      <p:sp>
        <p:nvSpPr>
          <p:cNvPr id="9" name="Step 2"/>
          <p:cNvSpPr/>
          <p:nvPr/>
        </p:nvSpPr>
        <p:spPr>
          <a:xfrm>
            <a:off x="841248" y="2112264"/>
            <a:ext cx="603504" cy="603504"/>
          </a:xfrm>
          <a:prstGeom prst="ellipse">
            <a:avLst/>
          </a:prstGeom>
          <a:solidFill>
            <a:schemeClr val="accent1"/>
          </a:solidFill>
          <a:ln w="31750">
            <a:solidFill>
              <a:schemeClr val="tx1"/>
            </a:solidFill>
            <a:prstDash val="solid"/>
          </a:ln>
        </p:spPr>
      </p:sp>
      <p:pic>
        <p:nvPicPr>
          <p:cNvPr id="10" name="Step icon 2" descr="preencoded.png">    </p:cNvPr>
          <p:cNvPicPr>
            <a:picLocks noChangeAspect="1"/>
          </p:cNvPicPr>
          <p:nvPr/>
        </p:nvPicPr>
        <p:blipFill>
          <a:blip r:embed="rId3"/>
          <a:stretch>
            <a:fillRect/>
          </a:stretch>
        </p:blipFill>
        <p:spPr>
          <a:xfrm>
            <a:off x="987552" y="2258568"/>
            <a:ext cx="310896" cy="310896"/>
          </a:xfrm>
          <a:prstGeom prst="rect">
            <a:avLst/>
          </a:prstGeom>
        </p:spPr>
      </p:pic>
      <p:sp>
        <p:nvSpPr>
          <p:cNvPr id="11" name="Text 6"/>
          <p:cNvSpPr txBox="1"/>
          <p:nvPr/>
        </p:nvSpPr>
        <p:spPr>
          <a:xfrm>
            <a:off x="1828800" y="2093976"/>
            <a:ext cx="7680960" cy="310896"/>
          </a:xfrm>
          <a:prstGeom prst="rect">
            <a:avLst/>
          </a:prstGeom>
          <a:noFill/>
          <a:ln/>
        </p:spPr>
        <p:txBody>
          <a:bodyPr wrap="square" lIns="0" tIns="0" rIns="0" bIns="0" rtlCol="0" anchor="t"/>
          <a:lstStyle/>
          <a:p>
            <a:pPr indent="0" marL="0">
              <a:buNone/>
            </a:pPr>
            <a:r>
              <a:rPr lang="en-US" sz="1700" b="1" dirty="0">
                <a:solidFill>
                  <a:schemeClr val="tx1"/>
                </a:solidFill>
              </a:rPr>
              <a:t>Logic you can test</a:t>
            </a:r>
            <a:endParaRPr lang="en-US" sz="1700" dirty="0"/>
          </a:p>
        </p:txBody>
      </p:sp>
      <p:sp>
        <p:nvSpPr>
          <p:cNvPr id="12" name="Text 7"/>
          <p:cNvSpPr txBox="1"/>
          <p:nvPr/>
        </p:nvSpPr>
        <p:spPr>
          <a:xfrm>
            <a:off x="1828800" y="2423160"/>
            <a:ext cx="7680960" cy="566928"/>
          </a:xfrm>
          <a:prstGeom prst="rect">
            <a:avLst/>
          </a:prstGeom>
          <a:noFill/>
          <a:ln/>
        </p:spPr>
        <p:txBody>
          <a:bodyPr wrap="square" lIns="0" tIns="0" rIns="0" bIns="0" rtlCol="0" anchor="t"/>
          <a:lstStyle/>
          <a:p>
            <a:pPr indent="0" marL="0">
              <a:lnSpc>
                <a:spcPct val="115000"/>
              </a:lnSpc>
              <a:buNone/>
            </a:pPr>
            <a:r>
              <a:rPr lang="en-US" sz="1400" dirty="0">
                <a:solidFill>
                  <a:schemeClr val="tx1"/>
                </a:solidFill>
              </a:rPr>
              <a:t>Result flagging and stock plans are pure functions with their own unit tests</a:t>
            </a:r>
            <a:endParaRPr lang="en-US" sz="1400" dirty="0"/>
          </a:p>
        </p:txBody>
      </p:sp>
      <p:sp>
        <p:nvSpPr>
          <p:cNvPr id="13" name="Step 3"/>
          <p:cNvSpPr/>
          <p:nvPr/>
        </p:nvSpPr>
        <p:spPr>
          <a:xfrm>
            <a:off x="841248" y="3081528"/>
            <a:ext cx="603504" cy="603504"/>
          </a:xfrm>
          <a:prstGeom prst="ellipse">
            <a:avLst/>
          </a:prstGeom>
          <a:solidFill>
            <a:schemeClr val="accent1"/>
          </a:solidFill>
          <a:ln w="31750">
            <a:solidFill>
              <a:schemeClr val="tx1"/>
            </a:solidFill>
            <a:prstDash val="solid"/>
          </a:ln>
        </p:spPr>
      </p:sp>
      <p:pic>
        <p:nvPicPr>
          <p:cNvPr id="14" name="Step icon 3" descr="preencoded.png">    </p:cNvPr>
          <p:cNvPicPr>
            <a:picLocks noChangeAspect="1"/>
          </p:cNvPicPr>
          <p:nvPr/>
        </p:nvPicPr>
        <p:blipFill>
          <a:blip r:embed="rId4"/>
          <a:stretch>
            <a:fillRect/>
          </a:stretch>
        </p:blipFill>
        <p:spPr>
          <a:xfrm>
            <a:off x="987552" y="3227832"/>
            <a:ext cx="310896" cy="310896"/>
          </a:xfrm>
          <a:prstGeom prst="rect">
            <a:avLst/>
          </a:prstGeom>
        </p:spPr>
      </p:pic>
      <p:sp>
        <p:nvSpPr>
          <p:cNvPr id="15" name="Text 9"/>
          <p:cNvSpPr txBox="1"/>
          <p:nvPr/>
        </p:nvSpPr>
        <p:spPr>
          <a:xfrm>
            <a:off x="1828800" y="3063240"/>
            <a:ext cx="7680960" cy="310896"/>
          </a:xfrm>
          <a:prstGeom prst="rect">
            <a:avLst/>
          </a:prstGeom>
          <a:noFill/>
          <a:ln/>
        </p:spPr>
        <p:txBody>
          <a:bodyPr wrap="square" lIns="0" tIns="0" rIns="0" bIns="0" rtlCol="0" anchor="t"/>
          <a:lstStyle/>
          <a:p>
            <a:pPr indent="0" marL="0">
              <a:buNone/>
            </a:pPr>
            <a:r>
              <a:rPr lang="en-US" sz="1700" b="1" dirty="0">
                <a:solidFill>
                  <a:schemeClr val="tx1"/>
                </a:solidFill>
              </a:rPr>
              <a:t>Guarded transactions</a:t>
            </a:r>
            <a:endParaRPr lang="en-US" sz="1700" dirty="0"/>
          </a:p>
        </p:txBody>
      </p:sp>
      <p:sp>
        <p:nvSpPr>
          <p:cNvPr id="16" name="Text 10"/>
          <p:cNvSpPr txBox="1"/>
          <p:nvPr/>
        </p:nvSpPr>
        <p:spPr>
          <a:xfrm>
            <a:off x="1828800" y="3392424"/>
            <a:ext cx="7680960" cy="566928"/>
          </a:xfrm>
          <a:prstGeom prst="rect">
            <a:avLst/>
          </a:prstGeom>
          <a:noFill/>
          <a:ln/>
        </p:spPr>
        <p:txBody>
          <a:bodyPr wrap="square" lIns="0" tIns="0" rIns="0" bIns="0" rtlCol="0" anchor="t"/>
          <a:lstStyle/>
          <a:p>
            <a:pPr indent="0" marL="0">
              <a:lnSpc>
                <a:spcPct val="115000"/>
              </a:lnSpc>
              <a:buNone/>
            </a:pPr>
            <a:r>
              <a:rPr lang="en-US" sz="1400" dirty="0">
                <a:solidFill>
                  <a:schemeClr val="tx1"/>
                </a:solidFill>
              </a:rPr>
              <a:t>Dispensing, appointments and discharge are guarded, so nothing happens twice</a:t>
            </a:r>
            <a:endParaRPr lang="en-US" sz="1400" dirty="0"/>
          </a:p>
        </p:txBody>
      </p:sp>
      <p:sp>
        <p:nvSpPr>
          <p:cNvPr id="17" name="Step 4"/>
          <p:cNvSpPr/>
          <p:nvPr/>
        </p:nvSpPr>
        <p:spPr>
          <a:xfrm>
            <a:off x="841248" y="4050792"/>
            <a:ext cx="603504" cy="603504"/>
          </a:xfrm>
          <a:prstGeom prst="ellipse">
            <a:avLst/>
          </a:prstGeom>
          <a:solidFill>
            <a:schemeClr val="accent1"/>
          </a:solidFill>
          <a:ln w="31750">
            <a:solidFill>
              <a:schemeClr val="tx1"/>
            </a:solidFill>
            <a:prstDash val="solid"/>
          </a:ln>
        </p:spPr>
      </p:sp>
      <p:pic>
        <p:nvPicPr>
          <p:cNvPr id="18" name="Step icon 4" descr="preencoded.png">    </p:cNvPr>
          <p:cNvPicPr>
            <a:picLocks noChangeAspect="1"/>
          </p:cNvPicPr>
          <p:nvPr/>
        </p:nvPicPr>
        <p:blipFill>
          <a:blip r:embed="rId5"/>
          <a:stretch>
            <a:fillRect/>
          </a:stretch>
        </p:blipFill>
        <p:spPr>
          <a:xfrm>
            <a:off x="987552" y="4197096"/>
            <a:ext cx="310896" cy="310896"/>
          </a:xfrm>
          <a:prstGeom prst="rect">
            <a:avLst/>
          </a:prstGeom>
        </p:spPr>
      </p:pic>
      <p:sp>
        <p:nvSpPr>
          <p:cNvPr id="19" name="Text 12"/>
          <p:cNvSpPr txBox="1"/>
          <p:nvPr/>
        </p:nvSpPr>
        <p:spPr>
          <a:xfrm>
            <a:off x="1828800" y="4032504"/>
            <a:ext cx="7680960" cy="310896"/>
          </a:xfrm>
          <a:prstGeom prst="rect">
            <a:avLst/>
          </a:prstGeom>
          <a:noFill/>
          <a:ln/>
        </p:spPr>
        <p:txBody>
          <a:bodyPr wrap="square" lIns="0" tIns="0" rIns="0" bIns="0" rtlCol="0" anchor="t"/>
          <a:lstStyle/>
          <a:p>
            <a:pPr indent="0" marL="0">
              <a:buNone/>
            </a:pPr>
            <a:r>
              <a:rPr lang="en-US" sz="1700" b="1" dirty="0">
                <a:solidFill>
                  <a:schemeClr val="tx1"/>
                </a:solidFill>
              </a:rPr>
              <a:t>SIS integration</a:t>
            </a:r>
            <a:endParaRPr lang="en-US" sz="1700" dirty="0"/>
          </a:p>
        </p:txBody>
      </p:sp>
      <p:sp>
        <p:nvSpPr>
          <p:cNvPr id="20" name="Text 13"/>
          <p:cNvSpPr txBox="1"/>
          <p:nvPr/>
        </p:nvSpPr>
        <p:spPr>
          <a:xfrm>
            <a:off x="1828800" y="4361688"/>
            <a:ext cx="7680960" cy="566928"/>
          </a:xfrm>
          <a:prstGeom prst="rect">
            <a:avLst/>
          </a:prstGeom>
          <a:noFill/>
          <a:ln/>
        </p:spPr>
        <p:txBody>
          <a:bodyPr wrap="square" lIns="0" tIns="0" rIns="0" bIns="0" rtlCol="0" anchor="t"/>
          <a:lstStyle/>
          <a:p>
            <a:pPr indent="0" marL="0">
              <a:lnSpc>
                <a:spcPct val="115000"/>
              </a:lnSpc>
              <a:buNone/>
            </a:pPr>
            <a:r>
              <a:rPr lang="en-US" sz="1400" dirty="0">
                <a:solidFill>
                  <a:schemeClr val="tx1"/>
                </a:solidFill>
              </a:rPr>
              <a:t>A mock UNZA SIS lookup accepts registered students only; the real API plugs in later</a:t>
            </a:r>
            <a:endParaRPr lang="en-US" sz="1400" dirty="0"/>
          </a:p>
        </p:txBody>
      </p:sp>
      <p:sp>
        <p:nvSpPr>
          <p:cNvPr id="21" name="Step 5"/>
          <p:cNvSpPr/>
          <p:nvPr/>
        </p:nvSpPr>
        <p:spPr>
          <a:xfrm>
            <a:off x="841248" y="5020056"/>
            <a:ext cx="603504" cy="603504"/>
          </a:xfrm>
          <a:prstGeom prst="ellipse">
            <a:avLst/>
          </a:prstGeom>
          <a:solidFill>
            <a:schemeClr val="accent1"/>
          </a:solidFill>
          <a:ln w="31750">
            <a:solidFill>
              <a:schemeClr val="tx1"/>
            </a:solidFill>
            <a:prstDash val="solid"/>
          </a:ln>
        </p:spPr>
      </p:sp>
      <p:pic>
        <p:nvPicPr>
          <p:cNvPr id="22" name="Step icon 5" descr="preencoded.png">    </p:cNvPr>
          <p:cNvPicPr>
            <a:picLocks noChangeAspect="1"/>
          </p:cNvPicPr>
          <p:nvPr/>
        </p:nvPicPr>
        <p:blipFill>
          <a:blip r:embed="rId6"/>
          <a:stretch>
            <a:fillRect/>
          </a:stretch>
        </p:blipFill>
        <p:spPr>
          <a:xfrm>
            <a:off x="987552" y="5166360"/>
            <a:ext cx="310896" cy="310896"/>
          </a:xfrm>
          <a:prstGeom prst="rect">
            <a:avLst/>
          </a:prstGeom>
        </p:spPr>
      </p:pic>
      <p:sp>
        <p:nvSpPr>
          <p:cNvPr id="23" name="Text 15"/>
          <p:cNvSpPr txBox="1"/>
          <p:nvPr/>
        </p:nvSpPr>
        <p:spPr>
          <a:xfrm>
            <a:off x="1828800" y="5001768"/>
            <a:ext cx="7680960" cy="310896"/>
          </a:xfrm>
          <a:prstGeom prst="rect">
            <a:avLst/>
          </a:prstGeom>
          <a:noFill/>
          <a:ln/>
        </p:spPr>
        <p:txBody>
          <a:bodyPr wrap="square" lIns="0" tIns="0" rIns="0" bIns="0" rtlCol="0" anchor="t"/>
          <a:lstStyle/>
          <a:p>
            <a:pPr indent="0" marL="0">
              <a:buNone/>
            </a:pPr>
            <a:r>
              <a:rPr lang="en-US" sz="1700" b="1" dirty="0">
                <a:solidFill>
                  <a:schemeClr val="tx1"/>
                </a:solidFill>
              </a:rPr>
              <a:t>Security and performance</a:t>
            </a:r>
            <a:endParaRPr lang="en-US" sz="1700" dirty="0"/>
          </a:p>
        </p:txBody>
      </p:sp>
      <p:sp>
        <p:nvSpPr>
          <p:cNvPr id="24" name="Text 16"/>
          <p:cNvSpPr txBox="1"/>
          <p:nvPr/>
        </p:nvSpPr>
        <p:spPr>
          <a:xfrm>
            <a:off x="1828800" y="5330952"/>
            <a:ext cx="7680960" cy="566928"/>
          </a:xfrm>
          <a:prstGeom prst="rect">
            <a:avLst/>
          </a:prstGeom>
          <a:noFill/>
          <a:ln/>
        </p:spPr>
        <p:txBody>
          <a:bodyPr wrap="square" lIns="0" tIns="0" rIns="0" bIns="0" rtlCol="0" anchor="t"/>
          <a:lstStyle/>
          <a:p>
            <a:pPr indent="0" marL="0">
              <a:lnSpc>
                <a:spcPct val="115000"/>
              </a:lnSpc>
              <a:buNone/>
            </a:pPr>
            <a:r>
              <a:rPr lang="en-US" sz="1400" dirty="0">
                <a:solidFill>
                  <a:schemeClr val="tx1"/>
                </a:solidFill>
              </a:rPr>
              <a:t>bcrypt with 12 rounds, httpOnly cookies, 5 logins per 15 minutes, security headers</a:t>
            </a:r>
            <a:endParaRPr lang="en-US" sz="1400" dirty="0"/>
          </a:p>
        </p:txBody>
      </p:sp>
      <p:pic>
        <p:nvPicPr>
          <p:cNvPr id="25" name="Icon tube" descr="preencoded.png">    </p:cNvPr>
          <p:cNvPicPr>
            <a:picLocks noChangeAspect="1"/>
          </p:cNvPicPr>
          <p:nvPr/>
        </p:nvPicPr>
        <p:blipFill>
          <a:blip r:embed="rId7"/>
          <a:stretch>
            <a:fillRect/>
          </a:stretch>
        </p:blipFill>
        <p:spPr>
          <a:xfrm rot="720000">
            <a:off x="10058400" y="2011680"/>
            <a:ext cx="2651760" cy="2651760"/>
          </a:xfrm>
          <a:prstGeom prst="rect">
            <a:avLst/>
          </a:prstGeom>
        </p:spPr>
      </p:pic>
      <p:sp>
        <p:nvSpPr>
          <p:cNvPr id="25" name="Slide Number Placeholder 0"/>
          <p:cNvSpPr>
            <a:spLocks noGrp="1"/>
          </p:cNvSpPr>
          <p:nvPr>
            <p:ph type="sldNum" sz="quarter" idx="4294967295"/>
          </p:nvPr>
        </p:nvSpPr>
        <p:spPr>
          <a:xfrm>
            <a:off x="11338560" y="647395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3F457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impl_support">
    <p:spTree>
      <p:nvGrpSpPr>
        <p:cNvPr id="1" name=""/>
        <p:cNvGrpSpPr/>
        <p:nvPr/>
      </p:nvGrpSpPr>
      <p:grpSpPr>
        <a:xfrm>
          <a:off x="0" y="0"/>
          <a:ext cx="0" cy="0"/>
          <a:chOff x="0" y="0"/>
          <a:chExt cx="0" cy="0"/>
        </a:xfrm>
      </p:grpSpPr>
      <p:pic>
        <p:nvPicPr>
          <p:cNvPr id="2" name="Label Implementation · Supporting systems" descr=""/>
          <p:cNvPicPr>
            <a:picLocks noChangeAspect="1"/>
          </p:cNvPicPr>
          <p:nvPr/>
        </p:nvPicPr>
        <p:blipFill>
          <a:blip r:embed="rId1"/>
          <a:stretch>
            <a:fillRect/>
          </a:stretch>
        </p:blipFill>
        <p:spPr>
          <a:xfrm>
            <a:off x="640080" y="274320"/>
            <a:ext cx="4620000" cy="457200"/>
          </a:xfrm>
          <a:prstGeom prst="rect">
            <a:avLst/>
          </a:prstGeom>
        </p:spPr>
      </p:pic>
      <p:sp>
        <p:nvSpPr>
          <p:cNvPr id="3" name="Title"/>
          <p:cNvSpPr txBox="1"/>
          <p:nvPr/>
        </p:nvSpPr>
        <p:spPr>
          <a:xfrm>
            <a:off x="640080" y="274320"/>
            <a:ext cx="4620000" cy="457200"/>
          </a:xfrm>
          <a:prstGeom prst="rect">
            <a:avLst/>
          </a:prstGeom>
          <a:noFill/>
          <a:ln/>
        </p:spPr>
        <p:txBody>
          <a:bodyPr wrap="square" lIns="0" tIns="0" rIns="0" bIns="0" rtlCol="0" anchor="ctr"/>
          <a:lstStyle/>
          <a:p>
            <a:pPr algn="ctr" indent="0" marL="0">
              <a:buNone/>
            </a:pPr>
            <a:r>
              <a:rPr lang="en-US" sz="1600" b="1" dirty="0">
                <a:solidFill>
                  <a:schemeClr val="tx1"/>
                </a:solidFill>
              </a:rPr>
              <a:t>Implementation · Supporting systems</a:t>
            </a:r>
          </a:p>
        </p:txBody>
      </p:sp>
      <p:sp>
        <p:nvSpPr>
          <p:cNvPr id="4" name="Card Notifications"/>
          <p:cNvSpPr/>
          <p:nvPr/>
        </p:nvSpPr>
        <p:spPr>
          <a:xfrm>
            <a:off x="731520" y="1463040"/>
            <a:ext cx="2560320" cy="2926080"/>
          </a:xfrm>
          <a:prstGeom prst="roundRect">
            <a:avLst>
              <a:gd name="adj" fmla="val 6122"/>
            </a:avLst>
          </a:prstGeom>
          <a:solidFill>
            <a:schemeClr val="bg1"/>
          </a:solidFill>
          <a:ln w="31750">
            <a:solidFill>
              <a:schemeClr val="tx1"/>
            </a:solidFill>
            <a:prstDash val="solid"/>
          </a:ln>
        </p:spPr>
      </p:sp>
      <p:sp>
        <p:nvSpPr>
          <p:cNvPr id="5" name="Badge 1"/>
          <p:cNvSpPr/>
          <p:nvPr/>
        </p:nvSpPr>
        <p:spPr>
          <a:xfrm>
            <a:off x="960120" y="1691640"/>
            <a:ext cx="594360" cy="594360"/>
          </a:xfrm>
          <a:prstGeom prst="ellipse">
            <a:avLst/>
          </a:prstGeom>
          <a:solidFill>
            <a:schemeClr val="accent1"/>
          </a:solidFill>
          <a:ln w="25400">
            <a:solidFill>
              <a:schemeClr val="tx1"/>
            </a:solidFill>
            <a:prstDash val="solid"/>
          </a:ln>
        </p:spPr>
      </p:sp>
      <p:pic>
        <p:nvPicPr>
          <p:cNvPr id="6" name="Card icon 1" descr="Notifications"/>
          <p:cNvPicPr>
            <a:picLocks noChangeAspect="1"/>
          </p:cNvPicPr>
          <p:nvPr/>
        </p:nvPicPr>
        <p:blipFill>
          <a:blip r:embed="rId2"/>
          <a:stretch>
            <a:fillRect/>
          </a:stretch>
        </p:blipFill>
        <p:spPr>
          <a:xfrm>
            <a:off x="1101852" y="1833372"/>
            <a:ext cx="310896" cy="310896"/>
          </a:xfrm>
          <a:prstGeom prst="rect">
            <a:avLst/>
          </a:prstGeom>
        </p:spPr>
      </p:pic>
      <p:sp>
        <p:nvSpPr>
          <p:cNvPr id="7" name="Card title 1"/>
          <p:cNvSpPr txBox="1"/>
          <p:nvPr/>
        </p:nvSpPr>
        <p:spPr>
          <a:xfrm>
            <a:off x="960120" y="2377440"/>
            <a:ext cx="2103120" cy="320040"/>
          </a:xfrm>
          <a:prstGeom prst="rect">
            <a:avLst/>
          </a:prstGeom>
          <a:noFill/>
          <a:ln/>
        </p:spPr>
        <p:txBody>
          <a:bodyPr wrap="square" lIns="0" tIns="0" rIns="0" bIns="0" rtlCol="0" anchor="t"/>
          <a:lstStyle/>
          <a:p>
            <a:pPr algn="l" indent="0" marL="0">
              <a:buNone/>
            </a:pPr>
            <a:r>
              <a:rPr lang="en-US" sz="1700" dirty="0">
                <a:solidFill>
                  <a:schemeClr val="tx1"/>
                </a:solidFill>
                <a:latin typeface="+mj-lt" pitchFamily="34" charset="0"/>
                <a:ea typeface="+mj-lt" pitchFamily="34" charset="-122"/>
                <a:cs typeface="+mj-lt" pitchFamily="34" charset="-120"/>
              </a:rPr>
              <a:t>Notifications</a:t>
            </a:r>
          </a:p>
        </p:txBody>
      </p:sp>
      <p:sp>
        <p:nvSpPr>
          <p:cNvPr id="8" name="Card text 1"/>
          <p:cNvSpPr txBox="1"/>
          <p:nvPr/>
        </p:nvSpPr>
        <p:spPr>
          <a:xfrm>
            <a:off x="960120" y="2743200"/>
            <a:ext cx="2103120" cy="150876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A bell on every role's dashboard, checked every 30 seconds.</a:t>
            </a:r>
          </a:p>
        </p:txBody>
      </p:sp>
      <p:sp>
        <p:nvSpPr>
          <p:cNvPr id="9" name="Card Messaging"/>
          <p:cNvSpPr/>
          <p:nvPr/>
        </p:nvSpPr>
        <p:spPr>
          <a:xfrm>
            <a:off x="3520440" y="1463040"/>
            <a:ext cx="2560320" cy="2926080"/>
          </a:xfrm>
          <a:prstGeom prst="roundRect">
            <a:avLst>
              <a:gd name="adj" fmla="val 6122"/>
            </a:avLst>
          </a:prstGeom>
          <a:solidFill>
            <a:schemeClr val="bg1"/>
          </a:solidFill>
          <a:ln w="31750">
            <a:solidFill>
              <a:schemeClr val="tx1"/>
            </a:solidFill>
            <a:prstDash val="solid"/>
          </a:ln>
        </p:spPr>
      </p:sp>
      <p:sp>
        <p:nvSpPr>
          <p:cNvPr id="10" name="Badge 2"/>
          <p:cNvSpPr/>
          <p:nvPr/>
        </p:nvSpPr>
        <p:spPr>
          <a:xfrm>
            <a:off x="3749040" y="1691640"/>
            <a:ext cx="594360" cy="594360"/>
          </a:xfrm>
          <a:prstGeom prst="ellipse">
            <a:avLst/>
          </a:prstGeom>
          <a:solidFill>
            <a:schemeClr val="accent1"/>
          </a:solidFill>
          <a:ln w="25400">
            <a:solidFill>
              <a:schemeClr val="tx1"/>
            </a:solidFill>
            <a:prstDash val="solid"/>
          </a:ln>
        </p:spPr>
      </p:sp>
      <p:pic>
        <p:nvPicPr>
          <p:cNvPr id="11" name="Card icon 2" descr="Messaging"/>
          <p:cNvPicPr>
            <a:picLocks noChangeAspect="1"/>
          </p:cNvPicPr>
          <p:nvPr/>
        </p:nvPicPr>
        <p:blipFill>
          <a:blip r:embed="rId3"/>
          <a:stretch>
            <a:fillRect/>
          </a:stretch>
        </p:blipFill>
        <p:spPr>
          <a:xfrm>
            <a:off x="3890772" y="1833372"/>
            <a:ext cx="310896" cy="310896"/>
          </a:xfrm>
          <a:prstGeom prst="rect">
            <a:avLst/>
          </a:prstGeom>
        </p:spPr>
      </p:pic>
      <p:sp>
        <p:nvSpPr>
          <p:cNvPr id="12" name="Card title 2"/>
          <p:cNvSpPr txBox="1"/>
          <p:nvPr/>
        </p:nvSpPr>
        <p:spPr>
          <a:xfrm>
            <a:off x="3749040" y="2377440"/>
            <a:ext cx="2103120" cy="320040"/>
          </a:xfrm>
          <a:prstGeom prst="rect">
            <a:avLst/>
          </a:prstGeom>
          <a:noFill/>
          <a:ln/>
        </p:spPr>
        <p:txBody>
          <a:bodyPr wrap="square" lIns="0" tIns="0" rIns="0" bIns="0" rtlCol="0" anchor="t"/>
          <a:lstStyle/>
          <a:p>
            <a:pPr algn="l" indent="0" marL="0">
              <a:buNone/>
            </a:pPr>
            <a:r>
              <a:rPr lang="en-US" sz="1700" dirty="0">
                <a:solidFill>
                  <a:schemeClr val="tx1"/>
                </a:solidFill>
                <a:latin typeface="+mj-lt" pitchFamily="34" charset="0"/>
                <a:ea typeface="+mj-lt" pitchFamily="34" charset="-122"/>
                <a:cs typeface="+mj-lt" pitchFamily="34" charset="-120"/>
              </a:rPr>
              <a:t>Messaging</a:t>
            </a:r>
          </a:p>
        </p:txBody>
      </p:sp>
      <p:sp>
        <p:nvSpPr>
          <p:cNvPr id="13" name="Card text 2"/>
          <p:cNvSpPr txBox="1"/>
          <p:nvPr/>
        </p:nvSpPr>
        <p:spPr>
          <a:xfrm>
            <a:off x="3749040" y="2743200"/>
            <a:ext cx="2103120" cy="150876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Limited to doctors on that patient's care team (care-team.ts).</a:t>
            </a:r>
          </a:p>
        </p:txBody>
      </p:sp>
      <p:sp>
        <p:nvSpPr>
          <p:cNvPr id="14" name="Card Care timeline"/>
          <p:cNvSpPr/>
          <p:nvPr/>
        </p:nvSpPr>
        <p:spPr>
          <a:xfrm>
            <a:off x="6309360" y="1463040"/>
            <a:ext cx="2560320" cy="2926080"/>
          </a:xfrm>
          <a:prstGeom prst="roundRect">
            <a:avLst>
              <a:gd name="adj" fmla="val 6122"/>
            </a:avLst>
          </a:prstGeom>
          <a:solidFill>
            <a:schemeClr val="bg1"/>
          </a:solidFill>
          <a:ln w="31750">
            <a:solidFill>
              <a:schemeClr val="tx1"/>
            </a:solidFill>
            <a:prstDash val="solid"/>
          </a:ln>
        </p:spPr>
      </p:sp>
      <p:sp>
        <p:nvSpPr>
          <p:cNvPr id="15" name="Badge 3"/>
          <p:cNvSpPr/>
          <p:nvPr/>
        </p:nvSpPr>
        <p:spPr>
          <a:xfrm>
            <a:off x="6537960" y="1691640"/>
            <a:ext cx="594360" cy="594360"/>
          </a:xfrm>
          <a:prstGeom prst="ellipse">
            <a:avLst/>
          </a:prstGeom>
          <a:solidFill>
            <a:schemeClr val="accent1"/>
          </a:solidFill>
          <a:ln w="25400">
            <a:solidFill>
              <a:schemeClr val="tx1"/>
            </a:solidFill>
            <a:prstDash val="solid"/>
          </a:ln>
        </p:spPr>
      </p:sp>
      <p:pic>
        <p:nvPicPr>
          <p:cNvPr id="16" name="Card icon 3" descr="Care timeline"/>
          <p:cNvPicPr>
            <a:picLocks noChangeAspect="1"/>
          </p:cNvPicPr>
          <p:nvPr/>
        </p:nvPicPr>
        <p:blipFill>
          <a:blip r:embed="rId4"/>
          <a:stretch>
            <a:fillRect/>
          </a:stretch>
        </p:blipFill>
        <p:spPr>
          <a:xfrm>
            <a:off x="6679692" y="1833372"/>
            <a:ext cx="310896" cy="310896"/>
          </a:xfrm>
          <a:prstGeom prst="rect">
            <a:avLst/>
          </a:prstGeom>
        </p:spPr>
      </p:pic>
      <p:sp>
        <p:nvSpPr>
          <p:cNvPr id="17" name="Card title 3"/>
          <p:cNvSpPr txBox="1"/>
          <p:nvPr/>
        </p:nvSpPr>
        <p:spPr>
          <a:xfrm>
            <a:off x="6537960" y="2377440"/>
            <a:ext cx="2103120" cy="320040"/>
          </a:xfrm>
          <a:prstGeom prst="rect">
            <a:avLst/>
          </a:prstGeom>
          <a:noFill/>
          <a:ln/>
        </p:spPr>
        <p:txBody>
          <a:bodyPr wrap="square" lIns="0" tIns="0" rIns="0" bIns="0" rtlCol="0" anchor="t"/>
          <a:lstStyle/>
          <a:p>
            <a:pPr algn="l" indent="0" marL="0">
              <a:buNone/>
            </a:pPr>
            <a:r>
              <a:rPr lang="en-US" sz="1700" dirty="0">
                <a:solidFill>
                  <a:schemeClr val="tx1"/>
                </a:solidFill>
                <a:latin typeface="+mj-lt" pitchFamily="34" charset="0"/>
                <a:ea typeface="+mj-lt" pitchFamily="34" charset="-122"/>
                <a:cs typeface="+mj-lt" pitchFamily="34" charset="-120"/>
              </a:rPr>
              <a:t>Care timeline</a:t>
            </a:r>
          </a:p>
        </p:txBody>
      </p:sp>
      <p:sp>
        <p:nvSpPr>
          <p:cNvPr id="18" name="Card text 3"/>
          <p:cNvSpPr txBox="1"/>
          <p:nvPr/>
        </p:nvSpPr>
        <p:spPr>
          <a:xfrm>
            <a:off x="6537960" y="2743200"/>
            <a:ext cx="2103120" cy="150876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Merges records, visits, prescriptions, released labs and appointments into one view.</a:t>
            </a:r>
          </a:p>
        </p:txBody>
      </p:sp>
      <p:sp>
        <p:nvSpPr>
          <p:cNvPr id="19" name="Card Next of kin consent"/>
          <p:cNvSpPr/>
          <p:nvPr/>
        </p:nvSpPr>
        <p:spPr>
          <a:xfrm>
            <a:off x="9098280" y="1463040"/>
            <a:ext cx="2560320" cy="2926080"/>
          </a:xfrm>
          <a:prstGeom prst="roundRect">
            <a:avLst>
              <a:gd name="adj" fmla="val 6122"/>
            </a:avLst>
          </a:prstGeom>
          <a:solidFill>
            <a:schemeClr val="bg1"/>
          </a:solidFill>
          <a:ln w="31750">
            <a:solidFill>
              <a:schemeClr val="tx1"/>
            </a:solidFill>
            <a:prstDash val="solid"/>
          </a:ln>
        </p:spPr>
      </p:sp>
      <p:sp>
        <p:nvSpPr>
          <p:cNvPr id="20" name="Badge 4"/>
          <p:cNvSpPr/>
          <p:nvPr/>
        </p:nvSpPr>
        <p:spPr>
          <a:xfrm>
            <a:off x="9326880" y="1691640"/>
            <a:ext cx="594360" cy="594360"/>
          </a:xfrm>
          <a:prstGeom prst="ellipse">
            <a:avLst/>
          </a:prstGeom>
          <a:solidFill>
            <a:schemeClr val="accent3"/>
          </a:solidFill>
          <a:ln w="25400">
            <a:solidFill>
              <a:schemeClr val="tx1"/>
            </a:solidFill>
            <a:prstDash val="solid"/>
          </a:ln>
        </p:spPr>
      </p:sp>
      <p:pic>
        <p:nvPicPr>
          <p:cNvPr id="21" name="Card icon 4" descr="Next of kin consent"/>
          <p:cNvPicPr>
            <a:picLocks noChangeAspect="1"/>
          </p:cNvPicPr>
          <p:nvPr/>
        </p:nvPicPr>
        <p:blipFill>
          <a:blip r:embed="rId5"/>
          <a:stretch>
            <a:fillRect/>
          </a:stretch>
        </p:blipFill>
        <p:spPr>
          <a:xfrm>
            <a:off x="9468612" y="1833372"/>
            <a:ext cx="310896" cy="310896"/>
          </a:xfrm>
          <a:prstGeom prst="rect">
            <a:avLst/>
          </a:prstGeom>
        </p:spPr>
      </p:pic>
      <p:sp>
        <p:nvSpPr>
          <p:cNvPr id="22" name="Card title 4"/>
          <p:cNvSpPr txBox="1"/>
          <p:nvPr/>
        </p:nvSpPr>
        <p:spPr>
          <a:xfrm>
            <a:off x="9326880" y="2377440"/>
            <a:ext cx="2103120" cy="320040"/>
          </a:xfrm>
          <a:prstGeom prst="rect">
            <a:avLst/>
          </a:prstGeom>
          <a:noFill/>
          <a:ln/>
        </p:spPr>
        <p:txBody>
          <a:bodyPr wrap="square" lIns="0" tIns="0" rIns="0" bIns="0" rtlCol="0" anchor="t"/>
          <a:lstStyle/>
          <a:p>
            <a:pPr algn="l" indent="0" marL="0">
              <a:buNone/>
            </a:pPr>
            <a:r>
              <a:rPr lang="en-US" sz="1700" dirty="0">
                <a:solidFill>
                  <a:schemeClr val="tx1"/>
                </a:solidFill>
                <a:latin typeface="+mj-lt" pitchFamily="34" charset="0"/>
                <a:ea typeface="+mj-lt" pitchFamily="34" charset="-122"/>
                <a:cs typeface="+mj-lt" pitchFamily="34" charset="-120"/>
              </a:rPr>
              <a:t>Next of kin consent</a:t>
            </a:r>
          </a:p>
        </p:txBody>
      </p:sp>
      <p:sp>
        <p:nvSpPr>
          <p:cNvPr id="23" name="Card text 4"/>
          <p:cNvSpPr txBox="1"/>
          <p:nvPr/>
        </p:nvSpPr>
        <p:spPr>
          <a:xfrm>
            <a:off x="9326880" y="2743200"/>
            <a:ext cx="2103120" cy="150876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The patient pre-assigns someone who can grant emergency consent.</a:t>
            </a:r>
          </a:p>
        </p:txBody>
      </p:sp>
      <p:sp>
        <p:nvSpPr>
          <p:cNvPr id="24" name="Slide Number Placeholder"/>
          <p:cNvSpPr>
            <a:spLocks noGrp="1"/>
          </p:cNvSpPr>
          <p:nvPr>
            <p:ph type="sldNum" sz="quarter" idx="4294967295"/>
          </p:nvPr>
        </p:nvSpPr>
        <p:spPr>
          <a:xfrm>
            <a:off x="11338560" y="6473952"/>
            <a:ext cx="457200" cy="228600"/>
          </a:xfrm>
          <a:prstGeom prst="rect">
            <a:avLst/>
          </a:prstGeom>
        </p:spPr>
        <p:txBody>
          <a:bodyPr/>
          <a:lstStyle>
            <a:lvl1pPr>
              <a:defRPr sz="1000">
                <a:solidFill>
                  <a:srgbClr val="3F457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Label Challenges and Solutions" descr="preencoded.png">    </p:cNvPr>
          <p:cNvPicPr>
            <a:picLocks noChangeAspect="1"/>
          </p:cNvPicPr>
          <p:nvPr/>
        </p:nvPicPr>
        <p:blipFill>
          <a:blip r:embed="rId1"/>
          <a:stretch>
            <a:fillRect/>
          </a:stretch>
        </p:blipFill>
        <p:spPr>
          <a:xfrm>
            <a:off x="640080" y="274320"/>
            <a:ext cx="3200400" cy="457200"/>
          </a:xfrm>
          <a:prstGeom prst="rect">
            <a:avLst/>
          </a:prstGeom>
        </p:spPr>
      </p:pic>
      <p:sp>
        <p:nvSpPr>
          <p:cNvPr id="3" name="Text 0"/>
          <p:cNvSpPr txBox="1"/>
          <p:nvPr/>
        </p:nvSpPr>
        <p:spPr>
          <a:xfrm>
            <a:off x="640080" y="274320"/>
            <a:ext cx="3200400" cy="457200"/>
          </a:xfrm>
          <a:prstGeom prst="rect">
            <a:avLst/>
          </a:prstGeom>
          <a:noFill/>
          <a:ln/>
        </p:spPr>
        <p:txBody>
          <a:bodyPr wrap="square" lIns="0" tIns="0" rIns="0" bIns="0" rtlCol="0" anchor="ctr"/>
          <a:lstStyle/>
          <a:p>
            <a:pPr algn="ctr" indent="0" marL="0">
              <a:buNone/>
            </a:pPr>
            <a:r>
              <a:rPr lang="en-US" sz="1600" b="1" dirty="0">
                <a:solidFill>
                  <a:schemeClr val="tx1"/>
                </a:solidFill>
              </a:rPr>
              <a:t>Challenges and Solutions</a:t>
            </a:r>
            <a:endParaRPr lang="en-US" sz="1600" dirty="0"/>
          </a:p>
        </p:txBody>
      </p:sp>
      <p:sp>
        <p:nvSpPr>
          <p:cNvPr id="4" name="Stepper line"/>
          <p:cNvSpPr/>
          <p:nvPr/>
        </p:nvSpPr>
        <p:spPr>
          <a:xfrm>
            <a:off x="1143000" y="1444752"/>
            <a:ext cx="0" cy="2286000"/>
          </a:xfrm>
          <a:prstGeom prst="line">
            <a:avLst/>
          </a:prstGeom>
          <a:noFill/>
          <a:ln w="38100">
            <a:solidFill>
              <a:schemeClr val="accent2"/>
            </a:solidFill>
            <a:prstDash val="solid"/>
          </a:ln>
        </p:spPr>
      </p:sp>
      <p:sp>
        <p:nvSpPr>
          <p:cNvPr id="5" name="Step 1"/>
          <p:cNvSpPr/>
          <p:nvPr/>
        </p:nvSpPr>
        <p:spPr>
          <a:xfrm>
            <a:off x="841248" y="1143000"/>
            <a:ext cx="603504" cy="603504"/>
          </a:xfrm>
          <a:prstGeom prst="ellipse">
            <a:avLst/>
          </a:prstGeom>
          <a:solidFill>
            <a:schemeClr val="accent1"/>
          </a:solidFill>
          <a:ln w="31750">
            <a:solidFill>
              <a:schemeClr val="tx1"/>
            </a:solidFill>
            <a:prstDash val="solid"/>
          </a:ln>
        </p:spPr>
      </p:sp>
      <p:pic>
        <p:nvPicPr>
          <p:cNvPr id="6" name="Step icon 1" descr="preencoded.png">    </p:cNvPr>
          <p:cNvPicPr>
            <a:picLocks noChangeAspect="1"/>
          </p:cNvPicPr>
          <p:nvPr/>
        </p:nvPicPr>
        <p:blipFill>
          <a:blip r:embed="rId2"/>
          <a:stretch>
            <a:fillRect/>
          </a:stretch>
        </p:blipFill>
        <p:spPr>
          <a:xfrm>
            <a:off x="987552" y="1289304"/>
            <a:ext cx="310896" cy="310896"/>
          </a:xfrm>
          <a:prstGeom prst="rect">
            <a:avLst/>
          </a:prstGeom>
        </p:spPr>
      </p:pic>
      <p:sp>
        <p:nvSpPr>
          <p:cNvPr id="7" name="Text 3"/>
          <p:cNvSpPr txBox="1"/>
          <p:nvPr/>
        </p:nvSpPr>
        <p:spPr>
          <a:xfrm>
            <a:off x="1828800" y="1124712"/>
            <a:ext cx="7680960" cy="310896"/>
          </a:xfrm>
          <a:prstGeom prst="rect">
            <a:avLst/>
          </a:prstGeom>
          <a:noFill/>
          <a:ln/>
        </p:spPr>
        <p:txBody>
          <a:bodyPr wrap="square" lIns="0" tIns="0" rIns="0" bIns="0" rtlCol="0" anchor="t"/>
          <a:lstStyle/>
          <a:p>
            <a:pPr indent="0" marL="0">
              <a:buNone/>
            </a:pPr>
            <a:r>
              <a:rPr lang="en-US" sz="1700" b="1" dirty="0">
                <a:solidFill>
                  <a:schemeClr val="tx1"/>
                </a:solidFill>
              </a:rPr>
              <a:t>Challenge: anyone could forge an admin cookie</a:t>
            </a:r>
            <a:endParaRPr lang="en-US" sz="1700" dirty="0"/>
          </a:p>
        </p:txBody>
      </p:sp>
      <p:sp>
        <p:nvSpPr>
          <p:cNvPr id="8" name="Text 4"/>
          <p:cNvSpPr txBox="1"/>
          <p:nvPr/>
        </p:nvSpPr>
        <p:spPr>
          <a:xfrm>
            <a:off x="1828800" y="1453896"/>
            <a:ext cx="7680960" cy="566928"/>
          </a:xfrm>
          <a:prstGeom prst="rect">
            <a:avLst/>
          </a:prstGeom>
          <a:noFill/>
          <a:ln/>
        </p:spPr>
        <p:txBody>
          <a:bodyPr wrap="square" lIns="0" tIns="0" rIns="0" bIns="0" rtlCol="0" anchor="t"/>
          <a:lstStyle/>
          <a:p>
            <a:pPr indent="0" marL="0">
              <a:lnSpc>
                <a:spcPct val="115000"/>
              </a:lnSpc>
              <a:buNone/>
            </a:pPr>
            <a:r>
              <a:rPr lang="en-US" sz="1400" dirty="0">
                <a:solidFill>
                  <a:schemeClr val="tx1"/>
                </a:solidFill>
              </a:rPr>
              <a:t>Solution: verifyToken now checks signature and expiry in the middleware and in every protected API route.</a:t>
            </a:r>
            <a:endParaRPr lang="en-US" sz="1400" dirty="0"/>
          </a:p>
        </p:txBody>
      </p:sp>
      <p:sp>
        <p:nvSpPr>
          <p:cNvPr id="9" name="Step 2"/>
          <p:cNvSpPr/>
          <p:nvPr/>
        </p:nvSpPr>
        <p:spPr>
          <a:xfrm>
            <a:off x="841248" y="2286000"/>
            <a:ext cx="603504" cy="603504"/>
          </a:xfrm>
          <a:prstGeom prst="ellipse">
            <a:avLst/>
          </a:prstGeom>
          <a:solidFill>
            <a:schemeClr val="accent1"/>
          </a:solidFill>
          <a:ln w="31750">
            <a:solidFill>
              <a:schemeClr val="tx1"/>
            </a:solidFill>
            <a:prstDash val="solid"/>
          </a:ln>
        </p:spPr>
      </p:sp>
      <p:pic>
        <p:nvPicPr>
          <p:cNvPr id="10" name="Step icon 2" descr="preencoded.png">    </p:cNvPr>
          <p:cNvPicPr>
            <a:picLocks noChangeAspect="1"/>
          </p:cNvPicPr>
          <p:nvPr/>
        </p:nvPicPr>
        <p:blipFill>
          <a:blip r:embed="rId3"/>
          <a:stretch>
            <a:fillRect/>
          </a:stretch>
        </p:blipFill>
        <p:spPr>
          <a:xfrm>
            <a:off x="987552" y="2432304"/>
            <a:ext cx="310896" cy="310896"/>
          </a:xfrm>
          <a:prstGeom prst="rect">
            <a:avLst/>
          </a:prstGeom>
        </p:spPr>
      </p:pic>
      <p:sp>
        <p:nvSpPr>
          <p:cNvPr id="11" name="Text 6"/>
          <p:cNvSpPr txBox="1"/>
          <p:nvPr/>
        </p:nvSpPr>
        <p:spPr>
          <a:xfrm>
            <a:off x="1828800" y="2267712"/>
            <a:ext cx="7680960" cy="310896"/>
          </a:xfrm>
          <a:prstGeom prst="rect">
            <a:avLst/>
          </a:prstGeom>
          <a:noFill/>
          <a:ln/>
        </p:spPr>
        <p:txBody>
          <a:bodyPr wrap="square" lIns="0" tIns="0" rIns="0" bIns="0" rtlCol="0" anchor="t"/>
          <a:lstStyle/>
          <a:p>
            <a:pPr indent="0" marL="0">
              <a:buNone/>
            </a:pPr>
            <a:r>
              <a:rPr lang="en-US" sz="1700" b="1" dirty="0">
                <a:solidFill>
                  <a:schemeClr val="tx1"/>
                </a:solidFill>
              </a:rPr>
              <a:t>Challenge: the route-protection middleware never ran</a:t>
            </a:r>
            <a:endParaRPr lang="en-US" sz="1700" dirty="0"/>
          </a:p>
        </p:txBody>
      </p:sp>
      <p:sp>
        <p:nvSpPr>
          <p:cNvPr id="12" name="Text 7"/>
          <p:cNvSpPr txBox="1"/>
          <p:nvPr/>
        </p:nvSpPr>
        <p:spPr>
          <a:xfrm>
            <a:off x="1828800" y="2596896"/>
            <a:ext cx="7680960" cy="566928"/>
          </a:xfrm>
          <a:prstGeom prst="rect">
            <a:avLst/>
          </a:prstGeom>
          <a:noFill/>
          <a:ln/>
        </p:spPr>
        <p:txBody>
          <a:bodyPr wrap="square" lIns="0" tIns="0" rIns="0" bIns="0" rtlCol="0" anchor="t"/>
          <a:lstStyle/>
          <a:p>
            <a:pPr indent="0" marL="0">
              <a:lnSpc>
                <a:spcPct val="115000"/>
              </a:lnSpc>
              <a:buNone/>
            </a:pPr>
            <a:r>
              <a:rPr lang="en-US" sz="1400" dirty="0">
                <a:solidFill>
                  <a:schemeClr val="tx1"/>
                </a:solidFill>
              </a:rPr>
              <a:t>Solution: moved it into src/ and matched "/" exactly, so only truly public paths pass.</a:t>
            </a:r>
            <a:endParaRPr lang="en-US" sz="1400" dirty="0"/>
          </a:p>
        </p:txBody>
      </p:sp>
      <p:sp>
        <p:nvSpPr>
          <p:cNvPr id="13" name="Step 3"/>
          <p:cNvSpPr/>
          <p:nvPr/>
        </p:nvSpPr>
        <p:spPr>
          <a:xfrm>
            <a:off x="841248" y="3429000"/>
            <a:ext cx="603504" cy="603504"/>
          </a:xfrm>
          <a:prstGeom prst="ellipse">
            <a:avLst/>
          </a:prstGeom>
          <a:solidFill>
            <a:schemeClr val="accent1"/>
          </a:solidFill>
          <a:ln w="31750">
            <a:solidFill>
              <a:schemeClr val="tx1"/>
            </a:solidFill>
            <a:prstDash val="solid"/>
          </a:ln>
        </p:spPr>
      </p:sp>
      <p:pic>
        <p:nvPicPr>
          <p:cNvPr id="14" name="Step icon 3" descr="preencoded.png">    </p:cNvPr>
          <p:cNvPicPr>
            <a:picLocks noChangeAspect="1"/>
          </p:cNvPicPr>
          <p:nvPr/>
        </p:nvPicPr>
        <p:blipFill>
          <a:blip r:embed="rId4"/>
          <a:stretch>
            <a:fillRect/>
          </a:stretch>
        </p:blipFill>
        <p:spPr>
          <a:xfrm>
            <a:off x="987552" y="3575304"/>
            <a:ext cx="310896" cy="310896"/>
          </a:xfrm>
          <a:prstGeom prst="rect">
            <a:avLst/>
          </a:prstGeom>
        </p:spPr>
      </p:pic>
      <p:sp>
        <p:nvSpPr>
          <p:cNvPr id="15" name="Text 9"/>
          <p:cNvSpPr txBox="1"/>
          <p:nvPr/>
        </p:nvSpPr>
        <p:spPr>
          <a:xfrm>
            <a:off x="1828800" y="3410712"/>
            <a:ext cx="7680960" cy="310896"/>
          </a:xfrm>
          <a:prstGeom prst="rect">
            <a:avLst/>
          </a:prstGeom>
          <a:noFill/>
          <a:ln/>
        </p:spPr>
        <p:txBody>
          <a:bodyPr wrap="square" lIns="0" tIns="0" rIns="0" bIns="0" rtlCol="0" anchor="t"/>
          <a:lstStyle/>
          <a:p>
            <a:pPr indent="0" marL="0">
              <a:buNone/>
            </a:pPr>
            <a:r>
              <a:rPr lang="en-US" sz="1700" b="1" dirty="0">
                <a:solidFill>
                  <a:schemeClr val="tx1"/>
                </a:solidFill>
              </a:rPr>
              <a:t>Challenge: dispensing never reduced the stock</a:t>
            </a:r>
            <a:endParaRPr lang="en-US" sz="1700" dirty="0"/>
          </a:p>
        </p:txBody>
      </p:sp>
      <p:sp>
        <p:nvSpPr>
          <p:cNvPr id="16" name="Text 10"/>
          <p:cNvSpPr txBox="1"/>
          <p:nvPr/>
        </p:nvSpPr>
        <p:spPr>
          <a:xfrm>
            <a:off x="1828800" y="3739896"/>
            <a:ext cx="7680960" cy="566928"/>
          </a:xfrm>
          <a:prstGeom prst="rect">
            <a:avLst/>
          </a:prstGeom>
          <a:noFill/>
          <a:ln/>
        </p:spPr>
        <p:txBody>
          <a:bodyPr wrap="square" lIns="0" tIns="0" rIns="0" bIns="0" rtlCol="0" anchor="t"/>
          <a:lstStyle/>
          <a:p>
            <a:pPr indent="0" marL="0">
              <a:lnSpc>
                <a:spcPct val="115000"/>
              </a:lnSpc>
              <a:buNone/>
            </a:pPr>
            <a:r>
              <a:rPr lang="en-US" sz="1400" dirty="0">
                <a:solidFill>
                  <a:schemeClr val="tx1"/>
                </a:solidFill>
              </a:rPr>
              <a:t>Solution: one transaction claims the prescription, deducts earliest-expiry stock and rolls back if short.</a:t>
            </a:r>
            <a:endParaRPr lang="en-US" sz="1400" dirty="0"/>
          </a:p>
        </p:txBody>
      </p:sp>
      <p:pic>
        <p:nvPicPr>
          <p:cNvPr id="17" name="Icon iv" descr="preencoded.png">    </p:cNvPr>
          <p:cNvPicPr>
            <a:picLocks noChangeAspect="1"/>
          </p:cNvPicPr>
          <p:nvPr/>
        </p:nvPicPr>
        <p:blipFill>
          <a:blip r:embed="rId5"/>
          <a:stretch>
            <a:fillRect/>
          </a:stretch>
        </p:blipFill>
        <p:spPr>
          <a:xfrm rot="-600000">
            <a:off x="10058400" y="2194560"/>
            <a:ext cx="2651760" cy="2651760"/>
          </a:xfrm>
          <a:prstGeom prst="rect">
            <a:avLst/>
          </a:prstGeom>
        </p:spPr>
      </p:pic>
      <p:sp>
        <p:nvSpPr>
          <p:cNvPr id="25" name="Slide Number Placeholder 0"/>
          <p:cNvSpPr>
            <a:spLocks noGrp="1"/>
          </p:cNvSpPr>
          <p:nvPr>
            <p:ph type="sldNum" sz="quarter" idx="4294967295"/>
          </p:nvPr>
        </p:nvSpPr>
        <p:spPr>
          <a:xfrm>
            <a:off x="11338560" y="647395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3F4573"/>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Label Test Results" descr="preencoded.png">    </p:cNvPr>
          <p:cNvPicPr>
            <a:picLocks noChangeAspect="1"/>
          </p:cNvPicPr>
          <p:nvPr/>
        </p:nvPicPr>
        <p:blipFill>
          <a:blip r:embed="rId1"/>
          <a:stretch>
            <a:fillRect/>
          </a:stretch>
        </p:blipFill>
        <p:spPr>
          <a:xfrm>
            <a:off x="640080" y="274320"/>
            <a:ext cx="1828800" cy="457200"/>
          </a:xfrm>
          <a:prstGeom prst="rect">
            <a:avLst/>
          </a:prstGeom>
        </p:spPr>
      </p:pic>
      <p:sp>
        <p:nvSpPr>
          <p:cNvPr id="3" name="Text 0"/>
          <p:cNvSpPr txBox="1"/>
          <p:nvPr/>
        </p:nvSpPr>
        <p:spPr>
          <a:xfrm>
            <a:off x="640080" y="274320"/>
            <a:ext cx="1828800" cy="457200"/>
          </a:xfrm>
          <a:prstGeom prst="rect">
            <a:avLst/>
          </a:prstGeom>
          <a:noFill/>
          <a:ln/>
        </p:spPr>
        <p:txBody>
          <a:bodyPr wrap="square" lIns="0" tIns="0" rIns="0" bIns="0" rtlCol="0" anchor="ctr"/>
          <a:lstStyle/>
          <a:p>
            <a:pPr algn="ctr" indent="0" marL="0">
              <a:buNone/>
            </a:pPr>
            <a:r>
              <a:rPr lang="en-US" sz="1600" b="1" dirty="0">
                <a:solidFill>
                  <a:schemeClr val="tx1"/>
                </a:solidFill>
              </a:rPr>
              <a:t>Test Results</a:t>
            </a:r>
            <a:endParaRPr lang="en-US" sz="1600" dirty="0"/>
          </a:p>
        </p:txBody>
      </p:sp>
      <p:graphicFrame>
        <p:nvGraphicFramePr>
          <p:cNvPr id="13" name="Test table"/>
          <p:cNvGraphicFramePr>
            <a:graphicFrameLocks noGrp="1"/>
          </p:cNvGraphicFramePr>
          <p:nvPr>
            <p:extLst>
              <p:ext uri="{D42A27DB-BD31-4B8C-83A1-F6EECF244321}">
                <p14:modId xmlns:p14="http://schemas.microsoft.com/office/powerpoint/2010/main" val="1579011935"/>
              </p:ext>
            </p:extLst>
          </p:nvPr>
        </p:nvGraphicFramePr>
        <p:xfrm>
          <a:off x="640080" y="1143000"/>
          <a:ext cx="7498080" cy="914400"/>
        </p:xfrm>
        <a:graphic>
          <a:graphicData uri="http://schemas.openxmlformats.org/drawingml/2006/table">
            <a:tbl>
              <a:tblPr/>
              <a:tblGrid>
                <a:gridCol w="4754880"/>
                <a:gridCol w="1188720"/>
                <a:gridCol w="1554480"/>
              </a:tblGrid>
              <a:tr h="384048">
                <a:tc>
                  <a:txBody>
                    <a:bodyPr/>
                    <a:lstStyle/>
                    <a:p>
                      <a:pPr indent="0" marL="0">
                        <a:buNone/>
                      </a:pPr>
                      <a:r>
                        <a:rPr lang="en-US" sz="1300" b="1" dirty="0">
                          <a:solidFill>
                            <a:srgbClr val="3F4573"/>
                          </a:solidFill>
                        </a:rPr>
                        <a:t>Test suite</a:t>
                      </a:r>
                      <a:endParaRPr lang="en-US" sz="1300" dirty="0"/>
                    </a:p>
                  </a:txBody>
                  <a:tcPr marL="91440" marR="91440" marT="0" marB="0" anchor="ctr">
                    <a:lnL w="0" cap="flat" cmpd="sng" algn="ctr">
                      <a:noFill/>
                    </a:lnL>
                    <a:lnR w="0" cap="flat" cmpd="sng" algn="ctr">
                      <a:noFill/>
                    </a:lnR>
                    <a:lnT w="0" cap="flat" cmpd="sng" algn="ctr">
                      <a:noFill/>
                    </a:lnT>
                    <a:lnB w="12700" cap="flat" cmpd="sng" algn="ctr">
                      <a:solidFill>
                        <a:srgbClr val="CCCCCC"/>
                      </a:solidFill>
                      <a:prstDash val="solid"/>
                      <a:round/>
                      <a:headEnd type="none" w="med" len="med"/>
                      <a:tailEnd type="none" w="med" len="med"/>
                    </a:lnB>
                    <a:solidFill>
                      <a:srgbClr val="B7E0F2"/>
                    </a:solidFill>
                  </a:tcPr>
                </a:tc>
                <a:tc>
                  <a:txBody>
                    <a:bodyPr/>
                    <a:lstStyle/>
                    <a:p>
                      <a:pPr indent="0" marL="0">
                        <a:buNone/>
                      </a:pPr>
                      <a:r>
                        <a:rPr lang="en-US" sz="1300" b="1" dirty="0">
                          <a:solidFill>
                            <a:srgbClr val="3F4573"/>
                          </a:solidFill>
                        </a:rPr>
                        <a:t>Tests</a:t>
                      </a:r>
                      <a:endParaRPr lang="en-US" sz="1300" dirty="0"/>
                    </a:p>
                  </a:txBody>
                  <a:tcPr marL="91440" marR="91440" marT="0" marB="0" anchor="ctr">
                    <a:lnL w="0" cap="flat" cmpd="sng" algn="ctr">
                      <a:noFill/>
                    </a:lnL>
                    <a:lnR w="0" cap="flat" cmpd="sng" algn="ctr">
                      <a:noFill/>
                    </a:lnR>
                    <a:lnT w="0" cap="flat" cmpd="sng" algn="ctr">
                      <a:noFill/>
                    </a:lnT>
                    <a:lnB w="12700" cap="flat" cmpd="sng" algn="ctr">
                      <a:solidFill>
                        <a:srgbClr val="CCCCCC"/>
                      </a:solidFill>
                      <a:prstDash val="solid"/>
                      <a:round/>
                      <a:headEnd type="none" w="med" len="med"/>
                      <a:tailEnd type="none" w="med" len="med"/>
                    </a:lnB>
                    <a:solidFill>
                      <a:srgbClr val="B7E0F2"/>
                    </a:solidFill>
                  </a:tcPr>
                </a:tc>
                <a:tc>
                  <a:txBody>
                    <a:bodyPr/>
                    <a:lstStyle/>
                    <a:p>
                      <a:pPr indent="0" marL="0">
                        <a:buNone/>
                      </a:pPr>
                      <a:r>
                        <a:rPr lang="en-US" sz="1300" b="1" dirty="0">
                          <a:solidFill>
                            <a:srgbClr val="3F4573"/>
                          </a:solidFill>
                        </a:rPr>
                        <a:t>Result</a:t>
                      </a:r>
                      <a:endParaRPr lang="en-US" sz="1300" dirty="0"/>
                    </a:p>
                  </a:txBody>
                  <a:tcPr marL="91440" marR="91440" marT="0" marB="0" anchor="ctr">
                    <a:lnL w="0" cap="flat" cmpd="sng" algn="ctr">
                      <a:noFill/>
                    </a:lnL>
                    <a:lnR w="0" cap="flat" cmpd="sng" algn="ctr">
                      <a:noFill/>
                    </a:lnR>
                    <a:lnT w="0" cap="flat" cmpd="sng" algn="ctr">
                      <a:noFill/>
                    </a:lnT>
                    <a:lnB w="12700" cap="flat" cmpd="sng" algn="ctr">
                      <a:solidFill>
                        <a:srgbClr val="CCCCCC"/>
                      </a:solidFill>
                      <a:prstDash val="solid"/>
                      <a:round/>
                      <a:headEnd type="none" w="med" len="med"/>
                      <a:tailEnd type="none" w="med" len="med"/>
                    </a:lnB>
                    <a:solidFill>
                      <a:srgbClr val="B7E0F2"/>
                    </a:solidFill>
                  </a:tcPr>
                </a:tc>
              </a:tr>
              <a:tr h="384048">
                <a:tc>
                  <a:txBody>
                    <a:bodyPr/>
                    <a:lstStyle/>
                    <a:p>
                      <a:pPr indent="0" marL="0">
                        <a:buNone/>
                      </a:pPr>
                      <a:r>
                        <a:rPr lang="en-US" sz="1300" dirty="0">
                          <a:solidFill>
                            <a:srgbClr val="3F4573"/>
                          </a:solidFill>
                        </a:rPr>
                        <a:t>Middleware and forged tokens</a:t>
                      </a:r>
                      <a:endParaRPr lang="en-US" sz="1300" dirty="0"/>
                    </a:p>
                  </a:txBody>
                  <a:tcPr marL="91440" marR="91440" marT="0" marB="0" anchor="ctr">
                    <a:lnL w="0" cap="flat" cmpd="sng" algn="ctr">
                      <a:noFill/>
                    </a:lnL>
                    <a:lnR w="0" cap="flat" cmpd="sng" algn="ctr">
                      <a:noFill/>
                    </a:lnR>
                    <a:lnT w="0" cap="flat" cmpd="sng" algn="ctr">
                      <a:noFill/>
                    </a:lnT>
                    <a:lnB w="1270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3F4573"/>
                          </a:solidFill>
                        </a:rPr>
                        <a:t>15</a:t>
                      </a:r>
                      <a:endParaRPr lang="en-US" sz="1300" dirty="0"/>
                    </a:p>
                  </a:txBody>
                  <a:tcPr marL="91440" marR="91440" marT="0" marB="0" anchor="ctr">
                    <a:lnL w="0" cap="flat" cmpd="sng" algn="ctr">
                      <a:noFill/>
                    </a:lnL>
                    <a:lnR w="0" cap="flat" cmpd="sng" algn="ctr">
                      <a:noFill/>
                    </a:lnR>
                    <a:lnT w="0" cap="flat" cmpd="sng" algn="ctr">
                      <a:noFill/>
                    </a:lnT>
                    <a:lnB w="1270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3F4573"/>
                          </a:solidFill>
                        </a:rPr>
                        <a:t>Pass</a:t>
                      </a:r>
                      <a:endParaRPr lang="en-US" sz="1300" dirty="0"/>
                    </a:p>
                  </a:txBody>
                  <a:tcPr marL="91440" marR="91440" marT="0" marB="0" anchor="ctr">
                    <a:lnL w="0" cap="flat" cmpd="sng" algn="ctr">
                      <a:noFill/>
                    </a:lnL>
                    <a:lnR w="0" cap="flat" cmpd="sng" algn="ctr">
                      <a:noFill/>
                    </a:lnR>
                    <a:lnT w="0" cap="flat" cmpd="sng" algn="ctr">
                      <a:noFill/>
                    </a:lnT>
                    <a:lnB w="12700" cap="flat" cmpd="sng" algn="ctr">
                      <a:solidFill>
                        <a:srgbClr val="CCCCCC"/>
                      </a:solidFill>
                      <a:prstDash val="solid"/>
                      <a:round/>
                      <a:headEnd type="none" w="med" len="med"/>
                      <a:tailEnd type="none" w="med" len="med"/>
                    </a:lnB>
                  </a:tcPr>
                </a:tc>
              </a:tr>
              <a:tr h="384048">
                <a:tc>
                  <a:txBody>
                    <a:bodyPr/>
                    <a:lstStyle/>
                    <a:p>
                      <a:pPr indent="0" marL="0">
                        <a:buNone/>
                      </a:pPr>
                      <a:r>
                        <a:rPr lang="en-US" sz="1300" dirty="0">
                          <a:solidFill>
                            <a:srgbClr val="3F4573"/>
                          </a:solidFill>
                        </a:rPr>
                        <a:t>Authentication and rate limiting</a:t>
                      </a:r>
                      <a:endParaRPr lang="en-US" sz="1300" dirty="0"/>
                    </a:p>
                  </a:txBody>
                  <a:tcPr marL="91440" marR="91440" marT="0" marB="0" anchor="ctr">
                    <a:lnL w="0" cap="flat" cmpd="sng" algn="ctr">
                      <a:noFill/>
                    </a:lnL>
                    <a:lnR w="0" cap="flat" cmpd="sng" algn="ctr">
                      <a:noFill/>
                    </a:lnR>
                    <a:lnT w="0" cap="flat" cmpd="sng" algn="ctr">
                      <a:noFill/>
                    </a:lnT>
                    <a:lnB w="1270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3F4573"/>
                          </a:solidFill>
                        </a:rPr>
                        <a:t>17</a:t>
                      </a:r>
                      <a:endParaRPr lang="en-US" sz="1300" dirty="0"/>
                    </a:p>
                  </a:txBody>
                  <a:tcPr marL="91440" marR="91440" marT="0" marB="0" anchor="ctr">
                    <a:lnL w="0" cap="flat" cmpd="sng" algn="ctr">
                      <a:noFill/>
                    </a:lnL>
                    <a:lnR w="0" cap="flat" cmpd="sng" algn="ctr">
                      <a:noFill/>
                    </a:lnR>
                    <a:lnT w="0" cap="flat" cmpd="sng" algn="ctr">
                      <a:noFill/>
                    </a:lnT>
                    <a:lnB w="1270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3F4573"/>
                          </a:solidFill>
                        </a:rPr>
                        <a:t>Pass</a:t>
                      </a:r>
                      <a:endParaRPr lang="en-US" sz="1300" dirty="0"/>
                    </a:p>
                  </a:txBody>
                  <a:tcPr marL="91440" marR="91440" marT="0" marB="0" anchor="ctr">
                    <a:lnL w="0" cap="flat" cmpd="sng" algn="ctr">
                      <a:noFill/>
                    </a:lnL>
                    <a:lnR w="0" cap="flat" cmpd="sng" algn="ctr">
                      <a:noFill/>
                    </a:lnR>
                    <a:lnT w="0" cap="flat" cmpd="sng" algn="ctr">
                      <a:noFill/>
                    </a:lnT>
                    <a:lnB w="12700" cap="flat" cmpd="sng" algn="ctr">
                      <a:solidFill>
                        <a:srgbClr val="CCCCCC"/>
                      </a:solidFill>
                      <a:prstDash val="solid"/>
                      <a:round/>
                      <a:headEnd type="none" w="med" len="med"/>
                      <a:tailEnd type="none" w="med" len="med"/>
                    </a:lnB>
                  </a:tcPr>
                </a:tc>
              </a:tr>
              <a:tr h="384048">
                <a:tc>
                  <a:txBody>
                    <a:bodyPr/>
                    <a:lstStyle/>
                    <a:p>
                      <a:pPr indent="0" marL="0">
                        <a:buNone/>
                      </a:pPr>
                      <a:r>
                        <a:rPr lang="en-US" sz="1300" dirty="0">
                          <a:solidFill>
                            <a:srgbClr val="3F4573"/>
                          </a:solidFill>
                        </a:rPr>
                        <a:t>Pharmacy and lab logic</a:t>
                      </a:r>
                      <a:endParaRPr lang="en-US" sz="1300" dirty="0"/>
                    </a:p>
                  </a:txBody>
                  <a:tcPr marL="91440" marR="91440" marT="0" marB="0" anchor="ctr">
                    <a:lnL w="0" cap="flat" cmpd="sng" algn="ctr">
                      <a:noFill/>
                    </a:lnL>
                    <a:lnR w="0" cap="flat" cmpd="sng" algn="ctr">
                      <a:noFill/>
                    </a:lnR>
                    <a:lnT w="0" cap="flat" cmpd="sng" algn="ctr">
                      <a:noFill/>
                    </a:lnT>
                    <a:lnB w="1270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3F4573"/>
                          </a:solidFill>
                        </a:rPr>
                        <a:t>34</a:t>
                      </a:r>
                      <a:endParaRPr lang="en-US" sz="1300" dirty="0"/>
                    </a:p>
                  </a:txBody>
                  <a:tcPr marL="91440" marR="91440" marT="0" marB="0" anchor="ctr">
                    <a:lnL w="0" cap="flat" cmpd="sng" algn="ctr">
                      <a:noFill/>
                    </a:lnL>
                    <a:lnR w="0" cap="flat" cmpd="sng" algn="ctr">
                      <a:noFill/>
                    </a:lnR>
                    <a:lnT w="0" cap="flat" cmpd="sng" algn="ctr">
                      <a:noFill/>
                    </a:lnT>
                    <a:lnB w="1270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3F4573"/>
                          </a:solidFill>
                        </a:rPr>
                        <a:t>Pass</a:t>
                      </a:r>
                      <a:endParaRPr lang="en-US" sz="1300" dirty="0"/>
                    </a:p>
                  </a:txBody>
                  <a:tcPr marL="91440" marR="91440" marT="0" marB="0" anchor="ctr">
                    <a:lnL w="0" cap="flat" cmpd="sng" algn="ctr">
                      <a:noFill/>
                    </a:lnL>
                    <a:lnR w="0" cap="flat" cmpd="sng" algn="ctr">
                      <a:noFill/>
                    </a:lnR>
                    <a:lnT w="0" cap="flat" cmpd="sng" algn="ctr">
                      <a:noFill/>
                    </a:lnT>
                    <a:lnB w="12700" cap="flat" cmpd="sng" algn="ctr">
                      <a:solidFill>
                        <a:srgbClr val="CCCCCC"/>
                      </a:solidFill>
                      <a:prstDash val="solid"/>
                      <a:round/>
                      <a:headEnd type="none" w="med" len="med"/>
                      <a:tailEnd type="none" w="med" len="med"/>
                    </a:lnB>
                  </a:tcPr>
                </a:tc>
              </a:tr>
              <a:tr h="384048">
                <a:tc>
                  <a:txBody>
                    <a:bodyPr/>
                    <a:lstStyle/>
                    <a:p>
                      <a:pPr indent="0" marL="0">
                        <a:buNone/>
                      </a:pPr>
                      <a:r>
                        <a:rPr lang="en-US" sz="1300" dirty="0">
                          <a:solidFill>
                            <a:srgbClr val="3F4573"/>
                          </a:solidFill>
                        </a:rPr>
                        <a:t>Inpatient admissions</a:t>
                      </a:r>
                      <a:endParaRPr lang="en-US" sz="1300" dirty="0"/>
                    </a:p>
                  </a:txBody>
                  <a:tcPr marL="91440" marR="91440" marT="0" marB="0" anchor="ctr">
                    <a:lnL w="0" cap="flat" cmpd="sng" algn="ctr">
                      <a:noFill/>
                    </a:lnL>
                    <a:lnR w="0" cap="flat" cmpd="sng" algn="ctr">
                      <a:noFill/>
                    </a:lnR>
                    <a:lnT w="0" cap="flat" cmpd="sng" algn="ctr">
                      <a:noFill/>
                    </a:lnT>
                    <a:lnB w="1270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3F4573"/>
                          </a:solidFill>
                        </a:rPr>
                        <a:t>123</a:t>
                      </a:r>
                      <a:endParaRPr lang="en-US" sz="1300" dirty="0"/>
                    </a:p>
                  </a:txBody>
                  <a:tcPr marL="91440" marR="91440" marT="0" marB="0" anchor="ctr">
                    <a:lnL w="0" cap="flat" cmpd="sng" algn="ctr">
                      <a:noFill/>
                    </a:lnL>
                    <a:lnR w="0" cap="flat" cmpd="sng" algn="ctr">
                      <a:noFill/>
                    </a:lnR>
                    <a:lnT w="0" cap="flat" cmpd="sng" algn="ctr">
                      <a:noFill/>
                    </a:lnT>
                    <a:lnB w="1270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3F4573"/>
                          </a:solidFill>
                        </a:rPr>
                        <a:t>Pass</a:t>
                      </a:r>
                      <a:endParaRPr lang="en-US" sz="1300" dirty="0"/>
                    </a:p>
                  </a:txBody>
                  <a:tcPr marL="91440" marR="91440" marT="0" marB="0" anchor="ctr">
                    <a:lnL w="0" cap="flat" cmpd="sng" algn="ctr">
                      <a:noFill/>
                    </a:lnL>
                    <a:lnR w="0" cap="flat" cmpd="sng" algn="ctr">
                      <a:noFill/>
                    </a:lnR>
                    <a:lnT w="0" cap="flat" cmpd="sng" algn="ctr">
                      <a:noFill/>
                    </a:lnT>
                    <a:lnB w="12700" cap="flat" cmpd="sng" algn="ctr">
                      <a:solidFill>
                        <a:srgbClr val="CCCCCC"/>
                      </a:solidFill>
                      <a:prstDash val="solid"/>
                      <a:round/>
                      <a:headEnd type="none" w="med" len="med"/>
                      <a:tailEnd type="none" w="med" len="med"/>
                    </a:lnB>
                  </a:tcPr>
                </a:tc>
              </a:tr>
              <a:tr h="384048">
                <a:tc>
                  <a:txBody>
                    <a:bodyPr/>
                    <a:lstStyle/>
                    <a:p>
                      <a:pPr indent="0" marL="0">
                        <a:buNone/>
                      </a:pPr>
                      <a:r>
                        <a:rPr lang="en-US" sz="1300" dirty="0">
                          <a:solidFill>
                            <a:srgbClr val="3F4573"/>
                          </a:solidFill>
                        </a:rPr>
                        <a:t>Appointments, timeline, messaging</a:t>
                      </a:r>
                      <a:endParaRPr lang="en-US" sz="1300" dirty="0"/>
                    </a:p>
                  </a:txBody>
                  <a:tcPr marL="91440" marR="91440" marT="0" marB="0" anchor="ctr">
                    <a:lnL w="0" cap="flat" cmpd="sng" algn="ctr">
                      <a:noFill/>
                    </a:lnL>
                    <a:lnR w="0" cap="flat" cmpd="sng" algn="ctr">
                      <a:noFill/>
                    </a:lnR>
                    <a:lnT w="0" cap="flat" cmpd="sng" algn="ctr">
                      <a:noFill/>
                    </a:lnT>
                    <a:lnB w="1270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3F4573"/>
                          </a:solidFill>
                        </a:rPr>
                        <a:t>45</a:t>
                      </a:r>
                      <a:endParaRPr lang="en-US" sz="1300" dirty="0"/>
                    </a:p>
                  </a:txBody>
                  <a:tcPr marL="91440" marR="91440" marT="0" marB="0" anchor="ctr">
                    <a:lnL w="0" cap="flat" cmpd="sng" algn="ctr">
                      <a:noFill/>
                    </a:lnL>
                    <a:lnR w="0" cap="flat" cmpd="sng" algn="ctr">
                      <a:noFill/>
                    </a:lnR>
                    <a:lnT w="0" cap="flat" cmpd="sng" algn="ctr">
                      <a:noFill/>
                    </a:lnT>
                    <a:lnB w="1270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3F4573"/>
                          </a:solidFill>
                        </a:rPr>
                        <a:t>Pass</a:t>
                      </a:r>
                      <a:endParaRPr lang="en-US" sz="1300" dirty="0"/>
                    </a:p>
                  </a:txBody>
                  <a:tcPr marL="91440" marR="91440" marT="0" marB="0" anchor="ctr">
                    <a:lnL w="0" cap="flat" cmpd="sng" algn="ctr">
                      <a:noFill/>
                    </a:lnL>
                    <a:lnR w="0" cap="flat" cmpd="sng" algn="ctr">
                      <a:noFill/>
                    </a:lnR>
                    <a:lnT w="0" cap="flat" cmpd="sng" algn="ctr">
                      <a:noFill/>
                    </a:lnT>
                    <a:lnB w="12700" cap="flat" cmpd="sng" algn="ctr">
                      <a:solidFill>
                        <a:srgbClr val="CCCCCC"/>
                      </a:solidFill>
                      <a:prstDash val="solid"/>
                      <a:round/>
                      <a:headEnd type="none" w="med" len="med"/>
                      <a:tailEnd type="none" w="med" len="med"/>
                    </a:lnB>
                  </a:tcPr>
                </a:tc>
              </a:tr>
              <a:tr h="384048">
                <a:tc>
                  <a:txBody>
                    <a:bodyPr/>
                    <a:lstStyle/>
                    <a:p>
                      <a:pPr indent="0" marL="0">
                        <a:buNone/>
                      </a:pPr>
                      <a:r>
                        <a:rPr lang="en-US" sz="1300" dirty="0">
                          <a:solidFill>
                            <a:srgbClr val="3F4573"/>
                          </a:solidFill>
                        </a:rPr>
                        <a:t>Input validators</a:t>
                      </a:r>
                      <a:endParaRPr lang="en-US" sz="1300" dirty="0"/>
                    </a:p>
                  </a:txBody>
                  <a:tcPr marL="91440" marR="91440" marT="0" marB="0" anchor="ctr">
                    <a:lnL w="0" cap="flat" cmpd="sng" algn="ctr">
                      <a:noFill/>
                    </a:lnL>
                    <a:lnR w="0" cap="flat" cmpd="sng" algn="ctr">
                      <a:noFill/>
                    </a:lnR>
                    <a:lnT w="0" cap="flat" cmpd="sng" algn="ctr">
                      <a:noFill/>
                    </a:lnT>
                    <a:lnB w="1270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3F4573"/>
                          </a:solidFill>
                        </a:rPr>
                        <a:t>15</a:t>
                      </a:r>
                      <a:endParaRPr lang="en-US" sz="1300" dirty="0"/>
                    </a:p>
                  </a:txBody>
                  <a:tcPr marL="91440" marR="91440" marT="0" marB="0" anchor="ctr">
                    <a:lnL w="0" cap="flat" cmpd="sng" algn="ctr">
                      <a:noFill/>
                    </a:lnL>
                    <a:lnR w="0" cap="flat" cmpd="sng" algn="ctr">
                      <a:noFill/>
                    </a:lnR>
                    <a:lnT w="0" cap="flat" cmpd="sng" algn="ctr">
                      <a:noFill/>
                    </a:lnT>
                    <a:lnB w="1270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3F4573"/>
                          </a:solidFill>
                        </a:rPr>
                        <a:t>Pass</a:t>
                      </a:r>
                      <a:endParaRPr lang="en-US" sz="1300" dirty="0"/>
                    </a:p>
                  </a:txBody>
                  <a:tcPr marL="91440" marR="91440" marT="0" marB="0" anchor="ctr">
                    <a:lnL w="0" cap="flat" cmpd="sng" algn="ctr">
                      <a:noFill/>
                    </a:lnL>
                    <a:lnR w="0" cap="flat" cmpd="sng" algn="ctr">
                      <a:noFill/>
                    </a:lnR>
                    <a:lnT w="0" cap="flat" cmpd="sng" algn="ctr">
                      <a:noFill/>
                    </a:lnT>
                    <a:lnB w="12700" cap="flat" cmpd="sng" algn="ctr">
                      <a:solidFill>
                        <a:srgbClr val="CCCCCC"/>
                      </a:solidFill>
                      <a:prstDash val="solid"/>
                      <a:round/>
                      <a:headEnd type="none" w="med" len="med"/>
                      <a:tailEnd type="none" w="med" len="med"/>
                    </a:lnB>
                  </a:tcPr>
                </a:tc>
              </a:tr>
              <a:tr h="384048">
                <a:tc>
                  <a:txBody>
                    <a:bodyPr/>
                    <a:lstStyle/>
                    <a:p>
                      <a:pPr indent="0" marL="0">
                        <a:buNone/>
                      </a:pPr>
                      <a:r>
                        <a:rPr lang="en-US" sz="1300" dirty="0">
                          <a:solidFill>
                            <a:srgbClr val="3F4573"/>
                          </a:solidFill>
                        </a:rPr>
                        <a:t>Visits and student verification</a:t>
                      </a:r>
                      <a:endParaRPr lang="en-US" sz="1300" dirty="0"/>
                    </a:p>
                  </a:txBody>
                  <a:tcPr marL="91440" marR="91440" marT="0" marB="0" anchor="ctr">
                    <a:lnL w="0" cap="flat" cmpd="sng" algn="ctr">
                      <a:noFill/>
                    </a:lnL>
                    <a:lnR w="0" cap="flat" cmpd="sng" algn="ctr">
                      <a:noFill/>
                    </a:lnR>
                    <a:lnT w="0" cap="flat" cmpd="sng" algn="ctr">
                      <a:noFill/>
                    </a:lnT>
                    <a:lnB w="1270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3F4573"/>
                          </a:solidFill>
                        </a:rPr>
                        <a:t>29</a:t>
                      </a:r>
                      <a:endParaRPr lang="en-US" sz="1300" dirty="0"/>
                    </a:p>
                  </a:txBody>
                  <a:tcPr marL="91440" marR="91440" marT="0" marB="0" anchor="ctr">
                    <a:lnL w="0" cap="flat" cmpd="sng" algn="ctr">
                      <a:noFill/>
                    </a:lnL>
                    <a:lnR w="0" cap="flat" cmpd="sng" algn="ctr">
                      <a:noFill/>
                    </a:lnR>
                    <a:lnT w="0" cap="flat" cmpd="sng" algn="ctr">
                      <a:noFill/>
                    </a:lnT>
                    <a:lnB w="1270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3F4573"/>
                          </a:solidFill>
                        </a:rPr>
                        <a:t>Pass</a:t>
                      </a:r>
                      <a:endParaRPr lang="en-US" sz="1300" dirty="0"/>
                    </a:p>
                  </a:txBody>
                  <a:tcPr marL="91440" marR="91440" marT="0" marB="0" anchor="ctr">
                    <a:lnL w="0" cap="flat" cmpd="sng" algn="ctr">
                      <a:noFill/>
                    </a:lnL>
                    <a:lnR w="0" cap="flat" cmpd="sng" algn="ctr">
                      <a:noFill/>
                    </a:lnR>
                    <a:lnT w="0" cap="flat" cmpd="sng" algn="ctr">
                      <a:noFill/>
                    </a:lnT>
                    <a:lnB w="12700" cap="flat" cmpd="sng" algn="ctr">
                      <a:solidFill>
                        <a:srgbClr val="CCCCCC"/>
                      </a:solidFill>
                      <a:prstDash val="solid"/>
                      <a:round/>
                      <a:headEnd type="none" w="med" len="med"/>
                      <a:tailEnd type="none" w="med" len="med"/>
                    </a:lnB>
                  </a:tcPr>
                </a:tc>
              </a:tr>
              <a:tr h="384048">
                <a:tc>
                  <a:txBody>
                    <a:bodyPr/>
                    <a:lstStyle/>
                    <a:p>
                      <a:pPr indent="0" marL="0">
                        <a:buNone/>
                      </a:pPr>
                      <a:r>
                        <a:rPr lang="en-US" sz="1300" dirty="0">
                          <a:solidFill>
                            <a:srgbClr val="3F4573"/>
                          </a:solidFill>
                        </a:rPr>
                        <a:t>Roles, dates, SIS mock, icons</a:t>
                      </a:r>
                      <a:endParaRPr lang="en-US" sz="1300" dirty="0"/>
                    </a:p>
                  </a:txBody>
                  <a:tcPr marL="91440" marR="91440" marT="0" marB="0" anchor="ctr">
                    <a:lnL w="0" cap="flat" cmpd="sng" algn="ctr">
                      <a:noFill/>
                    </a:lnL>
                    <a:lnR w="0" cap="flat" cmpd="sng" algn="ctr">
                      <a:noFill/>
                    </a:lnR>
                    <a:lnT w="0" cap="flat" cmpd="sng" algn="ctr">
                      <a:noFill/>
                    </a:lnT>
                    <a:lnB w="1270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3F4573"/>
                          </a:solidFill>
                        </a:rPr>
                        <a:t>62</a:t>
                      </a:r>
                      <a:endParaRPr lang="en-US" sz="1300" dirty="0"/>
                    </a:p>
                  </a:txBody>
                  <a:tcPr marL="91440" marR="91440" marT="0" marB="0" anchor="ctr">
                    <a:lnL w="0" cap="flat" cmpd="sng" algn="ctr">
                      <a:noFill/>
                    </a:lnL>
                    <a:lnR w="0" cap="flat" cmpd="sng" algn="ctr">
                      <a:noFill/>
                    </a:lnR>
                    <a:lnT w="0" cap="flat" cmpd="sng" algn="ctr">
                      <a:noFill/>
                    </a:lnT>
                    <a:lnB w="1270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3F4573"/>
                          </a:solidFill>
                        </a:rPr>
                        <a:t>Pass</a:t>
                      </a:r>
                      <a:endParaRPr lang="en-US" sz="1300" dirty="0"/>
                    </a:p>
                  </a:txBody>
                  <a:tcPr marL="91440" marR="91440" marT="0" marB="0" anchor="ctr">
                    <a:lnL w="0" cap="flat" cmpd="sng" algn="ctr">
                      <a:noFill/>
                    </a:lnL>
                    <a:lnR w="0" cap="flat" cmpd="sng" algn="ctr">
                      <a:noFill/>
                    </a:lnR>
                    <a:lnT w="0" cap="flat" cmpd="sng" algn="ctr">
                      <a:noFill/>
                    </a:lnT>
                    <a:lnB w="12700" cap="flat" cmpd="sng" algn="ctr">
                      <a:solidFill>
                        <a:srgbClr val="CCCCCC"/>
                      </a:solidFill>
                      <a:prstDash val="solid"/>
                      <a:round/>
                      <a:headEnd type="none" w="med" len="med"/>
                      <a:tailEnd type="none" w="med" len="med"/>
                    </a:lnB>
                  </a:tcPr>
                </a:tc>
              </a:tr>
              <a:tr h="384048">
                <a:tc>
                  <a:txBody>
                    <a:bodyPr/>
                    <a:lstStyle/>
                    <a:p>
                      <a:pPr indent="0" marL="0">
                        <a:buNone/>
                      </a:pPr>
                      <a:r>
                        <a:rPr lang="en-US" sz="1300" dirty="0">
                          <a:solidFill>
                            <a:srgbClr val="3F4573"/>
                          </a:solidFill>
                        </a:rPr>
                        <a:t>Route safety</a:t>
                      </a:r>
                      <a:endParaRPr lang="en-US" sz="1300" dirty="0"/>
                    </a:p>
                  </a:txBody>
                  <a:tcPr marL="91440" marR="91440" marT="0" marB="0" anchor="ctr">
                    <a:lnL w="0" cap="flat" cmpd="sng" algn="ctr">
                      <a:noFill/>
                    </a:lnL>
                    <a:lnR w="0" cap="flat" cmpd="sng" algn="ctr">
                      <a:noFill/>
                    </a:lnR>
                    <a:lnT w="0" cap="flat" cmpd="sng" algn="ctr">
                      <a:noFill/>
                    </a:lnT>
                    <a:lnB w="1270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3F4573"/>
                          </a:solidFill>
                        </a:rPr>
                        <a:t>13</a:t>
                      </a:r>
                      <a:endParaRPr lang="en-US" sz="1300" dirty="0"/>
                    </a:p>
                  </a:txBody>
                  <a:tcPr marL="91440" marR="91440" marT="0" marB="0" anchor="ctr">
                    <a:lnL w="0" cap="flat" cmpd="sng" algn="ctr">
                      <a:noFill/>
                    </a:lnL>
                    <a:lnR w="0" cap="flat" cmpd="sng" algn="ctr">
                      <a:noFill/>
                    </a:lnR>
                    <a:lnT w="0" cap="flat" cmpd="sng" algn="ctr">
                      <a:noFill/>
                    </a:lnT>
                    <a:lnB w="1270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3F4573"/>
                          </a:solidFill>
                        </a:rPr>
                        <a:t>Pass</a:t>
                      </a:r>
                      <a:endParaRPr lang="en-US" sz="1300" dirty="0"/>
                    </a:p>
                  </a:txBody>
                  <a:tcPr marL="91440" marR="91440" marT="0" marB="0" anchor="ctr">
                    <a:lnL w="0" cap="flat" cmpd="sng" algn="ctr">
                      <a:noFill/>
                    </a:lnL>
                    <a:lnR w="0" cap="flat" cmpd="sng" algn="ctr">
                      <a:noFill/>
                    </a:lnR>
                    <a:lnT w="0" cap="flat" cmpd="sng" algn="ctr">
                      <a:noFill/>
                    </a:lnT>
                    <a:lnB w="12700" cap="flat" cmpd="sng" algn="ctr">
                      <a:solidFill>
                        <a:srgbClr val="CCCCCC"/>
                      </a:solidFill>
                      <a:prstDash val="solid"/>
                      <a:round/>
                      <a:headEnd type="none" w="med" len="med"/>
                      <a:tailEnd type="none" w="med" len="med"/>
                    </a:lnB>
                  </a:tcPr>
                </a:tc>
              </a:tr>
            </a:tbl>
          </a:graphicData>
        </a:graphic>
      </p:graphicFrame>
      <p:sp>
        <p:nvSpPr>
          <p:cNvPr id="5" name="Text 1"/>
          <p:cNvSpPr txBox="1"/>
          <p:nvPr/>
        </p:nvSpPr>
        <p:spPr>
          <a:xfrm>
            <a:off x="8503920" y="1188720"/>
            <a:ext cx="3291840" cy="822960"/>
          </a:xfrm>
          <a:prstGeom prst="rect">
            <a:avLst/>
          </a:prstGeom>
          <a:noFill/>
          <a:ln/>
        </p:spPr>
        <p:txBody>
          <a:bodyPr wrap="square" lIns="0" tIns="0" rIns="0" bIns="0" rtlCol="0" anchor="ctr"/>
          <a:lstStyle/>
          <a:p>
            <a:pPr indent="0" marL="0">
              <a:buNone/>
            </a:pPr>
            <a:r>
              <a:rPr lang="en-US" sz="3800" dirty="0">
                <a:solidFill>
                  <a:schemeClr val="tx1"/>
                </a:solidFill>
                <a:latin typeface="+mj-lt" pitchFamily="34" charset="0"/>
                <a:ea typeface="+mj-lt" pitchFamily="34" charset="-122"/>
                <a:cs typeface="+mj-lt" pitchFamily="34" charset="-120"/>
              </a:rPr>
              <a:t>353 / 353</a:t>
            </a:r>
            <a:endParaRPr lang="en-US" sz="3800" dirty="0"/>
          </a:p>
        </p:txBody>
      </p:sp>
      <p:sp>
        <p:nvSpPr>
          <p:cNvPr id="6" name="Text 2"/>
          <p:cNvSpPr txBox="1"/>
          <p:nvPr/>
        </p:nvSpPr>
        <p:spPr>
          <a:xfrm>
            <a:off x="8503920" y="2057400"/>
            <a:ext cx="3200400" cy="640080"/>
          </a:xfrm>
          <a:prstGeom prst="rect">
            <a:avLst/>
          </a:prstGeom>
          <a:noFill/>
          <a:ln/>
        </p:spPr>
        <p:txBody>
          <a:bodyPr wrap="square" lIns="0" tIns="0" rIns="0" bIns="0" rtlCol="0" anchor="t"/>
          <a:lstStyle/>
          <a:p>
            <a:pPr indent="0" marL="0">
              <a:buNone/>
            </a:pPr>
            <a:r>
              <a:rPr lang="en-US" sz="1500" b="1" dirty="0">
                <a:solidFill>
                  <a:schemeClr val="tx1"/>
                </a:solidFill>
              </a:rPr>
              <a:t>tests passing across 18 Vitest files</a:t>
            </a:r>
            <a:endParaRPr lang="en-US" sz="1500" dirty="0"/>
          </a:p>
        </p:txBody>
      </p:sp>
      <p:sp>
        <p:nvSpPr>
          <p:cNvPr id="7" name="Text 3"/>
          <p:cNvSpPr txBox="1"/>
          <p:nvPr/>
        </p:nvSpPr>
        <p:spPr>
          <a:xfrm>
            <a:off x="640080" y="5349240"/>
            <a:ext cx="8595360" cy="640080"/>
          </a:xfrm>
          <a:prstGeom prst="rect">
            <a:avLst/>
          </a:prstGeom>
          <a:noFill/>
          <a:ln/>
        </p:spPr>
        <p:txBody>
          <a:bodyPr wrap="square" lIns="0" tIns="0" rIns="0" bIns="0" rtlCol="0" anchor="t"/>
          <a:lstStyle/>
          <a:p>
            <a:pPr indent="0" marL="0">
              <a:lnSpc>
                <a:spcPct val="120000"/>
              </a:lnSpc>
              <a:buNone/>
            </a:pPr>
            <a:r>
              <a:rPr lang="en-US" sz="1400" dirty="0">
                <a:solidFill>
                  <a:schemeClr val="tx1"/>
                </a:solidFill>
              </a:rPr>
              <a:t>The earlier 3 route-safety failures (a leftover [Id] folder name and the /api/debug route) are fixed, and the suite now has 13 checks.</a:t>
            </a:r>
            <a:endParaRPr lang="en-US" sz="1400" dirty="0"/>
          </a:p>
        </p:txBody>
      </p:sp>
      <p:pic>
        <p:nvPicPr>
          <p:cNvPr id="8" name="Icon tube" descr="preencoded.png">    </p:cNvPr>
          <p:cNvPicPr>
            <a:picLocks noChangeAspect="1"/>
          </p:cNvPicPr>
          <p:nvPr/>
        </p:nvPicPr>
        <p:blipFill>
          <a:blip r:embed="rId2"/>
          <a:stretch>
            <a:fillRect/>
          </a:stretch>
        </p:blipFill>
        <p:spPr>
          <a:xfrm rot="900000">
            <a:off x="9966960" y="3566160"/>
            <a:ext cx="2560320" cy="2560320"/>
          </a:xfrm>
          <a:prstGeom prst="rect">
            <a:avLst/>
          </a:prstGeom>
        </p:spPr>
      </p:pic>
      <p:sp>
        <p:nvSpPr>
          <p:cNvPr id="25" name="Slide Number Placeholder 0"/>
          <p:cNvSpPr>
            <a:spLocks noGrp="1"/>
          </p:cNvSpPr>
          <p:nvPr>
            <p:ph type="sldNum" sz="quarter" idx="4294967295"/>
          </p:nvPr>
        </p:nvSpPr>
        <p:spPr>
          <a:xfrm>
            <a:off x="11338560" y="647395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3F4573"/>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test_protect">
    <p:spTree>
      <p:nvGrpSpPr>
        <p:cNvPr id="1" name=""/>
        <p:cNvGrpSpPr/>
        <p:nvPr/>
      </p:nvGrpSpPr>
      <p:grpSpPr>
        <a:xfrm>
          <a:off x="0" y="0"/>
          <a:ext cx="0" cy="0"/>
          <a:chOff x="0" y="0"/>
          <a:chExt cx="0" cy="0"/>
        </a:xfrm>
      </p:grpSpPr>
      <p:pic>
        <p:nvPicPr>
          <p:cNvPr id="2" name="Label Testing · What the tests protect" descr=""/>
          <p:cNvPicPr>
            <a:picLocks noChangeAspect="1"/>
          </p:cNvPicPr>
          <p:nvPr/>
        </p:nvPicPr>
        <p:blipFill>
          <a:blip r:embed="rId1"/>
          <a:stretch>
            <a:fillRect/>
          </a:stretch>
        </p:blipFill>
        <p:spPr>
          <a:xfrm>
            <a:off x="640080" y="274320"/>
            <a:ext cx="4284000" cy="457200"/>
          </a:xfrm>
          <a:prstGeom prst="rect">
            <a:avLst/>
          </a:prstGeom>
        </p:spPr>
      </p:pic>
      <p:sp>
        <p:nvSpPr>
          <p:cNvPr id="3" name="Title"/>
          <p:cNvSpPr txBox="1"/>
          <p:nvPr/>
        </p:nvSpPr>
        <p:spPr>
          <a:xfrm>
            <a:off x="640080" y="274320"/>
            <a:ext cx="4284000" cy="457200"/>
          </a:xfrm>
          <a:prstGeom prst="rect">
            <a:avLst/>
          </a:prstGeom>
          <a:noFill/>
          <a:ln/>
        </p:spPr>
        <p:txBody>
          <a:bodyPr wrap="square" lIns="0" tIns="0" rIns="0" bIns="0" rtlCol="0" anchor="ctr"/>
          <a:lstStyle/>
          <a:p>
            <a:pPr algn="ctr" indent="0" marL="0">
              <a:buNone/>
            </a:pPr>
            <a:r>
              <a:rPr lang="en-US" sz="1600" b="1" dirty="0">
                <a:solidFill>
                  <a:schemeClr val="tx1"/>
                </a:solidFill>
              </a:rPr>
              <a:t>Testing · What the tests protect</a:t>
            </a:r>
          </a:p>
        </p:txBody>
      </p:sp>
      <p:sp>
        <p:nvSpPr>
          <p:cNvPr id="4" name="Stepper line"/>
          <p:cNvSpPr/>
          <p:nvPr/>
        </p:nvSpPr>
        <p:spPr>
          <a:xfrm>
            <a:off x="1143000" y="1444752"/>
            <a:ext cx="0" cy="3017520"/>
          </a:xfrm>
          <a:prstGeom prst="line">
            <a:avLst/>
          </a:prstGeom>
          <a:noFill/>
          <a:ln w="38100">
            <a:solidFill>
              <a:schemeClr val="accent2"/>
            </a:solidFill>
            <a:prstDash val="solid"/>
          </a:ln>
        </p:spPr>
      </p:sp>
      <p:sp>
        <p:nvSpPr>
          <p:cNvPr id="5" name="Step 1"/>
          <p:cNvSpPr/>
          <p:nvPr/>
        </p:nvSpPr>
        <p:spPr>
          <a:xfrm>
            <a:off x="841248" y="1143000"/>
            <a:ext cx="603504" cy="603504"/>
          </a:xfrm>
          <a:prstGeom prst="ellipse">
            <a:avLst/>
          </a:prstGeom>
          <a:solidFill>
            <a:schemeClr val="accent1"/>
          </a:solidFill>
          <a:ln w="31750">
            <a:solidFill>
              <a:schemeClr val="tx1"/>
            </a:solidFill>
            <a:prstDash val="solid"/>
          </a:ln>
        </p:spPr>
      </p:sp>
      <p:pic>
        <p:nvPicPr>
          <p:cNvPr id="6" name="Step icon 1" descr="Forged tokens"/>
          <p:cNvPicPr>
            <a:picLocks noChangeAspect="1"/>
          </p:cNvPicPr>
          <p:nvPr/>
        </p:nvPicPr>
        <p:blipFill>
          <a:blip r:embed="rId2"/>
          <a:stretch>
            <a:fillRect/>
          </a:stretch>
        </p:blipFill>
        <p:spPr>
          <a:xfrm>
            <a:off x="987552" y="1289304"/>
            <a:ext cx="310896" cy="310896"/>
          </a:xfrm>
          <a:prstGeom prst="rect">
            <a:avLst/>
          </a:prstGeom>
        </p:spPr>
      </p:pic>
      <p:sp>
        <p:nvSpPr>
          <p:cNvPr id="7" name="Step title 1"/>
          <p:cNvSpPr txBox="1"/>
          <p:nvPr/>
        </p:nvSpPr>
        <p:spPr>
          <a:xfrm>
            <a:off x="1828800" y="112471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Forged tokens</a:t>
            </a:r>
          </a:p>
        </p:txBody>
      </p:sp>
      <p:sp>
        <p:nvSpPr>
          <p:cNvPr id="8" name="Step text 1"/>
          <p:cNvSpPr txBox="1"/>
          <p:nvPr/>
        </p:nvSpPr>
        <p:spPr>
          <a:xfrm>
            <a:off x="1828800" y="145389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15 middleware tests prove that a forged or expired cookie is rejected.</a:t>
            </a:r>
          </a:p>
        </p:txBody>
      </p:sp>
      <p:sp>
        <p:nvSpPr>
          <p:cNvPr id="9" name="Step 2"/>
          <p:cNvSpPr/>
          <p:nvPr/>
        </p:nvSpPr>
        <p:spPr>
          <a:xfrm>
            <a:off x="841248" y="2148840"/>
            <a:ext cx="603504" cy="603504"/>
          </a:xfrm>
          <a:prstGeom prst="ellipse">
            <a:avLst/>
          </a:prstGeom>
          <a:solidFill>
            <a:schemeClr val="accent1"/>
          </a:solidFill>
          <a:ln w="31750">
            <a:solidFill>
              <a:schemeClr val="tx1"/>
            </a:solidFill>
            <a:prstDash val="solid"/>
          </a:ln>
        </p:spPr>
      </p:sp>
      <p:pic>
        <p:nvPicPr>
          <p:cNvPr id="10" name="Step icon 2" descr="Login and rate limits"/>
          <p:cNvPicPr>
            <a:picLocks noChangeAspect="1"/>
          </p:cNvPicPr>
          <p:nvPr/>
        </p:nvPicPr>
        <p:blipFill>
          <a:blip r:embed="rId3"/>
          <a:stretch>
            <a:fillRect/>
          </a:stretch>
        </p:blipFill>
        <p:spPr>
          <a:xfrm>
            <a:off x="987552" y="2295144"/>
            <a:ext cx="310896" cy="310896"/>
          </a:xfrm>
          <a:prstGeom prst="rect">
            <a:avLst/>
          </a:prstGeom>
        </p:spPr>
      </p:pic>
      <p:sp>
        <p:nvSpPr>
          <p:cNvPr id="11" name="Step title 2"/>
          <p:cNvSpPr txBox="1"/>
          <p:nvPr/>
        </p:nvSpPr>
        <p:spPr>
          <a:xfrm>
            <a:off x="1828800" y="213055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Login and rate limits</a:t>
            </a:r>
          </a:p>
        </p:txBody>
      </p:sp>
      <p:sp>
        <p:nvSpPr>
          <p:cNvPr id="12" name="Step text 2"/>
          <p:cNvSpPr txBox="1"/>
          <p:nvPr/>
        </p:nvSpPr>
        <p:spPr>
          <a:xfrm>
            <a:off x="1828800" y="245973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17 tests cover authentication and the 5-per-15-minutes limit.</a:t>
            </a:r>
          </a:p>
        </p:txBody>
      </p:sp>
      <p:sp>
        <p:nvSpPr>
          <p:cNvPr id="13" name="Step 3"/>
          <p:cNvSpPr/>
          <p:nvPr/>
        </p:nvSpPr>
        <p:spPr>
          <a:xfrm>
            <a:off x="841248" y="3154680"/>
            <a:ext cx="603504" cy="603504"/>
          </a:xfrm>
          <a:prstGeom prst="ellipse">
            <a:avLst/>
          </a:prstGeom>
          <a:solidFill>
            <a:schemeClr val="accent1"/>
          </a:solidFill>
          <a:ln w="31750">
            <a:solidFill>
              <a:schemeClr val="tx1"/>
            </a:solidFill>
            <a:prstDash val="solid"/>
          </a:ln>
        </p:spPr>
      </p:sp>
      <p:pic>
        <p:nvPicPr>
          <p:cNvPr id="14" name="Step icon 3" descr="Clinical logic"/>
          <p:cNvPicPr>
            <a:picLocks noChangeAspect="1"/>
          </p:cNvPicPr>
          <p:nvPr/>
        </p:nvPicPr>
        <p:blipFill>
          <a:blip r:embed="rId4"/>
          <a:stretch>
            <a:fillRect/>
          </a:stretch>
        </p:blipFill>
        <p:spPr>
          <a:xfrm>
            <a:off x="987552" y="3300984"/>
            <a:ext cx="310896" cy="310896"/>
          </a:xfrm>
          <a:prstGeom prst="rect">
            <a:avLst/>
          </a:prstGeom>
        </p:spPr>
      </p:pic>
      <p:sp>
        <p:nvSpPr>
          <p:cNvPr id="15" name="Step title 3"/>
          <p:cNvSpPr txBox="1"/>
          <p:nvPr/>
        </p:nvSpPr>
        <p:spPr>
          <a:xfrm>
            <a:off x="1828800" y="313639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Clinical logic</a:t>
            </a:r>
          </a:p>
        </p:txBody>
      </p:sp>
      <p:sp>
        <p:nvSpPr>
          <p:cNvPr id="16" name="Step text 3"/>
          <p:cNvSpPr txBox="1"/>
          <p:nvPr/>
        </p:nvSpPr>
        <p:spPr>
          <a:xfrm>
            <a:off x="1828800" y="346557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34 tests cover lab flagging and stock deduction, and 123 cover inpatient admissions.</a:t>
            </a:r>
          </a:p>
        </p:txBody>
      </p:sp>
      <p:sp>
        <p:nvSpPr>
          <p:cNvPr id="17" name="Step 4"/>
          <p:cNvSpPr/>
          <p:nvPr/>
        </p:nvSpPr>
        <p:spPr>
          <a:xfrm>
            <a:off x="841248" y="4160520"/>
            <a:ext cx="603504" cy="603504"/>
          </a:xfrm>
          <a:prstGeom prst="ellipse">
            <a:avLst/>
          </a:prstGeom>
          <a:solidFill>
            <a:schemeClr val="accent1"/>
          </a:solidFill>
          <a:ln w="31750">
            <a:solidFill>
              <a:schemeClr val="tx1"/>
            </a:solidFill>
            <a:prstDash val="solid"/>
          </a:ln>
        </p:spPr>
      </p:sp>
      <p:pic>
        <p:nvPicPr>
          <p:cNvPr id="18" name="Step icon 4" descr="Route safety"/>
          <p:cNvPicPr>
            <a:picLocks noChangeAspect="1"/>
          </p:cNvPicPr>
          <p:nvPr/>
        </p:nvPicPr>
        <p:blipFill>
          <a:blip r:embed="rId5"/>
          <a:stretch>
            <a:fillRect/>
          </a:stretch>
        </p:blipFill>
        <p:spPr>
          <a:xfrm>
            <a:off x="987552" y="4306824"/>
            <a:ext cx="310896" cy="310896"/>
          </a:xfrm>
          <a:prstGeom prst="rect">
            <a:avLst/>
          </a:prstGeom>
        </p:spPr>
      </p:pic>
      <p:sp>
        <p:nvSpPr>
          <p:cNvPr id="19" name="Step title 4"/>
          <p:cNvSpPr txBox="1"/>
          <p:nvPr/>
        </p:nvSpPr>
        <p:spPr>
          <a:xfrm>
            <a:off x="1828800" y="414223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Route safety</a:t>
            </a:r>
          </a:p>
        </p:txBody>
      </p:sp>
      <p:sp>
        <p:nvSpPr>
          <p:cNvPr id="20" name="Step text 4"/>
          <p:cNvSpPr txBox="1"/>
          <p:nvPr/>
        </p:nvSpPr>
        <p:spPr>
          <a:xfrm>
            <a:off x="1828800" y="447141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13 checks stop leftover folders and debug routes from reaching production.</a:t>
            </a:r>
          </a:p>
        </p:txBody>
      </p:sp>
      <p:pic>
        <p:nvPicPr>
          <p:cNvPr id="21" name="Decoration" descr="Decorative medical illustration"/>
          <p:cNvPicPr>
            <a:picLocks noChangeAspect="1"/>
          </p:cNvPicPr>
          <p:nvPr/>
        </p:nvPicPr>
        <p:blipFill>
          <a:blip r:embed="rId6"/>
          <a:stretch>
            <a:fillRect/>
          </a:stretch>
        </p:blipFill>
        <p:spPr>
          <a:xfrm>
            <a:off x="10058400" y="2011680"/>
            <a:ext cx="2200000" cy="2200000"/>
          </a:xfrm>
          <a:prstGeom prst="rect">
            <a:avLst/>
          </a:prstGeom>
        </p:spPr>
      </p:pic>
      <p:sp>
        <p:nvSpPr>
          <p:cNvPr id="22" name="Slide Number Placeholder"/>
          <p:cNvSpPr>
            <a:spLocks noGrp="1"/>
          </p:cNvSpPr>
          <p:nvPr>
            <p:ph type="sldNum" sz="quarter" idx="4294967295"/>
          </p:nvPr>
        </p:nvSpPr>
        <p:spPr>
          <a:xfrm>
            <a:off x="11338560" y="6473952"/>
            <a:ext cx="457200" cy="228600"/>
          </a:xfrm>
          <a:prstGeom prst="rect">
            <a:avLst/>
          </a:prstGeom>
        </p:spPr>
        <p:txBody>
          <a:bodyPr/>
          <a:lstStyle>
            <a:lvl1pPr>
              <a:defRPr sz="1000">
                <a:solidFill>
                  <a:srgbClr val="3F4573"/>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Label Discussion of Findings" descr="preencoded.png">    </p:cNvPr>
          <p:cNvPicPr>
            <a:picLocks noChangeAspect="1"/>
          </p:cNvPicPr>
          <p:nvPr/>
        </p:nvPicPr>
        <p:blipFill>
          <a:blip r:embed="rId1"/>
          <a:stretch>
            <a:fillRect/>
          </a:stretch>
        </p:blipFill>
        <p:spPr>
          <a:xfrm>
            <a:off x="640080" y="274320"/>
            <a:ext cx="2971800" cy="457200"/>
          </a:xfrm>
          <a:prstGeom prst="rect">
            <a:avLst/>
          </a:prstGeom>
        </p:spPr>
      </p:pic>
      <p:sp>
        <p:nvSpPr>
          <p:cNvPr id="3" name="Text 0"/>
          <p:cNvSpPr txBox="1"/>
          <p:nvPr/>
        </p:nvSpPr>
        <p:spPr>
          <a:xfrm>
            <a:off x="640080" y="274320"/>
            <a:ext cx="2971800" cy="457200"/>
          </a:xfrm>
          <a:prstGeom prst="rect">
            <a:avLst/>
          </a:prstGeom>
          <a:noFill/>
          <a:ln/>
        </p:spPr>
        <p:txBody>
          <a:bodyPr wrap="square" lIns="0" tIns="0" rIns="0" bIns="0" rtlCol="0" anchor="ctr"/>
          <a:lstStyle/>
          <a:p>
            <a:pPr algn="ctr" indent="0" marL="0">
              <a:buNone/>
            </a:pPr>
            <a:r>
              <a:rPr lang="en-US" sz="1600" b="1" dirty="0">
                <a:solidFill>
                  <a:schemeClr val="tx1"/>
                </a:solidFill>
              </a:rPr>
              <a:t>Discussion of Findings</a:t>
            </a:r>
            <a:endParaRPr lang="en-US" sz="1600" dirty="0"/>
          </a:p>
        </p:txBody>
      </p:sp>
      <p:sp>
        <p:nvSpPr>
          <p:cNvPr id="4" name="Text 1"/>
          <p:cNvSpPr txBox="1"/>
          <p:nvPr/>
        </p:nvSpPr>
        <p:spPr>
          <a:xfrm>
            <a:off x="640080" y="1005840"/>
            <a:ext cx="5760720" cy="502920"/>
          </a:xfrm>
          <a:prstGeom prst="rect">
            <a:avLst/>
          </a:prstGeom>
          <a:noFill/>
          <a:ln/>
        </p:spPr>
        <p:txBody>
          <a:bodyPr wrap="square" lIns="0" tIns="0" rIns="0" bIns="0" rtlCol="0" anchor="t"/>
          <a:lstStyle/>
          <a:p>
            <a:pPr algn="l" indent="0" marL="0">
              <a:buNone/>
            </a:pPr>
            <a:r>
              <a:rPr lang="en-US" sz="2600" dirty="0">
                <a:solidFill>
                  <a:schemeClr val="tx1"/>
                </a:solidFill>
                <a:latin typeface="+mj-lt" pitchFamily="34" charset="0"/>
                <a:ea typeface="+mj-lt" pitchFamily="34" charset="-122"/>
                <a:cs typeface="+mj-lt" pitchFamily="34" charset="-120"/>
              </a:rPr>
              <a:t>All five objectives met</a:t>
            </a:r>
            <a:endParaRPr lang="en-US" sz="2600" dirty="0"/>
          </a:p>
        </p:txBody>
      </p:sp>
      <p:sp>
        <p:nvSpPr>
          <p:cNvPr id="5" name="Text 2"/>
          <p:cNvSpPr txBox="1"/>
          <p:nvPr/>
        </p:nvSpPr>
        <p:spPr>
          <a:xfrm>
            <a:off x="640080" y="1508760"/>
            <a:ext cx="5760720" cy="777240"/>
          </a:xfrm>
          <a:prstGeom prst="rect">
            <a:avLst/>
          </a:prstGeom>
          <a:noFill/>
          <a:ln/>
        </p:spPr>
        <p:txBody>
          <a:bodyPr wrap="square" lIns="0" tIns="0" rIns="0" bIns="0" rtlCol="0" anchor="t"/>
          <a:lstStyle/>
          <a:p>
            <a:pPr algn="l" indent="0" marL="0">
              <a:lnSpc>
                <a:spcPct val="120000"/>
              </a:lnSpc>
              <a:buNone/>
            </a:pPr>
            <a:r>
              <a:rPr lang="en-US" sz="1500" dirty="0">
                <a:solidFill>
                  <a:schemeClr val="tx1"/>
                </a:solidFill>
              </a:rPr>
              <a:t>Role-based access, student-number checks, medical profiles, next of kin consent and access logging work end to end in the demo.</a:t>
            </a:r>
            <a:endParaRPr lang="en-US" sz="1500" dirty="0"/>
          </a:p>
        </p:txBody>
      </p:sp>
      <p:sp>
        <p:nvSpPr>
          <p:cNvPr id="6" name="Text 3"/>
          <p:cNvSpPr txBox="1"/>
          <p:nvPr/>
        </p:nvSpPr>
        <p:spPr>
          <a:xfrm>
            <a:off x="5788152" y="2331720"/>
            <a:ext cx="5760720" cy="502920"/>
          </a:xfrm>
          <a:prstGeom prst="rect">
            <a:avLst/>
          </a:prstGeom>
          <a:noFill/>
          <a:ln/>
        </p:spPr>
        <p:txBody>
          <a:bodyPr wrap="square" lIns="0" tIns="0" rIns="0" bIns="0" rtlCol="0" anchor="t"/>
          <a:lstStyle/>
          <a:p>
            <a:pPr algn="r" indent="0" marL="0">
              <a:buNone/>
            </a:pPr>
            <a:r>
              <a:rPr lang="en-US" sz="2600" dirty="0">
                <a:solidFill>
                  <a:schemeClr val="tx1"/>
                </a:solidFill>
                <a:latin typeface="+mj-lt" pitchFamily="34" charset="0"/>
                <a:ea typeface="+mj-lt" pitchFamily="34" charset="-122"/>
                <a:cs typeface="+mj-lt" pitchFamily="34" charset="-120"/>
              </a:rPr>
              <a:t>More than we promised</a:t>
            </a:r>
            <a:endParaRPr lang="en-US" sz="2600" dirty="0"/>
          </a:p>
        </p:txBody>
      </p:sp>
      <p:sp>
        <p:nvSpPr>
          <p:cNvPr id="7" name="Text 4"/>
          <p:cNvSpPr txBox="1"/>
          <p:nvPr/>
        </p:nvSpPr>
        <p:spPr>
          <a:xfrm>
            <a:off x="5788152" y="2834640"/>
            <a:ext cx="5760720" cy="777240"/>
          </a:xfrm>
          <a:prstGeom prst="rect">
            <a:avLst/>
          </a:prstGeom>
          <a:noFill/>
          <a:ln/>
        </p:spPr>
        <p:txBody>
          <a:bodyPr wrap="square" lIns="0" tIns="0" rIns="0" bIns="0" rtlCol="0" anchor="t"/>
          <a:lstStyle/>
          <a:p>
            <a:pPr algn="r" indent="0" marL="0">
              <a:lnSpc>
                <a:spcPct val="120000"/>
              </a:lnSpc>
              <a:buNone/>
            </a:pPr>
            <a:r>
              <a:rPr lang="en-US" sz="1500" dirty="0">
                <a:solidFill>
                  <a:schemeClr val="tx1"/>
                </a:solidFill>
              </a:rPr>
              <a:t>Pharmacy, laboratory, appointments, messaging, notifications and admissions grew the system from five roles to seven.</a:t>
            </a:r>
            <a:endParaRPr lang="en-US" sz="1500" dirty="0"/>
          </a:p>
        </p:txBody>
      </p:sp>
      <p:sp>
        <p:nvSpPr>
          <p:cNvPr id="8" name="Text 5"/>
          <p:cNvSpPr txBox="1"/>
          <p:nvPr/>
        </p:nvSpPr>
        <p:spPr>
          <a:xfrm>
            <a:off x="640080" y="3657600"/>
            <a:ext cx="5760720" cy="502920"/>
          </a:xfrm>
          <a:prstGeom prst="rect">
            <a:avLst/>
          </a:prstGeom>
          <a:noFill/>
          <a:ln/>
        </p:spPr>
        <p:txBody>
          <a:bodyPr wrap="square" lIns="0" tIns="0" rIns="0" bIns="0" rtlCol="0" anchor="t"/>
          <a:lstStyle/>
          <a:p>
            <a:pPr algn="l" indent="0" marL="0">
              <a:buNone/>
            </a:pPr>
            <a:r>
              <a:rPr lang="en-US" sz="2600" dirty="0">
                <a:solidFill>
                  <a:schemeClr val="tx1"/>
                </a:solidFill>
                <a:latin typeface="+mj-lt" pitchFamily="34" charset="0"/>
                <a:ea typeface="+mj-lt" pitchFamily="34" charset="-122"/>
                <a:cs typeface="+mj-lt" pitchFamily="34" charset="-120"/>
              </a:rPr>
              <a:t>The key finding</a:t>
            </a:r>
            <a:endParaRPr lang="en-US" sz="2600" dirty="0"/>
          </a:p>
        </p:txBody>
      </p:sp>
      <p:sp>
        <p:nvSpPr>
          <p:cNvPr id="9" name="Text 6"/>
          <p:cNvSpPr txBox="1"/>
          <p:nvPr/>
        </p:nvSpPr>
        <p:spPr>
          <a:xfrm>
            <a:off x="640080" y="4160520"/>
            <a:ext cx="5760720" cy="777240"/>
          </a:xfrm>
          <a:prstGeom prst="rect">
            <a:avLst/>
          </a:prstGeom>
          <a:noFill/>
          <a:ln/>
        </p:spPr>
        <p:txBody>
          <a:bodyPr wrap="square" lIns="0" tIns="0" rIns="0" bIns="0" rtlCol="0" anchor="t"/>
          <a:lstStyle/>
          <a:p>
            <a:pPr algn="l" indent="0" marL="0">
              <a:lnSpc>
                <a:spcPct val="120000"/>
              </a:lnSpc>
              <a:buNone/>
            </a:pPr>
            <a:r>
              <a:rPr lang="en-US" sz="1500" dirty="0">
                <a:solidFill>
                  <a:schemeClr val="tx1"/>
                </a:solidFill>
              </a:rPr>
              <a:t>A security review showed login cookies could be forged. Signed-token checks and 15 middleware tests now close that gap.</a:t>
            </a:r>
            <a:endParaRPr lang="en-US" sz="1500" dirty="0"/>
          </a:p>
        </p:txBody>
      </p:sp>
      <p:sp>
        <p:nvSpPr>
          <p:cNvPr id="10" name="Text 7"/>
          <p:cNvSpPr txBox="1"/>
          <p:nvPr/>
        </p:nvSpPr>
        <p:spPr>
          <a:xfrm>
            <a:off x="5788152" y="4983480"/>
            <a:ext cx="5760720" cy="502920"/>
          </a:xfrm>
          <a:prstGeom prst="rect">
            <a:avLst/>
          </a:prstGeom>
          <a:noFill/>
          <a:ln/>
        </p:spPr>
        <p:txBody>
          <a:bodyPr wrap="square" lIns="0" tIns="0" rIns="0" bIns="0" rtlCol="0" anchor="t"/>
          <a:lstStyle/>
          <a:p>
            <a:pPr algn="r" indent="0" marL="0">
              <a:buNone/>
            </a:pPr>
            <a:r>
              <a:rPr lang="en-US" sz="2600" dirty="0">
                <a:solidFill>
                  <a:schemeClr val="tx1"/>
                </a:solidFill>
                <a:latin typeface="+mj-lt" pitchFamily="34" charset="0"/>
                <a:ea typeface="+mj-lt" pitchFamily="34" charset="-122"/>
                <a:cs typeface="+mj-lt" pitchFamily="34" charset="-120"/>
              </a:rPr>
              <a:t>Against existing portals</a:t>
            </a:r>
            <a:endParaRPr lang="en-US" sz="2600" dirty="0"/>
          </a:p>
        </p:txBody>
      </p:sp>
      <p:sp>
        <p:nvSpPr>
          <p:cNvPr id="11" name="Text 8"/>
          <p:cNvSpPr txBox="1"/>
          <p:nvPr/>
        </p:nvSpPr>
        <p:spPr>
          <a:xfrm>
            <a:off x="5788152" y="5486400"/>
            <a:ext cx="5760720" cy="777240"/>
          </a:xfrm>
          <a:prstGeom prst="rect">
            <a:avLst/>
          </a:prstGeom>
          <a:noFill/>
          <a:ln/>
        </p:spPr>
        <p:txBody>
          <a:bodyPr wrap="square" lIns="0" tIns="0" rIns="0" bIns="0" rtlCol="0" anchor="t"/>
          <a:lstStyle/>
          <a:p>
            <a:pPr algn="r" indent="0" marL="0">
              <a:lnSpc>
                <a:spcPct val="120000"/>
              </a:lnSpc>
              <a:buNone/>
            </a:pPr>
            <a:r>
              <a:rPr lang="en-US" sz="1500" dirty="0">
                <a:solidFill>
                  <a:schemeClr val="tx1"/>
                </a:solidFill>
              </a:rPr>
              <a:t>Epic MyChart, OpenEMR and Bahmni inspired the patient features. MediVault fits a university clinic: student numbers and a pre-set next of kin.</a:t>
            </a:r>
            <a:endParaRPr lang="en-US" sz="1500" dirty="0"/>
          </a:p>
        </p:txBody>
      </p:sp>
      <p:pic>
        <p:nvPicPr>
          <p:cNvPr id="12" name="Icon book" descr="preencoded.png">    </p:cNvPr>
          <p:cNvPicPr>
            <a:picLocks noChangeAspect="1"/>
          </p:cNvPicPr>
          <p:nvPr/>
        </p:nvPicPr>
        <p:blipFill>
          <a:blip r:embed="rId2"/>
          <a:stretch>
            <a:fillRect/>
          </a:stretch>
        </p:blipFill>
        <p:spPr>
          <a:xfrm rot="-720000">
            <a:off x="-596646" y="2313432"/>
            <a:ext cx="1325880" cy="1325880"/>
          </a:xfrm>
          <a:prstGeom prst="rect">
            <a:avLst/>
          </a:prstGeom>
        </p:spPr>
      </p:pic>
      <p:pic>
        <p:nvPicPr>
          <p:cNvPr id="13" name="Icon steth" descr="preencoded.png">    </p:cNvPr>
          <p:cNvPicPr>
            <a:picLocks noChangeAspect="1"/>
          </p:cNvPicPr>
          <p:nvPr/>
        </p:nvPicPr>
        <p:blipFill>
          <a:blip r:embed="rId3"/>
          <a:stretch>
            <a:fillRect/>
          </a:stretch>
        </p:blipFill>
        <p:spPr>
          <a:xfrm rot="600000">
            <a:off x="11459718" y="3639312"/>
            <a:ext cx="1325880" cy="1325880"/>
          </a:xfrm>
          <a:prstGeom prst="rect">
            <a:avLst/>
          </a:prstGeom>
        </p:spPr>
      </p:pic>
      <p:sp>
        <p:nvSpPr>
          <p:cNvPr id="25" name="Slide Number Placeholder 0"/>
          <p:cNvSpPr>
            <a:spLocks noGrp="1"/>
          </p:cNvSpPr>
          <p:nvPr>
            <p:ph type="sldNum" sz="quarter" idx="4294967295"/>
          </p:nvPr>
        </p:nvSpPr>
        <p:spPr>
          <a:xfrm>
            <a:off x="11338560" y="647395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3F4573"/>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disc_problems">
    <p:spTree>
      <p:nvGrpSpPr>
        <p:cNvPr id="1" name=""/>
        <p:cNvGrpSpPr/>
        <p:nvPr/>
      </p:nvGrpSpPr>
      <p:grpSpPr>
        <a:xfrm>
          <a:off x="0" y="0"/>
          <a:ext cx="0" cy="0"/>
          <a:chOff x="0" y="0"/>
          <a:chExt cx="0" cy="0"/>
        </a:xfrm>
      </p:grpSpPr>
      <p:pic>
        <p:nvPicPr>
          <p:cNvPr id="2" name="Label Discussion · How MediVault answers each problem" descr=""/>
          <p:cNvPicPr>
            <a:picLocks noChangeAspect="1"/>
          </p:cNvPicPr>
          <p:nvPr/>
        </p:nvPicPr>
        <p:blipFill>
          <a:blip r:embed="rId1"/>
          <a:stretch>
            <a:fillRect/>
          </a:stretch>
        </p:blipFill>
        <p:spPr>
          <a:xfrm>
            <a:off x="640080" y="274320"/>
            <a:ext cx="5964000" cy="457200"/>
          </a:xfrm>
          <a:prstGeom prst="rect">
            <a:avLst/>
          </a:prstGeom>
        </p:spPr>
      </p:pic>
      <p:sp>
        <p:nvSpPr>
          <p:cNvPr id="3" name="Title"/>
          <p:cNvSpPr txBox="1"/>
          <p:nvPr/>
        </p:nvSpPr>
        <p:spPr>
          <a:xfrm>
            <a:off x="640080" y="274320"/>
            <a:ext cx="5964000" cy="457200"/>
          </a:xfrm>
          <a:prstGeom prst="rect">
            <a:avLst/>
          </a:prstGeom>
          <a:noFill/>
          <a:ln/>
        </p:spPr>
        <p:txBody>
          <a:bodyPr wrap="square" lIns="0" tIns="0" rIns="0" bIns="0" rtlCol="0" anchor="ctr"/>
          <a:lstStyle/>
          <a:p>
            <a:pPr algn="ctr" indent="0" marL="0">
              <a:buNone/>
            </a:pPr>
            <a:r>
              <a:rPr lang="en-US" sz="1600" b="1" dirty="0">
                <a:solidFill>
                  <a:schemeClr val="tx1"/>
                </a:solidFill>
              </a:rPr>
              <a:t>Discussion · How MediVault answers each problem</a:t>
            </a:r>
          </a:p>
        </p:txBody>
      </p:sp>
      <p:graphicFrame>
        <p:nvGraphicFramePr>
          <p:cNvPr id="4" name="Table"/>
          <p:cNvGraphicFramePr>
            <a:graphicFrameLocks noGrp="1"/>
          </p:cNvGraphicFramePr>
          <p:nvPr/>
        </p:nvGraphicFramePr>
        <p:xfrm>
          <a:off x="731520" y="1143000"/>
          <a:ext cx="10927080" cy="3360000"/>
        </p:xfrm>
        <a:graphic>
          <a:graphicData uri="http://schemas.openxmlformats.org/drawingml/2006/table">
            <a:tbl>
              <a:tblPr/>
              <a:tblGrid>
                <a:gridCol w="5400000"/>
                <a:gridCol w="5527080"/>
              </a:tblGrid>
              <a:tr h="420000">
                <a:tc>
                  <a:txBody>
                    <a:bodyPr/>
                    <a:lstStyle/>
                    <a:p>
                      <a:pPr indent="0" marL="0">
                        <a:buNone/>
                      </a:pPr>
                      <a:r>
                        <a:rPr lang="en-US" sz="1400" b="1" dirty="0">
                          <a:solidFill>
                            <a:srgbClr val="3F4573"/>
                          </a:solidFill>
                        </a:rPr>
                        <a:t>Problem today</a:t>
                      </a:r>
                    </a:p>
                  </a:txBody>
                  <a:tcPr marL="109728" marR="109728" marT="64008" marB="64008" anchor="ctr">
                    <a:lnL w="12700" cap="flat" cmpd="sng" algn="ctr">
                      <a:solidFill>
                        <a:srgbClr val="CCCCCC"/>
                      </a:solidFill>
                      <a:prstDash val="solid"/>
                    </a:lnL>
                    <a:lnR w="12700" cap="flat" cmpd="sng" algn="ctr">
                      <a:solidFill>
                        <a:srgbClr val="CCCCCC"/>
                      </a:solidFill>
                      <a:prstDash val="solid"/>
                    </a:lnR>
                    <a:lnT w="12700" cap="flat" cmpd="sng" algn="ctr">
                      <a:solidFill>
                        <a:srgbClr val="CCCCCC"/>
                      </a:solidFill>
                      <a:prstDash val="solid"/>
                    </a:lnT>
                    <a:lnB w="12700" cap="flat" cmpd="sng" algn="ctr">
                      <a:solidFill>
                        <a:srgbClr val="CCCCCC"/>
                      </a:solidFill>
                      <a:prstDash val="solid"/>
                    </a:lnB>
                    <a:solidFill>
                      <a:srgbClr val="B7E0F2"/>
                    </a:solidFill>
                  </a:tcPr>
                </a:tc>
                <a:tc>
                  <a:txBody>
                    <a:bodyPr/>
                    <a:lstStyle/>
                    <a:p>
                      <a:pPr indent="0" marL="0">
                        <a:buNone/>
                      </a:pPr>
                      <a:r>
                        <a:rPr lang="en-US" sz="1400" b="1" dirty="0">
                          <a:solidFill>
                            <a:srgbClr val="3F4573"/>
                          </a:solidFill>
                        </a:rPr>
                        <a:t>MediVault</a:t>
                      </a:r>
                    </a:p>
                  </a:txBody>
                  <a:tcPr marL="109728" marR="109728" marT="64008" marB="64008" anchor="ctr">
                    <a:lnL w="12700" cap="flat" cmpd="sng" algn="ctr">
                      <a:solidFill>
                        <a:srgbClr val="CCCCCC"/>
                      </a:solidFill>
                      <a:prstDash val="solid"/>
                    </a:lnL>
                    <a:lnR w="12700" cap="flat" cmpd="sng" algn="ctr">
                      <a:solidFill>
                        <a:srgbClr val="CCCCCC"/>
                      </a:solidFill>
                      <a:prstDash val="solid"/>
                    </a:lnR>
                    <a:lnT w="12700" cap="flat" cmpd="sng" algn="ctr">
                      <a:solidFill>
                        <a:srgbClr val="CCCCCC"/>
                      </a:solidFill>
                      <a:prstDash val="solid"/>
                    </a:lnT>
                    <a:lnB w="12700" cap="flat" cmpd="sng" algn="ctr">
                      <a:solidFill>
                        <a:srgbClr val="CCCCCC"/>
                      </a:solidFill>
                      <a:prstDash val="solid"/>
                    </a:lnB>
                    <a:solidFill>
                      <a:srgbClr val="B7E0F2"/>
                    </a:solidFill>
                  </a:tcPr>
                </a:tc>
              </a:tr>
              <a:tr h="420000">
                <a:tc>
                  <a:txBody>
                    <a:bodyPr/>
                    <a:lstStyle/>
                    <a:p>
                      <a:pPr indent="0" marL="0">
                        <a:buNone/>
                      </a:pPr>
                      <a:r>
                        <a:rPr lang="en-US" sz="1400" dirty="0">
                          <a:solidFill>
                            <a:srgbClr val="3F4573"/>
                          </a:solidFill>
                        </a:rPr>
                        <a:t>Paper ID check at the door</a:t>
                      </a:r>
                    </a:p>
                  </a:txBody>
                  <a:tcPr marL="109728" marR="109728" marT="64008" marB="64008" anchor="ctr">
                    <a:lnL w="12700" cap="flat" cmpd="sng" algn="ctr">
                      <a:solidFill>
                        <a:srgbClr val="CCCCCC"/>
                      </a:solidFill>
                      <a:prstDash val="solid"/>
                    </a:lnL>
                    <a:lnR w="12700" cap="flat" cmpd="sng" algn="ctr">
                      <a:solidFill>
                        <a:srgbClr val="CCCCCC"/>
                      </a:solidFill>
                      <a:prstDash val="solid"/>
                    </a:lnR>
                    <a:lnT w="12700" cap="flat" cmpd="sng" algn="ctr">
                      <a:solidFill>
                        <a:srgbClr val="CCCCCC"/>
                      </a:solidFill>
                      <a:prstDash val="solid"/>
                    </a:lnT>
                    <a:lnB w="12700" cap="flat" cmpd="sng" algn="ctr">
                      <a:solidFill>
                        <a:srgbClr val="CCCCCC"/>
                      </a:solidFill>
                      <a:prstDash val="solid"/>
                    </a:lnB>
                    <a:solidFill>
                      <a:srgbClr val="FFFFFF"/>
                    </a:solidFill>
                  </a:tcPr>
                </a:tc>
                <a:tc>
                  <a:txBody>
                    <a:bodyPr/>
                    <a:lstStyle/>
                    <a:p>
                      <a:pPr indent="0" marL="0">
                        <a:buNone/>
                      </a:pPr>
                      <a:r>
                        <a:rPr lang="en-US" sz="1400" dirty="0">
                          <a:solidFill>
                            <a:srgbClr val="3F4573"/>
                          </a:solidFill>
                        </a:rPr>
                        <a:t>Student-number verification in seconds</a:t>
                      </a:r>
                    </a:p>
                  </a:txBody>
                  <a:tcPr marL="109728" marR="109728" marT="64008" marB="64008" anchor="ctr">
                    <a:lnL w="12700" cap="flat" cmpd="sng" algn="ctr">
                      <a:solidFill>
                        <a:srgbClr val="CCCCCC"/>
                      </a:solidFill>
                      <a:prstDash val="solid"/>
                    </a:lnL>
                    <a:lnR w="12700" cap="flat" cmpd="sng" algn="ctr">
                      <a:solidFill>
                        <a:srgbClr val="CCCCCC"/>
                      </a:solidFill>
                      <a:prstDash val="solid"/>
                    </a:lnR>
                    <a:lnT w="12700" cap="flat" cmpd="sng" algn="ctr">
                      <a:solidFill>
                        <a:srgbClr val="CCCCCC"/>
                      </a:solidFill>
                      <a:prstDash val="solid"/>
                    </a:lnT>
                    <a:lnB w="12700" cap="flat" cmpd="sng" algn="ctr">
                      <a:solidFill>
                        <a:srgbClr val="CCCCCC"/>
                      </a:solidFill>
                      <a:prstDash val="solid"/>
                    </a:lnB>
                    <a:solidFill>
                      <a:srgbClr val="FFFFFF"/>
                    </a:solidFill>
                  </a:tcPr>
                </a:tc>
              </a:tr>
              <a:tr h="420000">
                <a:tc>
                  <a:txBody>
                    <a:bodyPr/>
                    <a:lstStyle/>
                    <a:p>
                      <a:pPr indent="0" marL="0">
                        <a:buNone/>
                      </a:pPr>
                      <a:r>
                        <a:rPr lang="en-US" sz="1400" dirty="0">
                          <a:solidFill>
                            <a:srgbClr val="3F4573"/>
                          </a:solidFill>
                        </a:rPr>
                        <a:t>Paper records, no history across visits</a:t>
                      </a:r>
                    </a:p>
                  </a:txBody>
                  <a:tcPr marL="109728" marR="109728" marT="64008" marB="64008" anchor="ctr">
                    <a:lnL w="12700" cap="flat" cmpd="sng" algn="ctr">
                      <a:solidFill>
                        <a:srgbClr val="CCCCCC"/>
                      </a:solidFill>
                      <a:prstDash val="solid"/>
                    </a:lnL>
                    <a:lnR w="12700" cap="flat" cmpd="sng" algn="ctr">
                      <a:solidFill>
                        <a:srgbClr val="CCCCCC"/>
                      </a:solidFill>
                      <a:prstDash val="solid"/>
                    </a:lnR>
                    <a:lnT w="12700" cap="flat" cmpd="sng" algn="ctr">
                      <a:solidFill>
                        <a:srgbClr val="CCCCCC"/>
                      </a:solidFill>
                      <a:prstDash val="solid"/>
                    </a:lnT>
                    <a:lnB w="12700" cap="flat" cmpd="sng" algn="ctr">
                      <a:solidFill>
                        <a:srgbClr val="CCCCCC"/>
                      </a:solidFill>
                      <a:prstDash val="solid"/>
                    </a:lnB>
                    <a:solidFill>
                      <a:srgbClr val="FFFFFF"/>
                    </a:solidFill>
                  </a:tcPr>
                </a:tc>
                <a:tc>
                  <a:txBody>
                    <a:bodyPr/>
                    <a:lstStyle/>
                    <a:p>
                      <a:pPr indent="0" marL="0">
                        <a:buNone/>
                      </a:pPr>
                      <a:r>
                        <a:rPr lang="en-US" sz="1400" dirty="0">
                          <a:solidFill>
                            <a:srgbClr val="3F4573"/>
                          </a:solidFill>
                        </a:rPr>
                        <a:t>Electronic profile and care timeline</a:t>
                      </a:r>
                    </a:p>
                  </a:txBody>
                  <a:tcPr marL="109728" marR="109728" marT="64008" marB="64008" anchor="ctr">
                    <a:lnL w="12700" cap="flat" cmpd="sng" algn="ctr">
                      <a:solidFill>
                        <a:srgbClr val="CCCCCC"/>
                      </a:solidFill>
                      <a:prstDash val="solid"/>
                    </a:lnL>
                    <a:lnR w="12700" cap="flat" cmpd="sng" algn="ctr">
                      <a:solidFill>
                        <a:srgbClr val="CCCCCC"/>
                      </a:solidFill>
                      <a:prstDash val="solid"/>
                    </a:lnR>
                    <a:lnT w="12700" cap="flat" cmpd="sng" algn="ctr">
                      <a:solidFill>
                        <a:srgbClr val="CCCCCC"/>
                      </a:solidFill>
                      <a:prstDash val="solid"/>
                    </a:lnT>
                    <a:lnB w="12700" cap="flat" cmpd="sng" algn="ctr">
                      <a:solidFill>
                        <a:srgbClr val="CCCCCC"/>
                      </a:solidFill>
                      <a:prstDash val="solid"/>
                    </a:lnB>
                    <a:solidFill>
                      <a:srgbClr val="FFFFFF"/>
                    </a:solidFill>
                  </a:tcPr>
                </a:tc>
              </a:tr>
              <a:tr h="420000">
                <a:tc>
                  <a:txBody>
                    <a:bodyPr/>
                    <a:lstStyle/>
                    <a:p>
                      <a:pPr indent="0" marL="0">
                        <a:buNone/>
                      </a:pPr>
                      <a:r>
                        <a:rPr lang="en-US" sz="1400" dirty="0">
                          <a:solidFill>
                            <a:srgbClr val="3F4573"/>
                          </a:solidFill>
                        </a:rPr>
                        <a:t>Patient carries the prescription</a:t>
                      </a:r>
                    </a:p>
                  </a:txBody>
                  <a:tcPr marL="109728" marR="109728" marT="64008" marB="64008" anchor="ctr">
                    <a:lnL w="12700" cap="flat" cmpd="sng" algn="ctr">
                      <a:solidFill>
                        <a:srgbClr val="CCCCCC"/>
                      </a:solidFill>
                      <a:prstDash val="solid"/>
                    </a:lnL>
                    <a:lnR w="12700" cap="flat" cmpd="sng" algn="ctr">
                      <a:solidFill>
                        <a:srgbClr val="CCCCCC"/>
                      </a:solidFill>
                      <a:prstDash val="solid"/>
                    </a:lnR>
                    <a:lnT w="12700" cap="flat" cmpd="sng" algn="ctr">
                      <a:solidFill>
                        <a:srgbClr val="CCCCCC"/>
                      </a:solidFill>
                      <a:prstDash val="solid"/>
                    </a:lnT>
                    <a:lnB w="12700" cap="flat" cmpd="sng" algn="ctr">
                      <a:solidFill>
                        <a:srgbClr val="CCCCCC"/>
                      </a:solidFill>
                      <a:prstDash val="solid"/>
                    </a:lnB>
                    <a:solidFill>
                      <a:srgbClr val="FFFFFF"/>
                    </a:solidFill>
                  </a:tcPr>
                </a:tc>
                <a:tc>
                  <a:txBody>
                    <a:bodyPr/>
                    <a:lstStyle/>
                    <a:p>
                      <a:pPr indent="0" marL="0">
                        <a:buNone/>
                      </a:pPr>
                      <a:r>
                        <a:rPr lang="en-US" sz="1400" dirty="0">
                          <a:solidFill>
                            <a:srgbClr val="3F4573"/>
                          </a:solidFill>
                        </a:rPr>
                        <a:t>Doctor sends it straight to the pharmacy</a:t>
                      </a:r>
                    </a:p>
                  </a:txBody>
                  <a:tcPr marL="109728" marR="109728" marT="64008" marB="64008" anchor="ctr">
                    <a:lnL w="12700" cap="flat" cmpd="sng" algn="ctr">
                      <a:solidFill>
                        <a:srgbClr val="CCCCCC"/>
                      </a:solidFill>
                      <a:prstDash val="solid"/>
                    </a:lnL>
                    <a:lnR w="12700" cap="flat" cmpd="sng" algn="ctr">
                      <a:solidFill>
                        <a:srgbClr val="CCCCCC"/>
                      </a:solidFill>
                      <a:prstDash val="solid"/>
                    </a:lnR>
                    <a:lnT w="12700" cap="flat" cmpd="sng" algn="ctr">
                      <a:solidFill>
                        <a:srgbClr val="CCCCCC"/>
                      </a:solidFill>
                      <a:prstDash val="solid"/>
                    </a:lnT>
                    <a:lnB w="12700" cap="flat" cmpd="sng" algn="ctr">
                      <a:solidFill>
                        <a:srgbClr val="CCCCCC"/>
                      </a:solidFill>
                      <a:prstDash val="solid"/>
                    </a:lnB>
                    <a:solidFill>
                      <a:srgbClr val="FFFFFF"/>
                    </a:solidFill>
                  </a:tcPr>
                </a:tc>
              </a:tr>
              <a:tr h="420000">
                <a:tc>
                  <a:txBody>
                    <a:bodyPr/>
                    <a:lstStyle/>
                    <a:p>
                      <a:pPr indent="0" marL="0">
                        <a:buNone/>
                      </a:pPr>
                      <a:r>
                        <a:rPr lang="en-US" sz="1400" dirty="0">
                          <a:solidFill>
                            <a:srgbClr val="3F4573"/>
                          </a:solidFill>
                        </a:rPr>
                        <a:t>Doctor prescribes without knowing stock</a:t>
                      </a:r>
                    </a:p>
                  </a:txBody>
                  <a:tcPr marL="109728" marR="109728" marT="64008" marB="64008" anchor="ctr">
                    <a:lnL w="12700" cap="flat" cmpd="sng" algn="ctr">
                      <a:solidFill>
                        <a:srgbClr val="CCCCCC"/>
                      </a:solidFill>
                      <a:prstDash val="solid"/>
                    </a:lnL>
                    <a:lnR w="12700" cap="flat" cmpd="sng" algn="ctr">
                      <a:solidFill>
                        <a:srgbClr val="CCCCCC"/>
                      </a:solidFill>
                      <a:prstDash val="solid"/>
                    </a:lnR>
                    <a:lnT w="12700" cap="flat" cmpd="sng" algn="ctr">
                      <a:solidFill>
                        <a:srgbClr val="CCCCCC"/>
                      </a:solidFill>
                      <a:prstDash val="solid"/>
                    </a:lnT>
                    <a:lnB w="12700" cap="flat" cmpd="sng" algn="ctr">
                      <a:solidFill>
                        <a:srgbClr val="CCCCCC"/>
                      </a:solidFill>
                      <a:prstDash val="solid"/>
                    </a:lnB>
                    <a:solidFill>
                      <a:srgbClr val="FFFFFF"/>
                    </a:solidFill>
                  </a:tcPr>
                </a:tc>
                <a:tc>
                  <a:txBody>
                    <a:bodyPr/>
                    <a:lstStyle/>
                    <a:p>
                      <a:pPr indent="0" marL="0">
                        <a:buNone/>
                      </a:pPr>
                      <a:r>
                        <a:rPr lang="en-US" sz="1400" dirty="0">
                          <a:solidFill>
                            <a:srgbClr val="3F4573"/>
                          </a:solidFill>
                        </a:rPr>
                        <a:t>Stock tracked and deducted at dispensing; a live view at prescribing is next</a:t>
                      </a:r>
                    </a:p>
                  </a:txBody>
                  <a:tcPr marL="109728" marR="109728" marT="64008" marB="64008" anchor="ctr">
                    <a:lnL w="12700" cap="flat" cmpd="sng" algn="ctr">
                      <a:solidFill>
                        <a:srgbClr val="CCCCCC"/>
                      </a:solidFill>
                      <a:prstDash val="solid"/>
                    </a:lnL>
                    <a:lnR w="12700" cap="flat" cmpd="sng" algn="ctr">
                      <a:solidFill>
                        <a:srgbClr val="CCCCCC"/>
                      </a:solidFill>
                      <a:prstDash val="solid"/>
                    </a:lnR>
                    <a:lnT w="12700" cap="flat" cmpd="sng" algn="ctr">
                      <a:solidFill>
                        <a:srgbClr val="CCCCCC"/>
                      </a:solidFill>
                      <a:prstDash val="solid"/>
                    </a:lnT>
                    <a:lnB w="12700" cap="flat" cmpd="sng" algn="ctr">
                      <a:solidFill>
                        <a:srgbClr val="CCCCCC"/>
                      </a:solidFill>
                      <a:prstDash val="solid"/>
                    </a:lnB>
                    <a:solidFill>
                      <a:srgbClr val="FFFFFF"/>
                    </a:solidFill>
                  </a:tcPr>
                </a:tc>
              </a:tr>
              <a:tr h="420000">
                <a:tc>
                  <a:txBody>
                    <a:bodyPr/>
                    <a:lstStyle/>
                    <a:p>
                      <a:pPr indent="0" marL="0">
                        <a:buNone/>
                      </a:pPr>
                      <a:r>
                        <a:rPr lang="en-US" sz="1400" dirty="0">
                          <a:solidFill>
                            <a:srgbClr val="3F4573"/>
                          </a:solidFill>
                        </a:rPr>
                        <a:t>Waiting and uncertainty about results</a:t>
                      </a:r>
                    </a:p>
                  </a:txBody>
                  <a:tcPr marL="109728" marR="109728" marT="64008" marB="64008" anchor="ctr">
                    <a:lnL w="12700" cap="flat" cmpd="sng" algn="ctr">
                      <a:solidFill>
                        <a:srgbClr val="CCCCCC"/>
                      </a:solidFill>
                      <a:prstDash val="solid"/>
                    </a:lnL>
                    <a:lnR w="12700" cap="flat" cmpd="sng" algn="ctr">
                      <a:solidFill>
                        <a:srgbClr val="CCCCCC"/>
                      </a:solidFill>
                      <a:prstDash val="solid"/>
                    </a:lnR>
                    <a:lnT w="12700" cap="flat" cmpd="sng" algn="ctr">
                      <a:solidFill>
                        <a:srgbClr val="CCCCCC"/>
                      </a:solidFill>
                      <a:prstDash val="solid"/>
                    </a:lnT>
                    <a:lnB w="12700" cap="flat" cmpd="sng" algn="ctr">
                      <a:solidFill>
                        <a:srgbClr val="CCCCCC"/>
                      </a:solidFill>
                      <a:prstDash val="solid"/>
                    </a:lnB>
                    <a:solidFill>
                      <a:srgbClr val="FFFFFF"/>
                    </a:solidFill>
                  </a:tcPr>
                </a:tc>
                <a:tc>
                  <a:txBody>
                    <a:bodyPr/>
                    <a:lstStyle/>
                    <a:p>
                      <a:pPr indent="0" marL="0">
                        <a:buNone/>
                      </a:pPr>
                      <a:r>
                        <a:rPr lang="en-US" sz="1400" dirty="0">
                          <a:solidFill>
                            <a:srgbClr val="3F4573"/>
                          </a:solidFill>
                        </a:rPr>
                        <a:t>Lab orders, results and notifications flow through the system</a:t>
                      </a:r>
                    </a:p>
                  </a:txBody>
                  <a:tcPr marL="109728" marR="109728" marT="64008" marB="64008" anchor="ctr">
                    <a:lnL w="12700" cap="flat" cmpd="sng" algn="ctr">
                      <a:solidFill>
                        <a:srgbClr val="CCCCCC"/>
                      </a:solidFill>
                      <a:prstDash val="solid"/>
                    </a:lnL>
                    <a:lnR w="12700" cap="flat" cmpd="sng" algn="ctr">
                      <a:solidFill>
                        <a:srgbClr val="CCCCCC"/>
                      </a:solidFill>
                      <a:prstDash val="solid"/>
                    </a:lnR>
                    <a:lnT w="12700" cap="flat" cmpd="sng" algn="ctr">
                      <a:solidFill>
                        <a:srgbClr val="CCCCCC"/>
                      </a:solidFill>
                      <a:prstDash val="solid"/>
                    </a:lnT>
                    <a:lnB w="12700" cap="flat" cmpd="sng" algn="ctr">
                      <a:solidFill>
                        <a:srgbClr val="CCCCCC"/>
                      </a:solidFill>
                      <a:prstDash val="solid"/>
                    </a:lnB>
                    <a:solidFill>
                      <a:srgbClr val="FFFFFF"/>
                    </a:solidFill>
                  </a:tcPr>
                </a:tc>
              </a:tr>
              <a:tr h="420000">
                <a:tc>
                  <a:txBody>
                    <a:bodyPr/>
                    <a:lstStyle/>
                    <a:p>
                      <a:pPr indent="0" marL="0">
                        <a:buNone/>
                      </a:pPr>
                      <a:r>
                        <a:rPr lang="en-US" sz="1400" dirty="0">
                          <a:solidFill>
                            <a:srgbClr val="3F4573"/>
                          </a:solidFill>
                        </a:rPr>
                        <a:t>No record of who viewed a file</a:t>
                      </a:r>
                    </a:p>
                  </a:txBody>
                  <a:tcPr marL="109728" marR="109728" marT="64008" marB="64008" anchor="ctr">
                    <a:lnL w="12700" cap="flat" cmpd="sng" algn="ctr">
                      <a:solidFill>
                        <a:srgbClr val="CCCCCC"/>
                      </a:solidFill>
                      <a:prstDash val="solid"/>
                    </a:lnL>
                    <a:lnR w="12700" cap="flat" cmpd="sng" algn="ctr">
                      <a:solidFill>
                        <a:srgbClr val="CCCCCC"/>
                      </a:solidFill>
                      <a:prstDash val="solid"/>
                    </a:lnR>
                    <a:lnT w="12700" cap="flat" cmpd="sng" algn="ctr">
                      <a:solidFill>
                        <a:srgbClr val="CCCCCC"/>
                      </a:solidFill>
                      <a:prstDash val="solid"/>
                    </a:lnT>
                    <a:lnB w="12700" cap="flat" cmpd="sng" algn="ctr">
                      <a:solidFill>
                        <a:srgbClr val="CCCCCC"/>
                      </a:solidFill>
                      <a:prstDash val="solid"/>
                    </a:lnB>
                    <a:solidFill>
                      <a:srgbClr val="FFFFFF"/>
                    </a:solidFill>
                  </a:tcPr>
                </a:tc>
                <a:tc>
                  <a:txBody>
                    <a:bodyPr/>
                    <a:lstStyle/>
                    <a:p>
                      <a:pPr indent="0" marL="0">
                        <a:buNone/>
                      </a:pPr>
                      <a:r>
                        <a:rPr lang="en-US" sz="1400" dirty="0">
                          <a:solidFill>
                            <a:srgbClr val="3F4573"/>
                          </a:solidFill>
                        </a:rPr>
                        <a:t>Every access is audit-logged</a:t>
                      </a:r>
                    </a:p>
                  </a:txBody>
                  <a:tcPr marL="109728" marR="109728" marT="64008" marB="64008" anchor="ctr">
                    <a:lnL w="12700" cap="flat" cmpd="sng" algn="ctr">
                      <a:solidFill>
                        <a:srgbClr val="CCCCCC"/>
                      </a:solidFill>
                      <a:prstDash val="solid"/>
                    </a:lnL>
                    <a:lnR w="12700" cap="flat" cmpd="sng" algn="ctr">
                      <a:solidFill>
                        <a:srgbClr val="CCCCCC"/>
                      </a:solidFill>
                      <a:prstDash val="solid"/>
                    </a:lnR>
                    <a:lnT w="12700" cap="flat" cmpd="sng" algn="ctr">
                      <a:solidFill>
                        <a:srgbClr val="CCCCCC"/>
                      </a:solidFill>
                      <a:prstDash val="solid"/>
                    </a:lnT>
                    <a:lnB w="12700" cap="flat" cmpd="sng" algn="ctr">
                      <a:solidFill>
                        <a:srgbClr val="CCCCCC"/>
                      </a:solidFill>
                      <a:prstDash val="solid"/>
                    </a:lnB>
                    <a:solidFill>
                      <a:srgbClr val="FFFFFF"/>
                    </a:solidFill>
                  </a:tcPr>
                </a:tc>
              </a:tr>
              <a:tr h="420000">
                <a:tc>
                  <a:txBody>
                    <a:bodyPr/>
                    <a:lstStyle/>
                    <a:p>
                      <a:pPr indent="0" marL="0">
                        <a:buNone/>
                      </a:pPr>
                      <a:r>
                        <a:rPr lang="en-US" sz="1400" dirty="0">
                          <a:solidFill>
                            <a:srgbClr val="3F4573"/>
                          </a:solidFill>
                        </a:rPr>
                        <a:t>Emergencies with no consent route</a:t>
                      </a:r>
                    </a:p>
                  </a:txBody>
                  <a:tcPr marL="109728" marR="109728" marT="64008" marB="64008" anchor="ctr">
                    <a:lnL w="12700" cap="flat" cmpd="sng" algn="ctr">
                      <a:solidFill>
                        <a:srgbClr val="CCCCCC"/>
                      </a:solidFill>
                      <a:prstDash val="solid"/>
                    </a:lnL>
                    <a:lnR w="12700" cap="flat" cmpd="sng" algn="ctr">
                      <a:solidFill>
                        <a:srgbClr val="CCCCCC"/>
                      </a:solidFill>
                      <a:prstDash val="solid"/>
                    </a:lnR>
                    <a:lnT w="12700" cap="flat" cmpd="sng" algn="ctr">
                      <a:solidFill>
                        <a:srgbClr val="CCCCCC"/>
                      </a:solidFill>
                      <a:prstDash val="solid"/>
                    </a:lnT>
                    <a:lnB w="12700" cap="flat" cmpd="sng" algn="ctr">
                      <a:solidFill>
                        <a:srgbClr val="CCCCCC"/>
                      </a:solidFill>
                      <a:prstDash val="solid"/>
                    </a:lnB>
                    <a:solidFill>
                      <a:srgbClr val="FFFFFF"/>
                    </a:solidFill>
                  </a:tcPr>
                </a:tc>
                <a:tc>
                  <a:txBody>
                    <a:bodyPr/>
                    <a:lstStyle/>
                    <a:p>
                      <a:pPr indent="0" marL="0">
                        <a:buNone/>
                      </a:pPr>
                      <a:r>
                        <a:rPr lang="en-US" sz="1400" dirty="0">
                          <a:solidFill>
                            <a:srgbClr val="3F4573"/>
                          </a:solidFill>
                        </a:rPr>
                        <a:t>Pre-assigned next of kin</a:t>
                      </a:r>
                    </a:p>
                  </a:txBody>
                  <a:tcPr marL="109728" marR="109728" marT="64008" marB="64008" anchor="ctr">
                    <a:lnL w="12700" cap="flat" cmpd="sng" algn="ctr">
                      <a:solidFill>
                        <a:srgbClr val="CCCCCC"/>
                      </a:solidFill>
                      <a:prstDash val="solid"/>
                    </a:lnL>
                    <a:lnR w="12700" cap="flat" cmpd="sng" algn="ctr">
                      <a:solidFill>
                        <a:srgbClr val="CCCCCC"/>
                      </a:solidFill>
                      <a:prstDash val="solid"/>
                    </a:lnR>
                    <a:lnT w="12700" cap="flat" cmpd="sng" algn="ctr">
                      <a:solidFill>
                        <a:srgbClr val="CCCCCC"/>
                      </a:solidFill>
                      <a:prstDash val="solid"/>
                    </a:lnT>
                    <a:lnB w="12700" cap="flat" cmpd="sng" algn="ctr">
                      <a:solidFill>
                        <a:srgbClr val="CCCCCC"/>
                      </a:solidFill>
                      <a:prstDash val="solid"/>
                    </a:lnB>
                    <a:solidFill>
                      <a:srgbClr val="FFFFFF"/>
                    </a:solidFill>
                  </a:tcPr>
                </a:tc>
              </a:tr>
            </a:tbl>
          </a:graphicData>
        </a:graphic>
      </p:graphicFrame>
      <p:pic>
        <p:nvPicPr>
          <p:cNvPr id="5" name="Decoration" descr="Decorative medical illustration"/>
          <p:cNvPicPr>
            <a:picLocks noChangeAspect="1"/>
          </p:cNvPicPr>
          <p:nvPr/>
        </p:nvPicPr>
        <p:blipFill>
          <a:blip r:embed="rId2"/>
          <a:stretch>
            <a:fillRect/>
          </a:stretch>
        </p:blipFill>
        <p:spPr>
          <a:xfrm>
            <a:off x="10600000" y="5000000"/>
            <a:ext cx="1500000" cy="1500000"/>
          </a:xfrm>
          <a:prstGeom prst="rect">
            <a:avLst/>
          </a:prstGeom>
        </p:spPr>
      </p:pic>
      <p:sp>
        <p:nvSpPr>
          <p:cNvPr id="6" name="Slide Number Placeholder"/>
          <p:cNvSpPr>
            <a:spLocks noGrp="1"/>
          </p:cNvSpPr>
          <p:nvPr>
            <p:ph type="sldNum" sz="quarter" idx="4294967295"/>
          </p:nvPr>
        </p:nvSpPr>
        <p:spPr>
          <a:xfrm>
            <a:off x="11338560" y="6473952"/>
            <a:ext cx="457200" cy="228600"/>
          </a:xfrm>
          <a:prstGeom prst="rect">
            <a:avLst/>
          </a:prstGeom>
        </p:spPr>
        <p:txBody>
          <a:bodyPr/>
          <a:lstStyle>
            <a:lvl1pPr>
              <a:defRPr sz="1000">
                <a:solidFill>
                  <a:srgbClr val="3F4573"/>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Label Limitations" descr="preencoded.png">    </p:cNvPr>
          <p:cNvPicPr>
            <a:picLocks noChangeAspect="1"/>
          </p:cNvPicPr>
          <p:nvPr/>
        </p:nvPicPr>
        <p:blipFill>
          <a:blip r:embed="rId1"/>
          <a:stretch>
            <a:fillRect/>
          </a:stretch>
        </p:blipFill>
        <p:spPr>
          <a:xfrm>
            <a:off x="640080" y="274320"/>
            <a:ext cx="1714500" cy="457200"/>
          </a:xfrm>
          <a:prstGeom prst="rect">
            <a:avLst/>
          </a:prstGeom>
        </p:spPr>
      </p:pic>
      <p:sp>
        <p:nvSpPr>
          <p:cNvPr id="3" name="Text 0"/>
          <p:cNvSpPr txBox="1"/>
          <p:nvPr/>
        </p:nvSpPr>
        <p:spPr>
          <a:xfrm>
            <a:off x="640080" y="274320"/>
            <a:ext cx="1714500" cy="457200"/>
          </a:xfrm>
          <a:prstGeom prst="rect">
            <a:avLst/>
          </a:prstGeom>
          <a:noFill/>
          <a:ln/>
        </p:spPr>
        <p:txBody>
          <a:bodyPr wrap="square" lIns="0" tIns="0" rIns="0" bIns="0" rtlCol="0" anchor="ctr"/>
          <a:lstStyle/>
          <a:p>
            <a:pPr algn="ctr" indent="0" marL="0">
              <a:buNone/>
            </a:pPr>
            <a:r>
              <a:rPr lang="en-US" sz="1600" b="1" dirty="0">
                <a:solidFill>
                  <a:schemeClr val="tx1"/>
                </a:solidFill>
              </a:rPr>
              <a:t>Limitations</a:t>
            </a:r>
            <a:endParaRPr lang="en-US" sz="1600" dirty="0"/>
          </a:p>
        </p:txBody>
      </p:sp>
      <p:sp>
        <p:nvSpPr>
          <p:cNvPr id="4" name="Text 1"/>
          <p:cNvSpPr txBox="1"/>
          <p:nvPr/>
        </p:nvSpPr>
        <p:spPr>
          <a:xfrm>
            <a:off x="640080" y="1005840"/>
            <a:ext cx="5760720" cy="502920"/>
          </a:xfrm>
          <a:prstGeom prst="rect">
            <a:avLst/>
          </a:prstGeom>
          <a:noFill/>
          <a:ln/>
        </p:spPr>
        <p:txBody>
          <a:bodyPr wrap="square" lIns="0" tIns="0" rIns="0" bIns="0" rtlCol="0" anchor="t"/>
          <a:lstStyle/>
          <a:p>
            <a:pPr algn="l" indent="0" marL="0">
              <a:buNone/>
            </a:pPr>
            <a:r>
              <a:rPr lang="en-US" sz="2600" dirty="0">
                <a:solidFill>
                  <a:schemeClr val="tx1"/>
                </a:solidFill>
                <a:latin typeface="+mj-lt" pitchFamily="34" charset="0"/>
                <a:ea typeface="+mj-lt" pitchFamily="34" charset="-122"/>
                <a:cs typeface="+mj-lt" pitchFamily="34" charset="-120"/>
              </a:rPr>
              <a:t>Mock student system</a:t>
            </a:r>
            <a:endParaRPr lang="en-US" sz="2600" dirty="0"/>
          </a:p>
        </p:txBody>
      </p:sp>
      <p:sp>
        <p:nvSpPr>
          <p:cNvPr id="5" name="Text 2"/>
          <p:cNvSpPr txBox="1"/>
          <p:nvPr/>
        </p:nvSpPr>
        <p:spPr>
          <a:xfrm>
            <a:off x="640080" y="1508760"/>
            <a:ext cx="5760720" cy="777240"/>
          </a:xfrm>
          <a:prstGeom prst="rect">
            <a:avLst/>
          </a:prstGeom>
          <a:noFill/>
          <a:ln/>
        </p:spPr>
        <p:txBody>
          <a:bodyPr wrap="square" lIns="0" tIns="0" rIns="0" bIns="0" rtlCol="0" anchor="t"/>
          <a:lstStyle/>
          <a:p>
            <a:pPr algn="l" indent="0" marL="0">
              <a:lnSpc>
                <a:spcPct val="120000"/>
              </a:lnSpc>
              <a:buNone/>
            </a:pPr>
            <a:r>
              <a:rPr lang="en-US" sz="1500" dirty="0">
                <a:solidFill>
                  <a:schemeClr val="tx1"/>
                </a:solidFill>
              </a:rPr>
              <a:t>Verification uses a hard-coded stand-in for the UNZA SIS. A real connection is needed before live use.</a:t>
            </a:r>
            <a:endParaRPr lang="en-US" sz="1500" dirty="0"/>
          </a:p>
        </p:txBody>
      </p:sp>
      <p:sp>
        <p:nvSpPr>
          <p:cNvPr id="6" name="Text 3"/>
          <p:cNvSpPr txBox="1"/>
          <p:nvPr/>
        </p:nvSpPr>
        <p:spPr>
          <a:xfrm>
            <a:off x="5788152" y="2331720"/>
            <a:ext cx="5760720" cy="502920"/>
          </a:xfrm>
          <a:prstGeom prst="rect">
            <a:avLst/>
          </a:prstGeom>
          <a:noFill/>
          <a:ln/>
        </p:spPr>
        <p:txBody>
          <a:bodyPr wrap="square" lIns="0" tIns="0" rIns="0" bIns="0" rtlCol="0" anchor="t"/>
          <a:lstStyle/>
          <a:p>
            <a:pPr algn="r" indent="0" marL="0">
              <a:buNone/>
            </a:pPr>
            <a:r>
              <a:rPr lang="en-US" sz="2600" dirty="0">
                <a:solidFill>
                  <a:schemeClr val="tx1"/>
                </a:solidFill>
                <a:latin typeface="+mj-lt" pitchFamily="34" charset="0"/>
                <a:ea typeface="+mj-lt" pitchFamily="34" charset="-122"/>
                <a:cs typeface="+mj-lt" pitchFamily="34" charset="-120"/>
              </a:rPr>
              <a:t>Missing security extras</a:t>
            </a:r>
            <a:endParaRPr lang="en-US" sz="2600" dirty="0"/>
          </a:p>
        </p:txBody>
      </p:sp>
      <p:sp>
        <p:nvSpPr>
          <p:cNvPr id="7" name="Text 4"/>
          <p:cNvSpPr txBox="1"/>
          <p:nvPr/>
        </p:nvSpPr>
        <p:spPr>
          <a:xfrm>
            <a:off x="5788152" y="2834640"/>
            <a:ext cx="5760720" cy="777240"/>
          </a:xfrm>
          <a:prstGeom prst="rect">
            <a:avLst/>
          </a:prstGeom>
          <a:noFill/>
          <a:ln/>
        </p:spPr>
        <p:txBody>
          <a:bodyPr wrap="square" lIns="0" tIns="0" rIns="0" bIns="0" rtlCol="0" anchor="t"/>
          <a:lstStyle/>
          <a:p>
            <a:pPr algn="r" indent="0" marL="0">
              <a:lnSpc>
                <a:spcPct val="120000"/>
              </a:lnSpc>
              <a:buNone/>
            </a:pPr>
            <a:r>
              <a:rPr lang="en-US" sz="1500" dirty="0">
                <a:solidFill>
                  <a:schemeClr val="tx1"/>
                </a:solidFill>
              </a:rPr>
              <a:t>There is no two-factor login or field encryption, and a deactivated user’s session lasts up to 8 hours.</a:t>
            </a:r>
            <a:endParaRPr lang="en-US" sz="1500" dirty="0"/>
          </a:p>
        </p:txBody>
      </p:sp>
      <p:sp>
        <p:nvSpPr>
          <p:cNvPr id="8" name="Text 5"/>
          <p:cNvSpPr txBox="1"/>
          <p:nvPr/>
        </p:nvSpPr>
        <p:spPr>
          <a:xfrm>
            <a:off x="640080" y="3657600"/>
            <a:ext cx="5760720" cy="502920"/>
          </a:xfrm>
          <a:prstGeom prst="rect">
            <a:avLst/>
          </a:prstGeom>
          <a:noFill/>
          <a:ln/>
        </p:spPr>
        <p:txBody>
          <a:bodyPr wrap="square" lIns="0" tIns="0" rIns="0" bIns="0" rtlCol="0" anchor="t"/>
          <a:lstStyle/>
          <a:p>
            <a:pPr algn="l" indent="0" marL="0">
              <a:buNone/>
            </a:pPr>
            <a:r>
              <a:rPr lang="en-US" sz="2600" dirty="0">
                <a:solidFill>
                  <a:schemeClr val="tx1"/>
                </a:solidFill>
                <a:latin typeface="+mj-lt" pitchFamily="34" charset="0"/>
                <a:ea typeface="+mj-lt" pitchFamily="34" charset="-122"/>
                <a:cs typeface="+mj-lt" pitchFamily="34" charset="-120"/>
              </a:rPr>
              <a:t>Polling, not push</a:t>
            </a:r>
            <a:endParaRPr lang="en-US" sz="2600" dirty="0"/>
          </a:p>
        </p:txBody>
      </p:sp>
      <p:sp>
        <p:nvSpPr>
          <p:cNvPr id="9" name="Text 6"/>
          <p:cNvSpPr txBox="1"/>
          <p:nvPr/>
        </p:nvSpPr>
        <p:spPr>
          <a:xfrm>
            <a:off x="640080" y="4160520"/>
            <a:ext cx="5760720" cy="777240"/>
          </a:xfrm>
          <a:prstGeom prst="rect">
            <a:avLst/>
          </a:prstGeom>
          <a:noFill/>
          <a:ln/>
        </p:spPr>
        <p:txBody>
          <a:bodyPr wrap="square" lIns="0" tIns="0" rIns="0" bIns="0" rtlCol="0" anchor="t"/>
          <a:lstStyle/>
          <a:p>
            <a:pPr algn="l" indent="0" marL="0">
              <a:lnSpc>
                <a:spcPct val="120000"/>
              </a:lnSpc>
              <a:buNone/>
            </a:pPr>
            <a:r>
              <a:rPr lang="en-US" sz="1500" dirty="0">
                <a:solidFill>
                  <a:schemeClr val="tx1"/>
                </a:solidFill>
              </a:rPr>
              <a:t>The notification bell checks every 30 seconds. There is no WebSocket, SMS or email delivery yet.</a:t>
            </a:r>
            <a:endParaRPr lang="en-US" sz="1500" dirty="0"/>
          </a:p>
        </p:txBody>
      </p:sp>
      <p:sp>
        <p:nvSpPr>
          <p:cNvPr id="10" name="Text 7"/>
          <p:cNvSpPr txBox="1"/>
          <p:nvPr/>
        </p:nvSpPr>
        <p:spPr>
          <a:xfrm>
            <a:off x="5788152" y="4983480"/>
            <a:ext cx="5760720" cy="502920"/>
          </a:xfrm>
          <a:prstGeom prst="rect">
            <a:avLst/>
          </a:prstGeom>
          <a:noFill/>
          <a:ln/>
        </p:spPr>
        <p:txBody>
          <a:bodyPr wrap="square" lIns="0" tIns="0" rIns="0" bIns="0" rtlCol="0" anchor="t"/>
          <a:lstStyle/>
          <a:p>
            <a:pPr algn="r" indent="0" marL="0">
              <a:buNone/>
            </a:pPr>
            <a:r>
              <a:rPr lang="en-US" sz="2600" dirty="0">
                <a:solidFill>
                  <a:schemeClr val="tx1"/>
                </a:solidFill>
                <a:latin typeface="+mj-lt" pitchFamily="34" charset="0"/>
                <a:ea typeface="+mj-lt" pitchFamily="34" charset="-122"/>
                <a:cs typeface="+mj-lt" pitchFamily="34" charset="-120"/>
              </a:rPr>
              <a:t>Looser data rules</a:t>
            </a:r>
            <a:endParaRPr lang="en-US" sz="2600" dirty="0"/>
          </a:p>
        </p:txBody>
      </p:sp>
      <p:sp>
        <p:nvSpPr>
          <p:cNvPr id="11" name="Text 8"/>
          <p:cNvSpPr txBox="1"/>
          <p:nvPr/>
        </p:nvSpPr>
        <p:spPr>
          <a:xfrm>
            <a:off x="5788152" y="5486400"/>
            <a:ext cx="5760720" cy="777240"/>
          </a:xfrm>
          <a:prstGeom prst="rect">
            <a:avLst/>
          </a:prstGeom>
          <a:noFill/>
          <a:ln/>
        </p:spPr>
        <p:txBody>
          <a:bodyPr wrap="square" lIns="0" tIns="0" rIns="0" bIns="0" rtlCol="0" anchor="t"/>
          <a:lstStyle/>
          <a:p>
            <a:pPr algn="r" indent="0" marL="0">
              <a:lnSpc>
                <a:spcPct val="120000"/>
              </a:lnSpc>
              <a:buNone/>
            </a:pPr>
            <a:r>
              <a:rPr lang="en-US" sz="1500" dirty="0">
                <a:solidFill>
                  <a:schemeClr val="tx1"/>
                </a:solidFill>
              </a:rPr>
              <a:t>Duplicate next-of-kin links are not blocked and completed lab results cannot be corrected. Admissions have no wards, beds or nurse role yet.</a:t>
            </a:r>
            <a:endParaRPr lang="en-US" sz="1500" dirty="0"/>
          </a:p>
        </p:txBody>
      </p:sp>
      <p:pic>
        <p:nvPicPr>
          <p:cNvPr id="12" name="Icon iv" descr="preencoded.png">    </p:cNvPr>
          <p:cNvPicPr>
            <a:picLocks noChangeAspect="1"/>
          </p:cNvPicPr>
          <p:nvPr/>
        </p:nvPicPr>
        <p:blipFill>
          <a:blip r:embed="rId2"/>
          <a:stretch>
            <a:fillRect/>
          </a:stretch>
        </p:blipFill>
        <p:spPr>
          <a:xfrm rot="-600000">
            <a:off x="-596646" y="2313432"/>
            <a:ext cx="1325880" cy="1325880"/>
          </a:xfrm>
          <a:prstGeom prst="rect">
            <a:avLst/>
          </a:prstGeom>
        </p:spPr>
      </p:pic>
      <p:pic>
        <p:nvPicPr>
          <p:cNvPr id="13" name="Icon bottle" descr="preencoded.png">    </p:cNvPr>
          <p:cNvPicPr>
            <a:picLocks noChangeAspect="1"/>
          </p:cNvPicPr>
          <p:nvPr/>
        </p:nvPicPr>
        <p:blipFill>
          <a:blip r:embed="rId3"/>
          <a:stretch>
            <a:fillRect/>
          </a:stretch>
        </p:blipFill>
        <p:spPr>
          <a:xfrm rot="720000">
            <a:off x="11459718" y="3639312"/>
            <a:ext cx="1325880" cy="1325880"/>
          </a:xfrm>
          <a:prstGeom prst="rect">
            <a:avLst/>
          </a:prstGeom>
        </p:spPr>
      </p:pic>
      <p:sp>
        <p:nvSpPr>
          <p:cNvPr id="25" name="Slide Number Placeholder 0"/>
          <p:cNvSpPr>
            <a:spLocks noGrp="1"/>
          </p:cNvSpPr>
          <p:nvPr>
            <p:ph type="sldNum" sz="quarter" idx="4294967295"/>
          </p:nvPr>
        </p:nvSpPr>
        <p:spPr>
          <a:xfrm>
            <a:off x="11338560" y="647395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3F4573"/>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lim_answers">
    <p:spTree>
      <p:nvGrpSpPr>
        <p:cNvPr id="1" name=""/>
        <p:cNvGrpSpPr/>
        <p:nvPr/>
      </p:nvGrpSpPr>
      <p:grpSpPr>
        <a:xfrm>
          <a:off x="0" y="0"/>
          <a:ext cx="0" cy="0"/>
          <a:chOff x="0" y="0"/>
          <a:chExt cx="0" cy="0"/>
        </a:xfrm>
      </p:grpSpPr>
      <p:pic>
        <p:nvPicPr>
          <p:cNvPr id="2" name="Label Limitations · What we would fix first" descr=""/>
          <p:cNvPicPr>
            <a:picLocks noChangeAspect="1"/>
          </p:cNvPicPr>
          <p:nvPr/>
        </p:nvPicPr>
        <p:blipFill>
          <a:blip r:embed="rId1"/>
          <a:stretch>
            <a:fillRect/>
          </a:stretch>
        </p:blipFill>
        <p:spPr>
          <a:xfrm>
            <a:off x="640080" y="274320"/>
            <a:ext cx="4844000" cy="457200"/>
          </a:xfrm>
          <a:prstGeom prst="rect">
            <a:avLst/>
          </a:prstGeom>
        </p:spPr>
      </p:pic>
      <p:sp>
        <p:nvSpPr>
          <p:cNvPr id="3" name="Title"/>
          <p:cNvSpPr txBox="1"/>
          <p:nvPr/>
        </p:nvSpPr>
        <p:spPr>
          <a:xfrm>
            <a:off x="640080" y="274320"/>
            <a:ext cx="4844000" cy="457200"/>
          </a:xfrm>
          <a:prstGeom prst="rect">
            <a:avLst/>
          </a:prstGeom>
          <a:noFill/>
          <a:ln/>
        </p:spPr>
        <p:txBody>
          <a:bodyPr wrap="square" lIns="0" tIns="0" rIns="0" bIns="0" rtlCol="0" anchor="ctr"/>
          <a:lstStyle/>
          <a:p>
            <a:pPr algn="ctr" indent="0" marL="0">
              <a:buNone/>
            </a:pPr>
            <a:r>
              <a:rPr lang="en-US" sz="1600" b="1" dirty="0">
                <a:solidFill>
                  <a:schemeClr val="tx1"/>
                </a:solidFill>
              </a:rPr>
              <a:t>Limitations · What we would fix first</a:t>
            </a:r>
          </a:p>
        </p:txBody>
      </p:sp>
      <p:sp>
        <p:nvSpPr>
          <p:cNvPr id="4" name="Card Rate limiter"/>
          <p:cNvSpPr/>
          <p:nvPr/>
        </p:nvSpPr>
        <p:spPr>
          <a:xfrm>
            <a:off x="731520" y="1463040"/>
            <a:ext cx="3383280" cy="2926080"/>
          </a:xfrm>
          <a:prstGeom prst="roundRect">
            <a:avLst>
              <a:gd name="adj" fmla="val 6122"/>
            </a:avLst>
          </a:prstGeom>
          <a:solidFill>
            <a:schemeClr val="bg1"/>
          </a:solidFill>
          <a:ln w="31750">
            <a:solidFill>
              <a:schemeClr val="tx1"/>
            </a:solidFill>
            <a:prstDash val="solid"/>
          </a:ln>
        </p:spPr>
      </p:sp>
      <p:sp>
        <p:nvSpPr>
          <p:cNvPr id="5" name="Badge 1"/>
          <p:cNvSpPr/>
          <p:nvPr/>
        </p:nvSpPr>
        <p:spPr>
          <a:xfrm>
            <a:off x="960120" y="1691640"/>
            <a:ext cx="594360" cy="594360"/>
          </a:xfrm>
          <a:prstGeom prst="ellipse">
            <a:avLst/>
          </a:prstGeom>
          <a:solidFill>
            <a:schemeClr val="accent1"/>
          </a:solidFill>
          <a:ln w="25400">
            <a:solidFill>
              <a:schemeClr val="tx1"/>
            </a:solidFill>
            <a:prstDash val="solid"/>
          </a:ln>
        </p:spPr>
      </p:sp>
      <p:pic>
        <p:nvPicPr>
          <p:cNvPr id="6" name="Card icon 1" descr="Rate limiter"/>
          <p:cNvPicPr>
            <a:picLocks noChangeAspect="1"/>
          </p:cNvPicPr>
          <p:nvPr/>
        </p:nvPicPr>
        <p:blipFill>
          <a:blip r:embed="rId2"/>
          <a:stretch>
            <a:fillRect/>
          </a:stretch>
        </p:blipFill>
        <p:spPr>
          <a:xfrm>
            <a:off x="1101852" y="1833372"/>
            <a:ext cx="310896" cy="310896"/>
          </a:xfrm>
          <a:prstGeom prst="rect">
            <a:avLst/>
          </a:prstGeom>
        </p:spPr>
      </p:pic>
      <p:sp>
        <p:nvSpPr>
          <p:cNvPr id="7" name="Card title 1"/>
          <p:cNvSpPr txBox="1"/>
          <p:nvPr/>
        </p:nvSpPr>
        <p:spPr>
          <a:xfrm>
            <a:off x="1737360" y="1691640"/>
            <a:ext cx="2148840" cy="594360"/>
          </a:xfrm>
          <a:prstGeom prst="rect">
            <a:avLst/>
          </a:prstGeom>
          <a:noFill/>
          <a:ln/>
        </p:spPr>
        <p:txBody>
          <a:bodyPr wrap="square" lIns="0" tIns="0" rIns="0" bIns="0" rtlCol="0" anchor="ctr"/>
          <a:lstStyle/>
          <a:p>
            <a:pPr algn="l" indent="0" marL="0">
              <a:buNone/>
            </a:pPr>
            <a:r>
              <a:rPr lang="en-US" sz="1700" dirty="0">
                <a:solidFill>
                  <a:schemeClr val="tx1"/>
                </a:solidFill>
                <a:latin typeface="+mj-lt" pitchFamily="34" charset="0"/>
                <a:ea typeface="+mj-lt" pitchFamily="34" charset="-122"/>
                <a:cs typeface="+mj-lt" pitchFamily="34" charset="-120"/>
              </a:rPr>
              <a:t>Rate limiter</a:t>
            </a:r>
          </a:p>
        </p:txBody>
      </p:sp>
      <p:sp>
        <p:nvSpPr>
          <p:cNvPr id="8" name="Card text 1"/>
          <p:cNvSpPr txBox="1"/>
          <p:nvPr/>
        </p:nvSpPr>
        <p:spPr>
          <a:xfrm>
            <a:off x="960120" y="2468880"/>
            <a:ext cx="2926080" cy="1783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It is in memory, so it resets on restart and does not work across servers. The fix is Redis.</a:t>
            </a:r>
          </a:p>
        </p:txBody>
      </p:sp>
      <p:sp>
        <p:nvSpPr>
          <p:cNvPr id="9" name="Card Deactivated users"/>
          <p:cNvSpPr/>
          <p:nvPr/>
        </p:nvSpPr>
        <p:spPr>
          <a:xfrm>
            <a:off x="4389120" y="1463040"/>
            <a:ext cx="3383280" cy="2926080"/>
          </a:xfrm>
          <a:prstGeom prst="roundRect">
            <a:avLst>
              <a:gd name="adj" fmla="val 6122"/>
            </a:avLst>
          </a:prstGeom>
          <a:solidFill>
            <a:schemeClr val="bg1"/>
          </a:solidFill>
          <a:ln w="31750">
            <a:solidFill>
              <a:schemeClr val="tx1"/>
            </a:solidFill>
            <a:prstDash val="solid"/>
          </a:ln>
        </p:spPr>
      </p:sp>
      <p:sp>
        <p:nvSpPr>
          <p:cNvPr id="10" name="Badge 2"/>
          <p:cNvSpPr/>
          <p:nvPr/>
        </p:nvSpPr>
        <p:spPr>
          <a:xfrm>
            <a:off x="4617720" y="1691640"/>
            <a:ext cx="594360" cy="594360"/>
          </a:xfrm>
          <a:prstGeom prst="ellipse">
            <a:avLst/>
          </a:prstGeom>
          <a:solidFill>
            <a:schemeClr val="accent1"/>
          </a:solidFill>
          <a:ln w="25400">
            <a:solidFill>
              <a:schemeClr val="tx1"/>
            </a:solidFill>
            <a:prstDash val="solid"/>
          </a:ln>
        </p:spPr>
      </p:sp>
      <p:pic>
        <p:nvPicPr>
          <p:cNvPr id="11" name="Card icon 2" descr="Deactivated users"/>
          <p:cNvPicPr>
            <a:picLocks noChangeAspect="1"/>
          </p:cNvPicPr>
          <p:nvPr/>
        </p:nvPicPr>
        <p:blipFill>
          <a:blip r:embed="rId3"/>
          <a:stretch>
            <a:fillRect/>
          </a:stretch>
        </p:blipFill>
        <p:spPr>
          <a:xfrm>
            <a:off x="4759452" y="1833372"/>
            <a:ext cx="310896" cy="310896"/>
          </a:xfrm>
          <a:prstGeom prst="rect">
            <a:avLst/>
          </a:prstGeom>
        </p:spPr>
      </p:pic>
      <p:sp>
        <p:nvSpPr>
          <p:cNvPr id="12" name="Card title 2"/>
          <p:cNvSpPr txBox="1"/>
          <p:nvPr/>
        </p:nvSpPr>
        <p:spPr>
          <a:xfrm>
            <a:off x="5394960" y="1691640"/>
            <a:ext cx="2148840" cy="594360"/>
          </a:xfrm>
          <a:prstGeom prst="rect">
            <a:avLst/>
          </a:prstGeom>
          <a:noFill/>
          <a:ln/>
        </p:spPr>
        <p:txBody>
          <a:bodyPr wrap="square" lIns="0" tIns="0" rIns="0" bIns="0" rtlCol="0" anchor="ctr"/>
          <a:lstStyle/>
          <a:p>
            <a:pPr algn="l" indent="0" marL="0">
              <a:buNone/>
            </a:pPr>
            <a:r>
              <a:rPr lang="en-US" sz="1700" dirty="0">
                <a:solidFill>
                  <a:schemeClr val="tx1"/>
                </a:solidFill>
                <a:latin typeface="+mj-lt" pitchFamily="34" charset="0"/>
                <a:ea typeface="+mj-lt" pitchFamily="34" charset="-122"/>
                <a:cs typeface="+mj-lt" pitchFamily="34" charset="-120"/>
              </a:rPr>
              <a:t>Deactivated users</a:t>
            </a:r>
          </a:p>
        </p:txBody>
      </p:sp>
      <p:sp>
        <p:nvSpPr>
          <p:cNvPr id="13" name="Card text 2"/>
          <p:cNvSpPr txBox="1"/>
          <p:nvPr/>
        </p:nvSpPr>
        <p:spPr>
          <a:xfrm>
            <a:off x="4617720" y="2468880"/>
            <a:ext cx="2926080" cy="1783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A token stays valid for up to 8 hours. The fix is a token version or revocation check.</a:t>
            </a:r>
          </a:p>
        </p:txBody>
      </p:sp>
      <p:sp>
        <p:nvSpPr>
          <p:cNvPr id="14" name="Card Encryption"/>
          <p:cNvSpPr/>
          <p:nvPr/>
        </p:nvSpPr>
        <p:spPr>
          <a:xfrm>
            <a:off x="8046720" y="1463040"/>
            <a:ext cx="3383280" cy="2926080"/>
          </a:xfrm>
          <a:prstGeom prst="roundRect">
            <a:avLst>
              <a:gd name="adj" fmla="val 6122"/>
            </a:avLst>
          </a:prstGeom>
          <a:solidFill>
            <a:schemeClr val="bg1"/>
          </a:solidFill>
          <a:ln w="31750">
            <a:solidFill>
              <a:schemeClr val="tx1"/>
            </a:solidFill>
            <a:prstDash val="solid"/>
          </a:ln>
        </p:spPr>
      </p:sp>
      <p:sp>
        <p:nvSpPr>
          <p:cNvPr id="15" name="Badge 3"/>
          <p:cNvSpPr/>
          <p:nvPr/>
        </p:nvSpPr>
        <p:spPr>
          <a:xfrm>
            <a:off x="8275320" y="1691640"/>
            <a:ext cx="594360" cy="594360"/>
          </a:xfrm>
          <a:prstGeom prst="ellipse">
            <a:avLst/>
          </a:prstGeom>
          <a:solidFill>
            <a:schemeClr val="accent1"/>
          </a:solidFill>
          <a:ln w="25400">
            <a:solidFill>
              <a:schemeClr val="tx1"/>
            </a:solidFill>
            <a:prstDash val="solid"/>
          </a:ln>
        </p:spPr>
      </p:sp>
      <p:pic>
        <p:nvPicPr>
          <p:cNvPr id="16" name="Card icon 3" descr="Encryption"/>
          <p:cNvPicPr>
            <a:picLocks noChangeAspect="1"/>
          </p:cNvPicPr>
          <p:nvPr/>
        </p:nvPicPr>
        <p:blipFill>
          <a:blip r:embed="rId4"/>
          <a:stretch>
            <a:fillRect/>
          </a:stretch>
        </p:blipFill>
        <p:spPr>
          <a:xfrm>
            <a:off x="8417052" y="1833372"/>
            <a:ext cx="310896" cy="310896"/>
          </a:xfrm>
          <a:prstGeom prst="rect">
            <a:avLst/>
          </a:prstGeom>
        </p:spPr>
      </p:pic>
      <p:sp>
        <p:nvSpPr>
          <p:cNvPr id="17" name="Card title 3"/>
          <p:cNvSpPr txBox="1"/>
          <p:nvPr/>
        </p:nvSpPr>
        <p:spPr>
          <a:xfrm>
            <a:off x="9052560" y="1691640"/>
            <a:ext cx="2148840" cy="594360"/>
          </a:xfrm>
          <a:prstGeom prst="rect">
            <a:avLst/>
          </a:prstGeom>
          <a:noFill/>
          <a:ln/>
        </p:spPr>
        <p:txBody>
          <a:bodyPr wrap="square" lIns="0" tIns="0" rIns="0" bIns="0" rtlCol="0" anchor="ctr"/>
          <a:lstStyle/>
          <a:p>
            <a:pPr algn="l" indent="0" marL="0">
              <a:buNone/>
            </a:pPr>
            <a:r>
              <a:rPr lang="en-US" sz="1700" dirty="0">
                <a:solidFill>
                  <a:schemeClr val="tx1"/>
                </a:solidFill>
                <a:latin typeface="+mj-lt" pitchFamily="34" charset="0"/>
                <a:ea typeface="+mj-lt" pitchFamily="34" charset="-122"/>
                <a:cs typeface="+mj-lt" pitchFamily="34" charset="-120"/>
              </a:rPr>
              <a:t>Encryption</a:t>
            </a:r>
          </a:p>
        </p:txBody>
      </p:sp>
      <p:sp>
        <p:nvSpPr>
          <p:cNvPr id="18" name="Card text 3"/>
          <p:cNvSpPr txBox="1"/>
          <p:nvPr/>
        </p:nvSpPr>
        <p:spPr>
          <a:xfrm>
            <a:off x="8275320" y="2468880"/>
            <a:ext cx="2926080" cy="1783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Passwords are hashed and production traffic would use HTTPS. AES-256 field encryption at rest is planned.</a:t>
            </a:r>
          </a:p>
        </p:txBody>
      </p:sp>
      <p:sp>
        <p:nvSpPr>
          <p:cNvPr id="19" name="Slide Number Placeholder"/>
          <p:cNvSpPr>
            <a:spLocks noGrp="1"/>
          </p:cNvSpPr>
          <p:nvPr>
            <p:ph type="sldNum" sz="quarter" idx="4294967295"/>
          </p:nvPr>
        </p:nvSpPr>
        <p:spPr>
          <a:xfrm>
            <a:off x="11338560" y="6473952"/>
            <a:ext cx="457200" cy="228600"/>
          </a:xfrm>
          <a:prstGeom prst="rect">
            <a:avLst/>
          </a:prstGeom>
        </p:spPr>
        <p:txBody>
          <a:bodyPr/>
          <a:lstStyle>
            <a:lvl1pPr>
              <a:defRPr sz="1000">
                <a:solidFill>
                  <a:srgbClr val="3F4573"/>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grow_roadmap">
    <p:spTree>
      <p:nvGrpSpPr>
        <p:cNvPr id="1" name=""/>
        <p:cNvGrpSpPr/>
        <p:nvPr/>
      </p:nvGrpSpPr>
      <p:grpSpPr>
        <a:xfrm>
          <a:off x="0" y="0"/>
          <a:ext cx="0" cy="0"/>
          <a:chOff x="0" y="0"/>
          <a:chExt cx="0" cy="0"/>
        </a:xfrm>
      </p:grpSpPr>
      <p:pic>
        <p:nvPicPr>
          <p:cNvPr id="2" name="Label Conclusion · Product roadmap" descr=""/>
          <p:cNvPicPr>
            <a:picLocks noChangeAspect="1"/>
          </p:cNvPicPr>
          <p:nvPr/>
        </p:nvPicPr>
        <p:blipFill>
          <a:blip r:embed="rId1"/>
          <a:stretch>
            <a:fillRect/>
          </a:stretch>
        </p:blipFill>
        <p:spPr>
          <a:xfrm>
            <a:off x="640080" y="274320"/>
            <a:ext cx="3836000" cy="457200"/>
          </a:xfrm>
          <a:prstGeom prst="rect">
            <a:avLst/>
          </a:prstGeom>
        </p:spPr>
      </p:pic>
      <p:sp>
        <p:nvSpPr>
          <p:cNvPr id="3" name="Title"/>
          <p:cNvSpPr txBox="1"/>
          <p:nvPr/>
        </p:nvSpPr>
        <p:spPr>
          <a:xfrm>
            <a:off x="640080" y="274320"/>
            <a:ext cx="3836000" cy="457200"/>
          </a:xfrm>
          <a:prstGeom prst="rect">
            <a:avLst/>
          </a:prstGeom>
          <a:noFill/>
          <a:ln/>
        </p:spPr>
        <p:txBody>
          <a:bodyPr wrap="square" lIns="0" tIns="0" rIns="0" bIns="0" rtlCol="0" anchor="ctr"/>
          <a:lstStyle/>
          <a:p>
            <a:pPr algn="ctr" indent="0" marL="0">
              <a:buNone/>
            </a:pPr>
            <a:r>
              <a:rPr lang="en-US" sz="1600" b="1" dirty="0">
                <a:solidFill>
                  <a:schemeClr val="tx1"/>
                </a:solidFill>
              </a:rPr>
              <a:t>Conclusion · Product roadmap</a:t>
            </a:r>
          </a:p>
        </p:txBody>
      </p:sp>
      <p:sp>
        <p:nvSpPr>
          <p:cNvPr id="4" name="Card SMS and email"/>
          <p:cNvSpPr/>
          <p:nvPr/>
        </p:nvSpPr>
        <p:spPr>
          <a:xfrm>
            <a:off x="731520" y="1143000"/>
            <a:ext cx="2560320" cy="2438400"/>
          </a:xfrm>
          <a:prstGeom prst="roundRect">
            <a:avLst>
              <a:gd name="adj" fmla="val 6122"/>
            </a:avLst>
          </a:prstGeom>
          <a:solidFill>
            <a:schemeClr val="bg1"/>
          </a:solidFill>
          <a:ln w="31750">
            <a:solidFill>
              <a:schemeClr val="tx1"/>
            </a:solidFill>
            <a:prstDash val="solid"/>
          </a:ln>
        </p:spPr>
      </p:sp>
      <p:sp>
        <p:nvSpPr>
          <p:cNvPr id="5" name="Badge 1"/>
          <p:cNvSpPr/>
          <p:nvPr/>
        </p:nvSpPr>
        <p:spPr>
          <a:xfrm>
            <a:off x="960120" y="1371600"/>
            <a:ext cx="594360" cy="594360"/>
          </a:xfrm>
          <a:prstGeom prst="ellipse">
            <a:avLst/>
          </a:prstGeom>
          <a:solidFill>
            <a:schemeClr val="accent1"/>
          </a:solidFill>
          <a:ln w="25400">
            <a:solidFill>
              <a:schemeClr val="tx1"/>
            </a:solidFill>
            <a:prstDash val="solid"/>
          </a:ln>
        </p:spPr>
      </p:sp>
      <p:pic>
        <p:nvPicPr>
          <p:cNvPr id="6" name="Card icon 1" descr="SMS and email"/>
          <p:cNvPicPr>
            <a:picLocks noChangeAspect="1"/>
          </p:cNvPicPr>
          <p:nvPr/>
        </p:nvPicPr>
        <p:blipFill>
          <a:blip r:embed="rId2"/>
          <a:stretch>
            <a:fillRect/>
          </a:stretch>
        </p:blipFill>
        <p:spPr>
          <a:xfrm>
            <a:off x="1101852" y="1513332"/>
            <a:ext cx="310896" cy="310896"/>
          </a:xfrm>
          <a:prstGeom prst="rect">
            <a:avLst/>
          </a:prstGeom>
        </p:spPr>
      </p:pic>
      <p:sp>
        <p:nvSpPr>
          <p:cNvPr id="7" name="Card title 1"/>
          <p:cNvSpPr txBox="1"/>
          <p:nvPr/>
        </p:nvSpPr>
        <p:spPr>
          <a:xfrm>
            <a:off x="960120" y="2057400"/>
            <a:ext cx="2103120" cy="320040"/>
          </a:xfrm>
          <a:prstGeom prst="rect">
            <a:avLst/>
          </a:prstGeom>
          <a:noFill/>
          <a:ln/>
        </p:spPr>
        <p:txBody>
          <a:bodyPr wrap="square" lIns="0" tIns="0" rIns="0" bIns="0" rtlCol="0" anchor="t"/>
          <a:lstStyle/>
          <a:p>
            <a:pPr algn="l" indent="0" marL="0">
              <a:buNone/>
            </a:pPr>
            <a:r>
              <a:rPr lang="en-US" sz="1700" dirty="0">
                <a:solidFill>
                  <a:schemeClr val="tx1"/>
                </a:solidFill>
                <a:latin typeface="+mj-lt" pitchFamily="34" charset="0"/>
                <a:ea typeface="+mj-lt" pitchFamily="34" charset="-122"/>
                <a:cs typeface="+mj-lt" pitchFamily="34" charset="-120"/>
              </a:rPr>
              <a:t>SMS and email</a:t>
            </a:r>
          </a:p>
        </p:txBody>
      </p:sp>
      <p:sp>
        <p:nvSpPr>
          <p:cNvPr id="8" name="Card text 1"/>
          <p:cNvSpPr txBox="1"/>
          <p:nvPr/>
        </p:nvSpPr>
        <p:spPr>
          <a:xfrm>
            <a:off x="960120" y="2423160"/>
            <a:ext cx="2103120" cy="1021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Alerts beyond the in-app bell, plus WebSocket push.</a:t>
            </a:r>
          </a:p>
        </p:txBody>
      </p:sp>
      <p:sp>
        <p:nvSpPr>
          <p:cNvPr id="9" name="Card NHIMA / MOH"/>
          <p:cNvSpPr/>
          <p:nvPr/>
        </p:nvSpPr>
        <p:spPr>
          <a:xfrm>
            <a:off x="3520440" y="1143000"/>
            <a:ext cx="2560320" cy="2438400"/>
          </a:xfrm>
          <a:prstGeom prst="roundRect">
            <a:avLst>
              <a:gd name="adj" fmla="val 6122"/>
            </a:avLst>
          </a:prstGeom>
          <a:solidFill>
            <a:schemeClr val="bg1"/>
          </a:solidFill>
          <a:ln w="31750">
            <a:solidFill>
              <a:schemeClr val="tx1"/>
            </a:solidFill>
            <a:prstDash val="solid"/>
          </a:ln>
        </p:spPr>
      </p:sp>
      <p:sp>
        <p:nvSpPr>
          <p:cNvPr id="10" name="Badge 2"/>
          <p:cNvSpPr/>
          <p:nvPr/>
        </p:nvSpPr>
        <p:spPr>
          <a:xfrm>
            <a:off x="3749040" y="1371600"/>
            <a:ext cx="594360" cy="594360"/>
          </a:xfrm>
          <a:prstGeom prst="ellipse">
            <a:avLst/>
          </a:prstGeom>
          <a:solidFill>
            <a:schemeClr val="accent1"/>
          </a:solidFill>
          <a:ln w="25400">
            <a:solidFill>
              <a:schemeClr val="tx1"/>
            </a:solidFill>
            <a:prstDash val="solid"/>
          </a:ln>
        </p:spPr>
      </p:sp>
      <p:pic>
        <p:nvPicPr>
          <p:cNvPr id="11" name="Card icon 2" descr="NHIMA / MOH"/>
          <p:cNvPicPr>
            <a:picLocks noChangeAspect="1"/>
          </p:cNvPicPr>
          <p:nvPr/>
        </p:nvPicPr>
        <p:blipFill>
          <a:blip r:embed="rId3"/>
          <a:stretch>
            <a:fillRect/>
          </a:stretch>
        </p:blipFill>
        <p:spPr>
          <a:xfrm>
            <a:off x="3890772" y="1513332"/>
            <a:ext cx="310896" cy="310896"/>
          </a:xfrm>
          <a:prstGeom prst="rect">
            <a:avLst/>
          </a:prstGeom>
        </p:spPr>
      </p:pic>
      <p:sp>
        <p:nvSpPr>
          <p:cNvPr id="12" name="Card title 2"/>
          <p:cNvSpPr txBox="1"/>
          <p:nvPr/>
        </p:nvSpPr>
        <p:spPr>
          <a:xfrm>
            <a:off x="3749040" y="2057400"/>
            <a:ext cx="2103120" cy="320040"/>
          </a:xfrm>
          <a:prstGeom prst="rect">
            <a:avLst/>
          </a:prstGeom>
          <a:noFill/>
          <a:ln/>
        </p:spPr>
        <p:txBody>
          <a:bodyPr wrap="square" lIns="0" tIns="0" rIns="0" bIns="0" rtlCol="0" anchor="t"/>
          <a:lstStyle/>
          <a:p>
            <a:pPr algn="l" indent="0" marL="0">
              <a:buNone/>
            </a:pPr>
            <a:r>
              <a:rPr lang="en-US" sz="1700" dirty="0">
                <a:solidFill>
                  <a:schemeClr val="tx1"/>
                </a:solidFill>
                <a:latin typeface="+mj-lt" pitchFamily="34" charset="0"/>
                <a:ea typeface="+mj-lt" pitchFamily="34" charset="-122"/>
                <a:cs typeface="+mj-lt" pitchFamily="34" charset="-120"/>
              </a:rPr>
              <a:t>NHIMA / MOH</a:t>
            </a:r>
          </a:p>
        </p:txBody>
      </p:sp>
      <p:sp>
        <p:nvSpPr>
          <p:cNvPr id="13" name="Card text 2"/>
          <p:cNvSpPr txBox="1"/>
          <p:nvPr/>
        </p:nvSpPr>
        <p:spPr>
          <a:xfrm>
            <a:off x="3749040" y="2423160"/>
            <a:ext cx="2103120" cy="1021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Connect to national health insurance and ministry systems.</a:t>
            </a:r>
          </a:p>
        </p:txBody>
      </p:sp>
      <p:sp>
        <p:nvSpPr>
          <p:cNvPr id="14" name="Card Two-factor login"/>
          <p:cNvSpPr/>
          <p:nvPr/>
        </p:nvSpPr>
        <p:spPr>
          <a:xfrm>
            <a:off x="6309360" y="1143000"/>
            <a:ext cx="2560320" cy="2438400"/>
          </a:xfrm>
          <a:prstGeom prst="roundRect">
            <a:avLst>
              <a:gd name="adj" fmla="val 6122"/>
            </a:avLst>
          </a:prstGeom>
          <a:solidFill>
            <a:schemeClr val="bg1"/>
          </a:solidFill>
          <a:ln w="31750">
            <a:solidFill>
              <a:schemeClr val="tx1"/>
            </a:solidFill>
            <a:prstDash val="solid"/>
          </a:ln>
        </p:spPr>
      </p:sp>
      <p:sp>
        <p:nvSpPr>
          <p:cNvPr id="15" name="Badge 3"/>
          <p:cNvSpPr/>
          <p:nvPr/>
        </p:nvSpPr>
        <p:spPr>
          <a:xfrm>
            <a:off x="6537960" y="1371600"/>
            <a:ext cx="594360" cy="594360"/>
          </a:xfrm>
          <a:prstGeom prst="ellipse">
            <a:avLst/>
          </a:prstGeom>
          <a:solidFill>
            <a:schemeClr val="accent1"/>
          </a:solidFill>
          <a:ln w="25400">
            <a:solidFill>
              <a:schemeClr val="tx1"/>
            </a:solidFill>
            <a:prstDash val="solid"/>
          </a:ln>
        </p:spPr>
      </p:sp>
      <p:pic>
        <p:nvPicPr>
          <p:cNvPr id="16" name="Card icon 3" descr="Two-factor login"/>
          <p:cNvPicPr>
            <a:picLocks noChangeAspect="1"/>
          </p:cNvPicPr>
          <p:nvPr/>
        </p:nvPicPr>
        <p:blipFill>
          <a:blip r:embed="rId4"/>
          <a:stretch>
            <a:fillRect/>
          </a:stretch>
        </p:blipFill>
        <p:spPr>
          <a:xfrm>
            <a:off x="6679692" y="1513332"/>
            <a:ext cx="310896" cy="310896"/>
          </a:xfrm>
          <a:prstGeom prst="rect">
            <a:avLst/>
          </a:prstGeom>
        </p:spPr>
      </p:pic>
      <p:sp>
        <p:nvSpPr>
          <p:cNvPr id="17" name="Card title 3"/>
          <p:cNvSpPr txBox="1"/>
          <p:nvPr/>
        </p:nvSpPr>
        <p:spPr>
          <a:xfrm>
            <a:off x="6537960" y="2057400"/>
            <a:ext cx="2103120" cy="320040"/>
          </a:xfrm>
          <a:prstGeom prst="rect">
            <a:avLst/>
          </a:prstGeom>
          <a:noFill/>
          <a:ln/>
        </p:spPr>
        <p:txBody>
          <a:bodyPr wrap="square" lIns="0" tIns="0" rIns="0" bIns="0" rtlCol="0" anchor="t"/>
          <a:lstStyle/>
          <a:p>
            <a:pPr algn="l" indent="0" marL="0">
              <a:buNone/>
            </a:pPr>
            <a:r>
              <a:rPr lang="en-US" sz="1700" dirty="0">
                <a:solidFill>
                  <a:schemeClr val="tx1"/>
                </a:solidFill>
                <a:latin typeface="+mj-lt" pitchFamily="34" charset="0"/>
                <a:ea typeface="+mj-lt" pitchFamily="34" charset="-122"/>
                <a:cs typeface="+mj-lt" pitchFamily="34" charset="-120"/>
              </a:rPr>
              <a:t>Two-factor login</a:t>
            </a:r>
          </a:p>
        </p:txBody>
      </p:sp>
      <p:sp>
        <p:nvSpPr>
          <p:cNvPr id="18" name="Card text 3"/>
          <p:cNvSpPr txBox="1"/>
          <p:nvPr/>
        </p:nvSpPr>
        <p:spPr>
          <a:xfrm>
            <a:off x="6537960" y="2423160"/>
            <a:ext cx="2103120" cy="1021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A second check for staff accounts.</a:t>
            </a:r>
          </a:p>
        </p:txBody>
      </p:sp>
      <p:sp>
        <p:nvSpPr>
          <p:cNvPr id="19" name="Card Scans and X-rays"/>
          <p:cNvSpPr/>
          <p:nvPr/>
        </p:nvSpPr>
        <p:spPr>
          <a:xfrm>
            <a:off x="9098280" y="1143000"/>
            <a:ext cx="2560320" cy="2438400"/>
          </a:xfrm>
          <a:prstGeom prst="roundRect">
            <a:avLst>
              <a:gd name="adj" fmla="val 6122"/>
            </a:avLst>
          </a:prstGeom>
          <a:solidFill>
            <a:schemeClr val="bg1"/>
          </a:solidFill>
          <a:ln w="31750">
            <a:solidFill>
              <a:schemeClr val="tx1"/>
            </a:solidFill>
            <a:prstDash val="solid"/>
          </a:ln>
        </p:spPr>
      </p:sp>
      <p:sp>
        <p:nvSpPr>
          <p:cNvPr id="20" name="Badge 4"/>
          <p:cNvSpPr/>
          <p:nvPr/>
        </p:nvSpPr>
        <p:spPr>
          <a:xfrm>
            <a:off x="9326880" y="1371600"/>
            <a:ext cx="594360" cy="594360"/>
          </a:xfrm>
          <a:prstGeom prst="ellipse">
            <a:avLst/>
          </a:prstGeom>
          <a:solidFill>
            <a:schemeClr val="accent1"/>
          </a:solidFill>
          <a:ln w="25400">
            <a:solidFill>
              <a:schemeClr val="tx1"/>
            </a:solidFill>
            <a:prstDash val="solid"/>
          </a:ln>
        </p:spPr>
      </p:sp>
      <p:pic>
        <p:nvPicPr>
          <p:cNvPr id="21" name="Card icon 4" descr="Scans and X-rays"/>
          <p:cNvPicPr>
            <a:picLocks noChangeAspect="1"/>
          </p:cNvPicPr>
          <p:nvPr/>
        </p:nvPicPr>
        <p:blipFill>
          <a:blip r:embed="rId5"/>
          <a:stretch>
            <a:fillRect/>
          </a:stretch>
        </p:blipFill>
        <p:spPr>
          <a:xfrm>
            <a:off x="9468612" y="1513332"/>
            <a:ext cx="310896" cy="310896"/>
          </a:xfrm>
          <a:prstGeom prst="rect">
            <a:avLst/>
          </a:prstGeom>
        </p:spPr>
      </p:pic>
      <p:sp>
        <p:nvSpPr>
          <p:cNvPr id="22" name="Card title 4"/>
          <p:cNvSpPr txBox="1"/>
          <p:nvPr/>
        </p:nvSpPr>
        <p:spPr>
          <a:xfrm>
            <a:off x="9326880" y="2057400"/>
            <a:ext cx="2103120" cy="320040"/>
          </a:xfrm>
          <a:prstGeom prst="rect">
            <a:avLst/>
          </a:prstGeom>
          <a:noFill/>
          <a:ln/>
        </p:spPr>
        <p:txBody>
          <a:bodyPr wrap="square" lIns="0" tIns="0" rIns="0" bIns="0" rtlCol="0" anchor="t"/>
          <a:lstStyle/>
          <a:p>
            <a:pPr algn="l" indent="0" marL="0">
              <a:buNone/>
            </a:pPr>
            <a:r>
              <a:rPr lang="en-US" sz="1700" dirty="0">
                <a:solidFill>
                  <a:schemeClr val="tx1"/>
                </a:solidFill>
                <a:latin typeface="+mj-lt" pitchFamily="34" charset="0"/>
                <a:ea typeface="+mj-lt" pitchFamily="34" charset="-122"/>
                <a:cs typeface="+mj-lt" pitchFamily="34" charset="-120"/>
              </a:rPr>
              <a:t>Scans and X-rays</a:t>
            </a:r>
          </a:p>
        </p:txBody>
      </p:sp>
      <p:sp>
        <p:nvSpPr>
          <p:cNvPr id="23" name="Card text 4"/>
          <p:cNvSpPr txBox="1"/>
          <p:nvPr/>
        </p:nvSpPr>
        <p:spPr>
          <a:xfrm>
            <a:off x="9326880" y="2423160"/>
            <a:ext cx="2103120" cy="1021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Attach imaging files to patient records.</a:t>
            </a:r>
          </a:p>
        </p:txBody>
      </p:sp>
      <p:sp>
        <p:nvSpPr>
          <p:cNvPr id="24" name="Card Mobile apps"/>
          <p:cNvSpPr/>
          <p:nvPr/>
        </p:nvSpPr>
        <p:spPr>
          <a:xfrm>
            <a:off x="731520" y="3810000"/>
            <a:ext cx="2560320" cy="2438400"/>
          </a:xfrm>
          <a:prstGeom prst="roundRect">
            <a:avLst>
              <a:gd name="adj" fmla="val 6122"/>
            </a:avLst>
          </a:prstGeom>
          <a:solidFill>
            <a:schemeClr val="bg1"/>
          </a:solidFill>
          <a:ln w="31750">
            <a:solidFill>
              <a:schemeClr val="tx1"/>
            </a:solidFill>
            <a:prstDash val="solid"/>
          </a:ln>
        </p:spPr>
      </p:sp>
      <p:sp>
        <p:nvSpPr>
          <p:cNvPr id="25" name="Badge 5"/>
          <p:cNvSpPr/>
          <p:nvPr/>
        </p:nvSpPr>
        <p:spPr>
          <a:xfrm>
            <a:off x="960120" y="4038600"/>
            <a:ext cx="594360" cy="594360"/>
          </a:xfrm>
          <a:prstGeom prst="ellipse">
            <a:avLst/>
          </a:prstGeom>
          <a:solidFill>
            <a:schemeClr val="accent1"/>
          </a:solidFill>
          <a:ln w="25400">
            <a:solidFill>
              <a:schemeClr val="tx1"/>
            </a:solidFill>
            <a:prstDash val="solid"/>
          </a:ln>
        </p:spPr>
      </p:sp>
      <p:pic>
        <p:nvPicPr>
          <p:cNvPr id="26" name="Card icon 5" descr="Mobile apps"/>
          <p:cNvPicPr>
            <a:picLocks noChangeAspect="1"/>
          </p:cNvPicPr>
          <p:nvPr/>
        </p:nvPicPr>
        <p:blipFill>
          <a:blip r:embed="rId6"/>
          <a:stretch>
            <a:fillRect/>
          </a:stretch>
        </p:blipFill>
        <p:spPr>
          <a:xfrm>
            <a:off x="1101852" y="4180332"/>
            <a:ext cx="310896" cy="310896"/>
          </a:xfrm>
          <a:prstGeom prst="rect">
            <a:avLst/>
          </a:prstGeom>
        </p:spPr>
      </p:pic>
      <p:sp>
        <p:nvSpPr>
          <p:cNvPr id="27" name="Card title 5"/>
          <p:cNvSpPr txBox="1"/>
          <p:nvPr/>
        </p:nvSpPr>
        <p:spPr>
          <a:xfrm>
            <a:off x="960120" y="4724400"/>
            <a:ext cx="2103120" cy="320040"/>
          </a:xfrm>
          <a:prstGeom prst="rect">
            <a:avLst/>
          </a:prstGeom>
          <a:noFill/>
          <a:ln/>
        </p:spPr>
        <p:txBody>
          <a:bodyPr wrap="square" lIns="0" tIns="0" rIns="0" bIns="0" rtlCol="0" anchor="t"/>
          <a:lstStyle/>
          <a:p>
            <a:pPr algn="l" indent="0" marL="0">
              <a:buNone/>
            </a:pPr>
            <a:r>
              <a:rPr lang="en-US" sz="1700" dirty="0">
                <a:solidFill>
                  <a:schemeClr val="tx1"/>
                </a:solidFill>
                <a:latin typeface="+mj-lt" pitchFamily="34" charset="0"/>
                <a:ea typeface="+mj-lt" pitchFamily="34" charset="-122"/>
                <a:cs typeface="+mj-lt" pitchFamily="34" charset="-120"/>
              </a:rPr>
              <a:t>Mobile apps</a:t>
            </a:r>
          </a:p>
        </p:txBody>
      </p:sp>
      <p:sp>
        <p:nvSpPr>
          <p:cNvPr id="28" name="Card text 5"/>
          <p:cNvSpPr txBox="1"/>
          <p:nvPr/>
        </p:nvSpPr>
        <p:spPr>
          <a:xfrm>
            <a:off x="960120" y="5090160"/>
            <a:ext cx="2103120" cy="1021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Patient and staff apps for phones.</a:t>
            </a:r>
          </a:p>
        </p:txBody>
      </p:sp>
      <p:sp>
        <p:nvSpPr>
          <p:cNvPr id="29" name="Card Telemedicine"/>
          <p:cNvSpPr/>
          <p:nvPr/>
        </p:nvSpPr>
        <p:spPr>
          <a:xfrm>
            <a:off x="3520440" y="3810000"/>
            <a:ext cx="2560320" cy="2438400"/>
          </a:xfrm>
          <a:prstGeom prst="roundRect">
            <a:avLst>
              <a:gd name="adj" fmla="val 6122"/>
            </a:avLst>
          </a:prstGeom>
          <a:solidFill>
            <a:schemeClr val="bg1"/>
          </a:solidFill>
          <a:ln w="31750">
            <a:solidFill>
              <a:schemeClr val="tx1"/>
            </a:solidFill>
            <a:prstDash val="solid"/>
          </a:ln>
        </p:spPr>
      </p:sp>
      <p:sp>
        <p:nvSpPr>
          <p:cNvPr id="30" name="Badge 6"/>
          <p:cNvSpPr/>
          <p:nvPr/>
        </p:nvSpPr>
        <p:spPr>
          <a:xfrm>
            <a:off x="3749040" y="4038600"/>
            <a:ext cx="594360" cy="594360"/>
          </a:xfrm>
          <a:prstGeom prst="ellipse">
            <a:avLst/>
          </a:prstGeom>
          <a:solidFill>
            <a:schemeClr val="accent1"/>
          </a:solidFill>
          <a:ln w="25400">
            <a:solidFill>
              <a:schemeClr val="tx1"/>
            </a:solidFill>
            <a:prstDash val="solid"/>
          </a:ln>
        </p:spPr>
      </p:sp>
      <p:pic>
        <p:nvPicPr>
          <p:cNvPr id="31" name="Card icon 6" descr="Telemedicine"/>
          <p:cNvPicPr>
            <a:picLocks noChangeAspect="1"/>
          </p:cNvPicPr>
          <p:nvPr/>
        </p:nvPicPr>
        <p:blipFill>
          <a:blip r:embed="rId7"/>
          <a:stretch>
            <a:fillRect/>
          </a:stretch>
        </p:blipFill>
        <p:spPr>
          <a:xfrm>
            <a:off x="3890772" y="4180332"/>
            <a:ext cx="310896" cy="310896"/>
          </a:xfrm>
          <a:prstGeom prst="rect">
            <a:avLst/>
          </a:prstGeom>
        </p:spPr>
      </p:pic>
      <p:sp>
        <p:nvSpPr>
          <p:cNvPr id="32" name="Card title 6"/>
          <p:cNvSpPr txBox="1"/>
          <p:nvPr/>
        </p:nvSpPr>
        <p:spPr>
          <a:xfrm>
            <a:off x="3749040" y="4724400"/>
            <a:ext cx="2103120" cy="320040"/>
          </a:xfrm>
          <a:prstGeom prst="rect">
            <a:avLst/>
          </a:prstGeom>
          <a:noFill/>
          <a:ln/>
        </p:spPr>
        <p:txBody>
          <a:bodyPr wrap="square" lIns="0" tIns="0" rIns="0" bIns="0" rtlCol="0" anchor="t"/>
          <a:lstStyle/>
          <a:p>
            <a:pPr algn="l" indent="0" marL="0">
              <a:buNone/>
            </a:pPr>
            <a:r>
              <a:rPr lang="en-US" sz="1700" dirty="0">
                <a:solidFill>
                  <a:schemeClr val="tx1"/>
                </a:solidFill>
                <a:latin typeface="+mj-lt" pitchFamily="34" charset="0"/>
                <a:ea typeface="+mj-lt" pitchFamily="34" charset="-122"/>
                <a:cs typeface="+mj-lt" pitchFamily="34" charset="-120"/>
              </a:rPr>
              <a:t>Telemedicine</a:t>
            </a:r>
          </a:p>
        </p:txBody>
      </p:sp>
      <p:sp>
        <p:nvSpPr>
          <p:cNvPr id="33" name="Card text 6"/>
          <p:cNvSpPr txBox="1"/>
          <p:nvPr/>
        </p:nvSpPr>
        <p:spPr>
          <a:xfrm>
            <a:off x="3749040" y="5090160"/>
            <a:ext cx="2103120" cy="1021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Remote consultations with the care team.</a:t>
            </a:r>
          </a:p>
        </p:txBody>
      </p:sp>
      <p:sp>
        <p:nvSpPr>
          <p:cNvPr id="34" name="Card Docker"/>
          <p:cNvSpPr/>
          <p:nvPr/>
        </p:nvSpPr>
        <p:spPr>
          <a:xfrm>
            <a:off x="6309360" y="3810000"/>
            <a:ext cx="2560320" cy="2438400"/>
          </a:xfrm>
          <a:prstGeom prst="roundRect">
            <a:avLst>
              <a:gd name="adj" fmla="val 6122"/>
            </a:avLst>
          </a:prstGeom>
          <a:solidFill>
            <a:schemeClr val="bg1"/>
          </a:solidFill>
          <a:ln w="31750">
            <a:solidFill>
              <a:schemeClr val="tx1"/>
            </a:solidFill>
            <a:prstDash val="solid"/>
          </a:ln>
        </p:spPr>
      </p:sp>
      <p:sp>
        <p:nvSpPr>
          <p:cNvPr id="35" name="Badge 7"/>
          <p:cNvSpPr/>
          <p:nvPr/>
        </p:nvSpPr>
        <p:spPr>
          <a:xfrm>
            <a:off x="6537960" y="4038600"/>
            <a:ext cx="594360" cy="594360"/>
          </a:xfrm>
          <a:prstGeom prst="ellipse">
            <a:avLst/>
          </a:prstGeom>
          <a:solidFill>
            <a:schemeClr val="accent1"/>
          </a:solidFill>
          <a:ln w="25400">
            <a:solidFill>
              <a:schemeClr val="tx1"/>
            </a:solidFill>
            <a:prstDash val="solid"/>
          </a:ln>
        </p:spPr>
      </p:sp>
      <p:pic>
        <p:nvPicPr>
          <p:cNvPr id="36" name="Card icon 7" descr="Docker"/>
          <p:cNvPicPr>
            <a:picLocks noChangeAspect="1"/>
          </p:cNvPicPr>
          <p:nvPr/>
        </p:nvPicPr>
        <p:blipFill>
          <a:blip r:embed="rId8"/>
          <a:stretch>
            <a:fillRect/>
          </a:stretch>
        </p:blipFill>
        <p:spPr>
          <a:xfrm>
            <a:off x="6679692" y="4180332"/>
            <a:ext cx="310896" cy="310896"/>
          </a:xfrm>
          <a:prstGeom prst="rect">
            <a:avLst/>
          </a:prstGeom>
        </p:spPr>
      </p:pic>
      <p:sp>
        <p:nvSpPr>
          <p:cNvPr id="37" name="Card title 7"/>
          <p:cNvSpPr txBox="1"/>
          <p:nvPr/>
        </p:nvSpPr>
        <p:spPr>
          <a:xfrm>
            <a:off x="6537960" y="4724400"/>
            <a:ext cx="2103120" cy="320040"/>
          </a:xfrm>
          <a:prstGeom prst="rect">
            <a:avLst/>
          </a:prstGeom>
          <a:noFill/>
          <a:ln/>
        </p:spPr>
        <p:txBody>
          <a:bodyPr wrap="square" lIns="0" tIns="0" rIns="0" bIns="0" rtlCol="0" anchor="t"/>
          <a:lstStyle/>
          <a:p>
            <a:pPr algn="l" indent="0" marL="0">
              <a:buNone/>
            </a:pPr>
            <a:r>
              <a:rPr lang="en-US" sz="1700" dirty="0">
                <a:solidFill>
                  <a:schemeClr val="tx1"/>
                </a:solidFill>
                <a:latin typeface="+mj-lt" pitchFamily="34" charset="0"/>
                <a:ea typeface="+mj-lt" pitchFamily="34" charset="-122"/>
                <a:cs typeface="+mj-lt" pitchFamily="34" charset="-120"/>
              </a:rPr>
              <a:t>Docker</a:t>
            </a:r>
          </a:p>
        </p:txBody>
      </p:sp>
      <p:sp>
        <p:nvSpPr>
          <p:cNvPr id="38" name="Card text 7"/>
          <p:cNvSpPr txBox="1"/>
          <p:nvPr/>
        </p:nvSpPr>
        <p:spPr>
          <a:xfrm>
            <a:off x="6537960" y="5090160"/>
            <a:ext cx="2103120" cy="1021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Containerised, repeatable deployment.</a:t>
            </a:r>
          </a:p>
        </p:txBody>
      </p:sp>
      <p:sp>
        <p:nvSpPr>
          <p:cNvPr id="39" name="Card Encryption at rest"/>
          <p:cNvSpPr/>
          <p:nvPr/>
        </p:nvSpPr>
        <p:spPr>
          <a:xfrm>
            <a:off x="9098280" y="3810000"/>
            <a:ext cx="2560320" cy="2438400"/>
          </a:xfrm>
          <a:prstGeom prst="roundRect">
            <a:avLst>
              <a:gd name="adj" fmla="val 6122"/>
            </a:avLst>
          </a:prstGeom>
          <a:solidFill>
            <a:schemeClr val="bg1"/>
          </a:solidFill>
          <a:ln w="31750">
            <a:solidFill>
              <a:schemeClr val="tx1"/>
            </a:solidFill>
            <a:prstDash val="solid"/>
          </a:ln>
        </p:spPr>
      </p:sp>
      <p:sp>
        <p:nvSpPr>
          <p:cNvPr id="40" name="Badge 8"/>
          <p:cNvSpPr/>
          <p:nvPr/>
        </p:nvSpPr>
        <p:spPr>
          <a:xfrm>
            <a:off x="9326880" y="4038600"/>
            <a:ext cx="594360" cy="594360"/>
          </a:xfrm>
          <a:prstGeom prst="ellipse">
            <a:avLst/>
          </a:prstGeom>
          <a:solidFill>
            <a:schemeClr val="accent3"/>
          </a:solidFill>
          <a:ln w="25400">
            <a:solidFill>
              <a:schemeClr val="tx1"/>
            </a:solidFill>
            <a:prstDash val="solid"/>
          </a:ln>
        </p:spPr>
      </p:sp>
      <p:pic>
        <p:nvPicPr>
          <p:cNvPr id="41" name="Card icon 8" descr="Encryption at rest"/>
          <p:cNvPicPr>
            <a:picLocks noChangeAspect="1"/>
          </p:cNvPicPr>
          <p:nvPr/>
        </p:nvPicPr>
        <p:blipFill>
          <a:blip r:embed="rId9"/>
          <a:stretch>
            <a:fillRect/>
          </a:stretch>
        </p:blipFill>
        <p:spPr>
          <a:xfrm>
            <a:off x="9468612" y="4180332"/>
            <a:ext cx="310896" cy="310896"/>
          </a:xfrm>
          <a:prstGeom prst="rect">
            <a:avLst/>
          </a:prstGeom>
        </p:spPr>
      </p:pic>
      <p:sp>
        <p:nvSpPr>
          <p:cNvPr id="42" name="Card title 8"/>
          <p:cNvSpPr txBox="1"/>
          <p:nvPr/>
        </p:nvSpPr>
        <p:spPr>
          <a:xfrm>
            <a:off x="9326880" y="4724400"/>
            <a:ext cx="2103120" cy="320040"/>
          </a:xfrm>
          <a:prstGeom prst="rect">
            <a:avLst/>
          </a:prstGeom>
          <a:noFill/>
          <a:ln/>
        </p:spPr>
        <p:txBody>
          <a:bodyPr wrap="square" lIns="0" tIns="0" rIns="0" bIns="0" rtlCol="0" anchor="t"/>
          <a:lstStyle/>
          <a:p>
            <a:pPr algn="l" indent="0" marL="0">
              <a:buNone/>
            </a:pPr>
            <a:r>
              <a:rPr lang="en-US" sz="1700" dirty="0">
                <a:solidFill>
                  <a:schemeClr val="tx1"/>
                </a:solidFill>
                <a:latin typeface="+mj-lt" pitchFamily="34" charset="0"/>
                <a:ea typeface="+mj-lt" pitchFamily="34" charset="-122"/>
                <a:cs typeface="+mj-lt" pitchFamily="34" charset="-120"/>
              </a:rPr>
              <a:t>Encryption at rest</a:t>
            </a:r>
          </a:p>
        </p:txBody>
      </p:sp>
      <p:sp>
        <p:nvSpPr>
          <p:cNvPr id="43" name="Card text 8"/>
          <p:cNvSpPr txBox="1"/>
          <p:nvPr/>
        </p:nvSpPr>
        <p:spPr>
          <a:xfrm>
            <a:off x="9326880" y="5090160"/>
            <a:ext cx="2103120" cy="1021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AES-256 field encryption for patient data.</a:t>
            </a:r>
          </a:p>
        </p:txBody>
      </p:sp>
      <p:sp>
        <p:nvSpPr>
          <p:cNvPr id="44" name="Slide Number Placeholder"/>
          <p:cNvSpPr>
            <a:spLocks noGrp="1"/>
          </p:cNvSpPr>
          <p:nvPr>
            <p:ph type="sldNum" sz="quarter" idx="4294967295"/>
          </p:nvPr>
        </p:nvSpPr>
        <p:spPr>
          <a:xfrm>
            <a:off x="11338560" y="6473952"/>
            <a:ext cx="457200" cy="228600"/>
          </a:xfrm>
          <a:prstGeom prst="rect">
            <a:avLst/>
          </a:prstGeom>
        </p:spPr>
        <p:txBody>
          <a:bodyPr/>
          <a:lstStyle>
            <a:lvl1pPr>
              <a:defRPr sz="1000">
                <a:solidFill>
                  <a:srgbClr val="3F4573"/>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grow_adapt">
    <p:spTree>
      <p:nvGrpSpPr>
        <p:cNvPr id="1" name=""/>
        <p:cNvGrpSpPr/>
        <p:nvPr/>
      </p:nvGrpSpPr>
      <p:grpSpPr>
        <a:xfrm>
          <a:off x="0" y="0"/>
          <a:ext cx="0" cy="0"/>
          <a:chOff x="0" y="0"/>
          <a:chExt cx="0" cy="0"/>
        </a:xfrm>
      </p:grpSpPr>
      <p:pic>
        <p:nvPicPr>
          <p:cNvPr id="2" name="Label Conclusion · Adapting beyond the clinic" descr=""/>
          <p:cNvPicPr>
            <a:picLocks noChangeAspect="1"/>
          </p:cNvPicPr>
          <p:nvPr/>
        </p:nvPicPr>
        <p:blipFill>
          <a:blip r:embed="rId1"/>
          <a:stretch>
            <a:fillRect/>
          </a:stretch>
        </p:blipFill>
        <p:spPr>
          <a:xfrm>
            <a:off x="640080" y="274320"/>
            <a:ext cx="5068000" cy="457200"/>
          </a:xfrm>
          <a:prstGeom prst="rect">
            <a:avLst/>
          </a:prstGeom>
        </p:spPr>
      </p:pic>
      <p:sp>
        <p:nvSpPr>
          <p:cNvPr id="3" name="Title"/>
          <p:cNvSpPr txBox="1"/>
          <p:nvPr/>
        </p:nvSpPr>
        <p:spPr>
          <a:xfrm>
            <a:off x="640080" y="274320"/>
            <a:ext cx="5068000" cy="457200"/>
          </a:xfrm>
          <a:prstGeom prst="rect">
            <a:avLst/>
          </a:prstGeom>
          <a:noFill/>
          <a:ln/>
        </p:spPr>
        <p:txBody>
          <a:bodyPr wrap="square" lIns="0" tIns="0" rIns="0" bIns="0" rtlCol="0" anchor="ctr"/>
          <a:lstStyle/>
          <a:p>
            <a:pPr algn="ctr" indent="0" marL="0">
              <a:buNone/>
            </a:pPr>
            <a:r>
              <a:rPr lang="en-US" sz="1600" b="1" dirty="0">
                <a:solidFill>
                  <a:schemeClr val="tx1"/>
                </a:solidFill>
              </a:rPr>
              <a:t>Conclusion · Adapting beyond the clinic</a:t>
            </a:r>
          </a:p>
        </p:txBody>
      </p:sp>
      <p:sp>
        <p:nvSpPr>
          <p:cNvPr id="4" name="Stepper line"/>
          <p:cNvSpPr/>
          <p:nvPr/>
        </p:nvSpPr>
        <p:spPr>
          <a:xfrm>
            <a:off x="1143000" y="1444752"/>
            <a:ext cx="0" cy="4023360"/>
          </a:xfrm>
          <a:prstGeom prst="line">
            <a:avLst/>
          </a:prstGeom>
          <a:noFill/>
          <a:ln w="38100">
            <a:solidFill>
              <a:schemeClr val="accent2"/>
            </a:solidFill>
            <a:prstDash val="solid"/>
          </a:ln>
        </p:spPr>
      </p:sp>
      <p:sp>
        <p:nvSpPr>
          <p:cNvPr id="5" name="Step 1"/>
          <p:cNvSpPr/>
          <p:nvPr/>
        </p:nvSpPr>
        <p:spPr>
          <a:xfrm>
            <a:off x="841248" y="1143000"/>
            <a:ext cx="603504" cy="603504"/>
          </a:xfrm>
          <a:prstGeom prst="ellipse">
            <a:avLst/>
          </a:prstGeom>
          <a:solidFill>
            <a:schemeClr val="accent1"/>
          </a:solidFill>
          <a:ln w="31750">
            <a:solidFill>
              <a:schemeClr val="tx1"/>
            </a:solidFill>
            <a:prstDash val="solid"/>
          </a:ln>
        </p:spPr>
      </p:sp>
      <p:pic>
        <p:nvPicPr>
          <p:cNvPr id="6" name="Step icon 1" descr="Add a Facility entity"/>
          <p:cNvPicPr>
            <a:picLocks noChangeAspect="1"/>
          </p:cNvPicPr>
          <p:nvPr/>
        </p:nvPicPr>
        <p:blipFill>
          <a:blip r:embed="rId2"/>
          <a:stretch>
            <a:fillRect/>
          </a:stretch>
        </p:blipFill>
        <p:spPr>
          <a:xfrm>
            <a:off x="987552" y="1289304"/>
            <a:ext cx="310896" cy="310896"/>
          </a:xfrm>
          <a:prstGeom prst="rect">
            <a:avLst/>
          </a:prstGeom>
        </p:spPr>
      </p:pic>
      <p:sp>
        <p:nvSpPr>
          <p:cNvPr id="7" name="Step title 1"/>
          <p:cNvSpPr txBox="1"/>
          <p:nvPr/>
        </p:nvSpPr>
        <p:spPr>
          <a:xfrm>
            <a:off x="1828800" y="112471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Add a Facility entity</a:t>
            </a:r>
          </a:p>
        </p:txBody>
      </p:sp>
      <p:sp>
        <p:nvSpPr>
          <p:cNvPr id="8" name="Step text 1"/>
          <p:cNvSpPr txBox="1"/>
          <p:nvPr/>
        </p:nvSpPr>
        <p:spPr>
          <a:xfrm>
            <a:off x="1828800" y="145389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Multi-tenancy, so each site has its own staff, inventory and patients.</a:t>
            </a:r>
          </a:p>
        </p:txBody>
      </p:sp>
      <p:sp>
        <p:nvSpPr>
          <p:cNvPr id="9" name="Step 2"/>
          <p:cNvSpPr/>
          <p:nvPr/>
        </p:nvSpPr>
        <p:spPr>
          <a:xfrm>
            <a:off x="841248" y="2148840"/>
            <a:ext cx="603504" cy="603504"/>
          </a:xfrm>
          <a:prstGeom prst="ellipse">
            <a:avLst/>
          </a:prstGeom>
          <a:solidFill>
            <a:schemeClr val="accent1"/>
          </a:solidFill>
          <a:ln w="31750">
            <a:solidFill>
              <a:schemeClr val="tx1"/>
            </a:solidFill>
            <a:prstDash val="solid"/>
          </a:ln>
        </p:spPr>
      </p:sp>
      <p:pic>
        <p:nvPicPr>
          <p:cNvPr id="10" name="Step icon 2" descr="Pluggable identity"/>
          <p:cNvPicPr>
            <a:picLocks noChangeAspect="1"/>
          </p:cNvPicPr>
          <p:nvPr/>
        </p:nvPicPr>
        <p:blipFill>
          <a:blip r:embed="rId3"/>
          <a:stretch>
            <a:fillRect/>
          </a:stretch>
        </p:blipFill>
        <p:spPr>
          <a:xfrm>
            <a:off x="987552" y="2295144"/>
            <a:ext cx="310896" cy="310896"/>
          </a:xfrm>
          <a:prstGeom prst="rect">
            <a:avLst/>
          </a:prstGeom>
        </p:spPr>
      </p:pic>
      <p:sp>
        <p:nvSpPr>
          <p:cNvPr id="11" name="Step title 2"/>
          <p:cNvSpPr txBox="1"/>
          <p:nvPr/>
        </p:nvSpPr>
        <p:spPr>
          <a:xfrm>
            <a:off x="1828800" y="213055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Pluggable identity</a:t>
            </a:r>
          </a:p>
        </p:txBody>
      </p:sp>
      <p:sp>
        <p:nvSpPr>
          <p:cNvPr id="12" name="Step text 2"/>
          <p:cNvSpPr txBox="1"/>
          <p:nvPr/>
        </p:nvSpPr>
        <p:spPr>
          <a:xfrm>
            <a:off x="1828800" y="245973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Replace the student number with an NRC, NHIMA number or patient ID. It is the only UNZA-specific part.</a:t>
            </a:r>
          </a:p>
        </p:txBody>
      </p:sp>
      <p:sp>
        <p:nvSpPr>
          <p:cNvPr id="13" name="Step 3"/>
          <p:cNvSpPr/>
          <p:nvPr/>
        </p:nvSpPr>
        <p:spPr>
          <a:xfrm>
            <a:off x="841248" y="3154680"/>
            <a:ext cx="603504" cy="603504"/>
          </a:xfrm>
          <a:prstGeom prst="ellipse">
            <a:avLst/>
          </a:prstGeom>
          <a:solidFill>
            <a:schemeClr val="accent1"/>
          </a:solidFill>
          <a:ln w="31750">
            <a:solidFill>
              <a:schemeClr val="tx1"/>
            </a:solidFill>
            <a:prstDash val="solid"/>
          </a:ln>
        </p:spPr>
      </p:sp>
      <p:pic>
        <p:nvPicPr>
          <p:cNvPr id="14" name="Step icon 3" descr="Other settings"/>
          <p:cNvPicPr>
            <a:picLocks noChangeAspect="1"/>
          </p:cNvPicPr>
          <p:nvPr/>
        </p:nvPicPr>
        <p:blipFill>
          <a:blip r:embed="rId4"/>
          <a:stretch>
            <a:fillRect/>
          </a:stretch>
        </p:blipFill>
        <p:spPr>
          <a:xfrm>
            <a:off x="987552" y="3300984"/>
            <a:ext cx="310896" cy="310896"/>
          </a:xfrm>
          <a:prstGeom prst="rect">
            <a:avLst/>
          </a:prstGeom>
        </p:spPr>
      </p:pic>
      <p:sp>
        <p:nvSpPr>
          <p:cNvPr id="15" name="Step title 3"/>
          <p:cNvSpPr txBox="1"/>
          <p:nvPr/>
        </p:nvSpPr>
        <p:spPr>
          <a:xfrm>
            <a:off x="1828800" y="313639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Other settings</a:t>
            </a:r>
          </a:p>
        </p:txBody>
      </p:sp>
      <p:sp>
        <p:nvSpPr>
          <p:cNvPr id="16" name="Step text 3"/>
          <p:cNvSpPr txBox="1"/>
          <p:nvPr/>
        </p:nvSpPr>
        <p:spPr>
          <a:xfrm>
            <a:off x="1828800" y="346557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Other university clinics, primary health clinics, mission hospitals, and school and workplace clinics.</a:t>
            </a:r>
          </a:p>
        </p:txBody>
      </p:sp>
      <p:sp>
        <p:nvSpPr>
          <p:cNvPr id="17" name="Step 4"/>
          <p:cNvSpPr/>
          <p:nvPr/>
        </p:nvSpPr>
        <p:spPr>
          <a:xfrm>
            <a:off x="841248" y="4160520"/>
            <a:ext cx="603504" cy="603504"/>
          </a:xfrm>
          <a:prstGeom prst="ellipse">
            <a:avLst/>
          </a:prstGeom>
          <a:solidFill>
            <a:schemeClr val="accent1"/>
          </a:solidFill>
          <a:ln w="31750">
            <a:solidFill>
              <a:schemeClr val="tx1"/>
            </a:solidFill>
            <a:prstDash val="solid"/>
          </a:ln>
        </p:spPr>
      </p:sp>
      <p:pic>
        <p:nvPicPr>
          <p:cNvPr id="18" name="Step icon 4" descr="Interoperability"/>
          <p:cNvPicPr>
            <a:picLocks noChangeAspect="1"/>
          </p:cNvPicPr>
          <p:nvPr/>
        </p:nvPicPr>
        <p:blipFill>
          <a:blip r:embed="rId5"/>
          <a:stretch>
            <a:fillRect/>
          </a:stretch>
        </p:blipFill>
        <p:spPr>
          <a:xfrm>
            <a:off x="987552" y="4306824"/>
            <a:ext cx="310896" cy="310896"/>
          </a:xfrm>
          <a:prstGeom prst="rect">
            <a:avLst/>
          </a:prstGeom>
        </p:spPr>
      </p:pic>
      <p:sp>
        <p:nvSpPr>
          <p:cNvPr id="19" name="Step title 4"/>
          <p:cNvSpPr txBox="1"/>
          <p:nvPr/>
        </p:nvSpPr>
        <p:spPr>
          <a:xfrm>
            <a:off x="1828800" y="414223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Interoperability</a:t>
            </a:r>
          </a:p>
        </p:txBody>
      </p:sp>
      <p:sp>
        <p:nvSpPr>
          <p:cNvPr id="20" name="Step text 4"/>
          <p:cNvSpPr txBox="1"/>
          <p:nvPr/>
        </p:nvSpPr>
        <p:spPr>
          <a:xfrm>
            <a:off x="1828800" y="447141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Adopt standards such as HL7 FHIR so it can talk to other systems.</a:t>
            </a:r>
          </a:p>
        </p:txBody>
      </p:sp>
      <p:sp>
        <p:nvSpPr>
          <p:cNvPr id="21" name="Step 5"/>
          <p:cNvSpPr/>
          <p:nvPr/>
        </p:nvSpPr>
        <p:spPr>
          <a:xfrm>
            <a:off x="841248" y="5166360"/>
            <a:ext cx="603504" cy="603504"/>
          </a:xfrm>
          <a:prstGeom prst="ellipse">
            <a:avLst/>
          </a:prstGeom>
          <a:solidFill>
            <a:schemeClr val="accent1"/>
          </a:solidFill>
          <a:ln w="31750">
            <a:solidFill>
              <a:schemeClr val="tx1"/>
            </a:solidFill>
            <a:prstDash val="solid"/>
          </a:ln>
        </p:spPr>
      </p:sp>
      <p:pic>
        <p:nvPicPr>
          <p:cNvPr id="22" name="Step icon 5" descr="Offline support"/>
          <p:cNvPicPr>
            <a:picLocks noChangeAspect="1"/>
          </p:cNvPicPr>
          <p:nvPr/>
        </p:nvPicPr>
        <p:blipFill>
          <a:blip r:embed="rId6"/>
          <a:stretch>
            <a:fillRect/>
          </a:stretch>
        </p:blipFill>
        <p:spPr>
          <a:xfrm>
            <a:off x="987552" y="5312664"/>
            <a:ext cx="310896" cy="310896"/>
          </a:xfrm>
          <a:prstGeom prst="rect">
            <a:avLst/>
          </a:prstGeom>
        </p:spPr>
      </p:pic>
      <p:sp>
        <p:nvSpPr>
          <p:cNvPr id="23" name="Step title 5"/>
          <p:cNvSpPr txBox="1"/>
          <p:nvPr/>
        </p:nvSpPr>
        <p:spPr>
          <a:xfrm>
            <a:off x="1828800" y="514807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Offline support</a:t>
            </a:r>
          </a:p>
        </p:txBody>
      </p:sp>
      <p:sp>
        <p:nvSpPr>
          <p:cNvPr id="24" name="Step text 5"/>
          <p:cNvSpPr txBox="1"/>
          <p:nvPr/>
        </p:nvSpPr>
        <p:spPr>
          <a:xfrm>
            <a:off x="1828800" y="547725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A PWA with sync matters in Zambia, where power and connectivity can fail.</a:t>
            </a:r>
          </a:p>
        </p:txBody>
      </p:sp>
      <p:pic>
        <p:nvPicPr>
          <p:cNvPr id="25" name="Decoration" descr="Decorative medical illustration"/>
          <p:cNvPicPr>
            <a:picLocks noChangeAspect="1"/>
          </p:cNvPicPr>
          <p:nvPr/>
        </p:nvPicPr>
        <p:blipFill>
          <a:blip r:embed="rId7"/>
          <a:stretch>
            <a:fillRect/>
          </a:stretch>
        </p:blipFill>
        <p:spPr>
          <a:xfrm>
            <a:off x="10058400" y="2011680"/>
            <a:ext cx="2200000" cy="2200000"/>
          </a:xfrm>
          <a:prstGeom prst="rect">
            <a:avLst/>
          </a:prstGeom>
        </p:spPr>
      </p:pic>
      <p:sp>
        <p:nvSpPr>
          <p:cNvPr id="26" name="Slide Number Placeholder"/>
          <p:cNvSpPr>
            <a:spLocks noGrp="1"/>
          </p:cNvSpPr>
          <p:nvPr>
            <p:ph type="sldNum" sz="quarter" idx="4294967295"/>
          </p:nvPr>
        </p:nvSpPr>
        <p:spPr>
          <a:xfrm>
            <a:off x="11338560" y="6473952"/>
            <a:ext cx="457200" cy="228600"/>
          </a:xfrm>
          <a:prstGeom prst="rect">
            <a:avLst/>
          </a:prstGeom>
        </p:spPr>
        <p:txBody>
          <a:bodyPr/>
          <a:lstStyle>
            <a:lvl1pPr>
              <a:defRPr sz="1000">
                <a:solidFill>
                  <a:srgbClr val="3F4573"/>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roll_1">
    <p:spTree>
      <p:nvGrpSpPr>
        <p:cNvPr id="1" name=""/>
        <p:cNvGrpSpPr/>
        <p:nvPr/>
      </p:nvGrpSpPr>
      <p:grpSpPr>
        <a:xfrm>
          <a:off x="0" y="0"/>
          <a:ext cx="0" cy="0"/>
          <a:chOff x="0" y="0"/>
          <a:chExt cx="0" cy="0"/>
        </a:xfrm>
      </p:grpSpPr>
      <p:pic>
        <p:nvPicPr>
          <p:cNvPr id="2" name="Label Conclusion · Rolling out at the clinic (1 of 2)" descr=""/>
          <p:cNvPicPr>
            <a:picLocks noChangeAspect="1"/>
          </p:cNvPicPr>
          <p:nvPr/>
        </p:nvPicPr>
        <p:blipFill>
          <a:blip r:embed="rId1"/>
          <a:stretch>
            <a:fillRect/>
          </a:stretch>
        </p:blipFill>
        <p:spPr>
          <a:xfrm>
            <a:off x="640080" y="274320"/>
            <a:ext cx="5964000" cy="457200"/>
          </a:xfrm>
          <a:prstGeom prst="rect">
            <a:avLst/>
          </a:prstGeom>
        </p:spPr>
      </p:pic>
      <p:sp>
        <p:nvSpPr>
          <p:cNvPr id="3" name="Title"/>
          <p:cNvSpPr txBox="1"/>
          <p:nvPr/>
        </p:nvSpPr>
        <p:spPr>
          <a:xfrm>
            <a:off x="640080" y="274320"/>
            <a:ext cx="5964000" cy="457200"/>
          </a:xfrm>
          <a:prstGeom prst="rect">
            <a:avLst/>
          </a:prstGeom>
          <a:noFill/>
          <a:ln/>
        </p:spPr>
        <p:txBody>
          <a:bodyPr wrap="square" lIns="0" tIns="0" rIns="0" bIns="0" rtlCol="0" anchor="ctr"/>
          <a:lstStyle/>
          <a:p>
            <a:pPr algn="ctr" indent="0" marL="0">
              <a:buNone/>
            </a:pPr>
            <a:r>
              <a:rPr lang="en-US" sz="1600" b="1" dirty="0">
                <a:solidFill>
                  <a:schemeClr val="tx1"/>
                </a:solidFill>
              </a:rPr>
              <a:t>Conclusion · Rolling out at the clinic (1 of 2)</a:t>
            </a:r>
          </a:p>
        </p:txBody>
      </p:sp>
      <p:sp>
        <p:nvSpPr>
          <p:cNvPr id="4" name="Stepper line"/>
          <p:cNvSpPr/>
          <p:nvPr/>
        </p:nvSpPr>
        <p:spPr>
          <a:xfrm>
            <a:off x="1143000" y="1444752"/>
            <a:ext cx="0" cy="3017520"/>
          </a:xfrm>
          <a:prstGeom prst="line">
            <a:avLst/>
          </a:prstGeom>
          <a:noFill/>
          <a:ln w="38100">
            <a:solidFill>
              <a:schemeClr val="accent2"/>
            </a:solidFill>
            <a:prstDash val="solid"/>
          </a:ln>
        </p:spPr>
      </p:sp>
      <p:sp>
        <p:nvSpPr>
          <p:cNvPr id="5" name="Step 1"/>
          <p:cNvSpPr/>
          <p:nvPr/>
        </p:nvSpPr>
        <p:spPr>
          <a:xfrm>
            <a:off x="841248" y="1143000"/>
            <a:ext cx="603504" cy="603504"/>
          </a:xfrm>
          <a:prstGeom prst="ellipse">
            <a:avLst/>
          </a:prstGeom>
          <a:solidFill>
            <a:schemeClr val="accent1"/>
          </a:solidFill>
          <a:ln w="31750">
            <a:solidFill>
              <a:schemeClr val="tx1"/>
            </a:solidFill>
            <a:prstDash val="solid"/>
          </a:ln>
        </p:spPr>
      </p:sp>
      <p:pic>
        <p:nvPicPr>
          <p:cNvPr id="6" name="Step icon 1" descr="Approval and sign-off"/>
          <p:cNvPicPr>
            <a:picLocks noChangeAspect="1"/>
          </p:cNvPicPr>
          <p:nvPr/>
        </p:nvPicPr>
        <p:blipFill>
          <a:blip r:embed="rId2"/>
          <a:stretch>
            <a:fillRect/>
          </a:stretch>
        </p:blipFill>
        <p:spPr>
          <a:xfrm>
            <a:off x="987552" y="1289304"/>
            <a:ext cx="310896" cy="310896"/>
          </a:xfrm>
          <a:prstGeom prst="rect">
            <a:avLst/>
          </a:prstGeom>
        </p:spPr>
      </p:pic>
      <p:sp>
        <p:nvSpPr>
          <p:cNvPr id="7" name="Step title 1"/>
          <p:cNvSpPr txBox="1"/>
          <p:nvPr/>
        </p:nvSpPr>
        <p:spPr>
          <a:xfrm>
            <a:off x="1828800" y="112471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Approval and sign-off</a:t>
            </a:r>
          </a:p>
        </p:txBody>
      </p:sp>
      <p:sp>
        <p:nvSpPr>
          <p:cNvPr id="8" name="Step text 1"/>
          <p:cNvSpPr txBox="1"/>
          <p:nvPr/>
        </p:nvSpPr>
        <p:spPr>
          <a:xfrm>
            <a:off x="1828800" y="145389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Clinic management, the university and a data protection review under Zambia's Data Protection Act, 2021.</a:t>
            </a:r>
          </a:p>
        </p:txBody>
      </p:sp>
      <p:sp>
        <p:nvSpPr>
          <p:cNvPr id="9" name="Step 2"/>
          <p:cNvSpPr/>
          <p:nvPr/>
        </p:nvSpPr>
        <p:spPr>
          <a:xfrm>
            <a:off x="841248" y="2148840"/>
            <a:ext cx="603504" cy="603504"/>
          </a:xfrm>
          <a:prstGeom prst="ellipse">
            <a:avLst/>
          </a:prstGeom>
          <a:solidFill>
            <a:schemeClr val="accent1"/>
          </a:solidFill>
          <a:ln w="31750">
            <a:solidFill>
              <a:schemeClr val="tx1"/>
            </a:solidFill>
            <a:prstDash val="solid"/>
          </a:ln>
        </p:spPr>
      </p:sp>
      <p:pic>
        <p:nvPicPr>
          <p:cNvPr id="10" name="Step icon 2" descr="Pilot in one department"/>
          <p:cNvPicPr>
            <a:picLocks noChangeAspect="1"/>
          </p:cNvPicPr>
          <p:nvPr/>
        </p:nvPicPr>
        <p:blipFill>
          <a:blip r:embed="rId3"/>
          <a:stretch>
            <a:fillRect/>
          </a:stretch>
        </p:blipFill>
        <p:spPr>
          <a:xfrm>
            <a:off x="987552" y="2295144"/>
            <a:ext cx="310896" cy="310896"/>
          </a:xfrm>
          <a:prstGeom prst="rect">
            <a:avLst/>
          </a:prstGeom>
        </p:spPr>
      </p:pic>
      <p:sp>
        <p:nvSpPr>
          <p:cNvPr id="11" name="Step title 2"/>
          <p:cNvSpPr txBox="1"/>
          <p:nvPr/>
        </p:nvSpPr>
        <p:spPr>
          <a:xfrm>
            <a:off x="1828800" y="213055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Pilot in one department</a:t>
            </a:r>
          </a:p>
        </p:txBody>
      </p:sp>
      <p:sp>
        <p:nvSpPr>
          <p:cNvPr id="12" name="Step text 2"/>
          <p:cNvSpPr txBox="1"/>
          <p:nvPr/>
        </p:nvSpPr>
        <p:spPr>
          <a:xfrm>
            <a:off x="1828800" y="245973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Start in a single department or at one time of day, running alongside paper.</a:t>
            </a:r>
          </a:p>
        </p:txBody>
      </p:sp>
      <p:sp>
        <p:nvSpPr>
          <p:cNvPr id="13" name="Step 3"/>
          <p:cNvSpPr/>
          <p:nvPr/>
        </p:nvSpPr>
        <p:spPr>
          <a:xfrm>
            <a:off x="841248" y="3154680"/>
            <a:ext cx="603504" cy="603504"/>
          </a:xfrm>
          <a:prstGeom prst="ellipse">
            <a:avLst/>
          </a:prstGeom>
          <a:solidFill>
            <a:schemeClr val="accent1"/>
          </a:solidFill>
          <a:ln w="31750">
            <a:solidFill>
              <a:schemeClr val="tx1"/>
            </a:solidFill>
            <a:prstDash val="solid"/>
          </a:ln>
        </p:spPr>
      </p:sp>
      <p:pic>
        <p:nvPicPr>
          <p:cNvPr id="14" name="Step icon 3" descr="Migrate existing records"/>
          <p:cNvPicPr>
            <a:picLocks noChangeAspect="1"/>
          </p:cNvPicPr>
          <p:nvPr/>
        </p:nvPicPr>
        <p:blipFill>
          <a:blip r:embed="rId4"/>
          <a:stretch>
            <a:fillRect/>
          </a:stretch>
        </p:blipFill>
        <p:spPr>
          <a:xfrm>
            <a:off x="987552" y="3300984"/>
            <a:ext cx="310896" cy="310896"/>
          </a:xfrm>
          <a:prstGeom prst="rect">
            <a:avLst/>
          </a:prstGeom>
        </p:spPr>
      </p:pic>
      <p:sp>
        <p:nvSpPr>
          <p:cNvPr id="15" name="Step title 3"/>
          <p:cNvSpPr txBox="1"/>
          <p:nvPr/>
        </p:nvSpPr>
        <p:spPr>
          <a:xfrm>
            <a:off x="1828800" y="313639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Migrate existing records</a:t>
            </a:r>
          </a:p>
        </p:txBody>
      </p:sp>
      <p:sp>
        <p:nvSpPr>
          <p:cNvPr id="16" name="Step text 3"/>
          <p:cNvSpPr txBox="1"/>
          <p:nvPr/>
        </p:nvSpPr>
        <p:spPr>
          <a:xfrm>
            <a:off x="1828800" y="346557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Digitise paper files and import the student registry data.</a:t>
            </a:r>
          </a:p>
        </p:txBody>
      </p:sp>
      <p:sp>
        <p:nvSpPr>
          <p:cNvPr id="17" name="Step 4"/>
          <p:cNvSpPr/>
          <p:nvPr/>
        </p:nvSpPr>
        <p:spPr>
          <a:xfrm>
            <a:off x="841248" y="4160520"/>
            <a:ext cx="603504" cy="603504"/>
          </a:xfrm>
          <a:prstGeom prst="ellipse">
            <a:avLst/>
          </a:prstGeom>
          <a:solidFill>
            <a:schemeClr val="accent1"/>
          </a:solidFill>
          <a:ln w="31750">
            <a:solidFill>
              <a:schemeClr val="tx1"/>
            </a:solidFill>
            <a:prstDash val="solid"/>
          </a:ln>
        </p:spPr>
      </p:sp>
      <p:pic>
        <p:nvPicPr>
          <p:cNvPr id="18" name="Step icon 4" descr="Production infrastructure"/>
          <p:cNvPicPr>
            <a:picLocks noChangeAspect="1"/>
          </p:cNvPicPr>
          <p:nvPr/>
        </p:nvPicPr>
        <p:blipFill>
          <a:blip r:embed="rId5"/>
          <a:stretch>
            <a:fillRect/>
          </a:stretch>
        </p:blipFill>
        <p:spPr>
          <a:xfrm>
            <a:off x="987552" y="4306824"/>
            <a:ext cx="310896" cy="310896"/>
          </a:xfrm>
          <a:prstGeom prst="rect">
            <a:avLst/>
          </a:prstGeom>
        </p:spPr>
      </p:pic>
      <p:sp>
        <p:nvSpPr>
          <p:cNvPr id="19" name="Step title 4"/>
          <p:cNvSpPr txBox="1"/>
          <p:nvPr/>
        </p:nvSpPr>
        <p:spPr>
          <a:xfrm>
            <a:off x="1828800" y="414223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Production infrastructure</a:t>
            </a:r>
          </a:p>
        </p:txBody>
      </p:sp>
      <p:sp>
        <p:nvSpPr>
          <p:cNvPr id="20" name="Step text 4"/>
          <p:cNvSpPr txBox="1"/>
          <p:nvPr/>
        </p:nvSpPr>
        <p:spPr>
          <a:xfrm>
            <a:off x="1828800" y="447141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A hosted server or university data centre, HTTPS, automated backups and a monitoring plan.</a:t>
            </a:r>
          </a:p>
        </p:txBody>
      </p:sp>
      <p:pic>
        <p:nvPicPr>
          <p:cNvPr id="21" name="Decoration" descr="Decorative medical illustration"/>
          <p:cNvPicPr>
            <a:picLocks noChangeAspect="1"/>
          </p:cNvPicPr>
          <p:nvPr/>
        </p:nvPicPr>
        <p:blipFill>
          <a:blip r:embed="rId6"/>
          <a:stretch>
            <a:fillRect/>
          </a:stretch>
        </p:blipFill>
        <p:spPr>
          <a:xfrm>
            <a:off x="10058400" y="2011680"/>
            <a:ext cx="2200000" cy="2200000"/>
          </a:xfrm>
          <a:prstGeom prst="rect">
            <a:avLst/>
          </a:prstGeom>
        </p:spPr>
      </p:pic>
      <p:sp>
        <p:nvSpPr>
          <p:cNvPr id="22" name="Slide Number Placeholder"/>
          <p:cNvSpPr>
            <a:spLocks noGrp="1"/>
          </p:cNvSpPr>
          <p:nvPr>
            <p:ph type="sldNum" sz="quarter" idx="4294967295"/>
          </p:nvPr>
        </p:nvSpPr>
        <p:spPr>
          <a:xfrm>
            <a:off x="11338560" y="6473952"/>
            <a:ext cx="457200" cy="228600"/>
          </a:xfrm>
          <a:prstGeom prst="rect">
            <a:avLst/>
          </a:prstGeom>
        </p:spPr>
        <p:txBody>
          <a:bodyPr/>
          <a:lstStyle>
            <a:lvl1pPr>
              <a:defRPr sz="1000">
                <a:solidFill>
                  <a:srgbClr val="3F4573"/>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roll_2">
    <p:spTree>
      <p:nvGrpSpPr>
        <p:cNvPr id="1" name=""/>
        <p:cNvGrpSpPr/>
        <p:nvPr/>
      </p:nvGrpSpPr>
      <p:grpSpPr>
        <a:xfrm>
          <a:off x="0" y="0"/>
          <a:ext cx="0" cy="0"/>
          <a:chOff x="0" y="0"/>
          <a:chExt cx="0" cy="0"/>
        </a:xfrm>
      </p:grpSpPr>
      <p:pic>
        <p:nvPicPr>
          <p:cNvPr id="2" name="Label Conclusion · Rolling out at the clinic (2 of 2)" descr=""/>
          <p:cNvPicPr>
            <a:picLocks noChangeAspect="1"/>
          </p:cNvPicPr>
          <p:nvPr/>
        </p:nvPicPr>
        <p:blipFill>
          <a:blip r:embed="rId1"/>
          <a:stretch>
            <a:fillRect/>
          </a:stretch>
        </p:blipFill>
        <p:spPr>
          <a:xfrm>
            <a:off x="640080" y="274320"/>
            <a:ext cx="5964000" cy="457200"/>
          </a:xfrm>
          <a:prstGeom prst="rect">
            <a:avLst/>
          </a:prstGeom>
        </p:spPr>
      </p:pic>
      <p:sp>
        <p:nvSpPr>
          <p:cNvPr id="3" name="Title"/>
          <p:cNvSpPr txBox="1"/>
          <p:nvPr/>
        </p:nvSpPr>
        <p:spPr>
          <a:xfrm>
            <a:off x="640080" y="274320"/>
            <a:ext cx="5964000" cy="457200"/>
          </a:xfrm>
          <a:prstGeom prst="rect">
            <a:avLst/>
          </a:prstGeom>
          <a:noFill/>
          <a:ln/>
        </p:spPr>
        <p:txBody>
          <a:bodyPr wrap="square" lIns="0" tIns="0" rIns="0" bIns="0" rtlCol="0" anchor="ctr"/>
          <a:lstStyle/>
          <a:p>
            <a:pPr algn="ctr" indent="0" marL="0">
              <a:buNone/>
            </a:pPr>
            <a:r>
              <a:rPr lang="en-US" sz="1600" b="1" dirty="0">
                <a:solidFill>
                  <a:schemeClr val="tx1"/>
                </a:solidFill>
              </a:rPr>
              <a:t>Conclusion · Rolling out at the clinic (2 of 2)</a:t>
            </a:r>
          </a:p>
        </p:txBody>
      </p:sp>
      <p:sp>
        <p:nvSpPr>
          <p:cNvPr id="4" name="Stepper line"/>
          <p:cNvSpPr/>
          <p:nvPr/>
        </p:nvSpPr>
        <p:spPr>
          <a:xfrm>
            <a:off x="1143000" y="1444752"/>
            <a:ext cx="0" cy="2011680"/>
          </a:xfrm>
          <a:prstGeom prst="line">
            <a:avLst/>
          </a:prstGeom>
          <a:noFill/>
          <a:ln w="38100">
            <a:solidFill>
              <a:schemeClr val="accent2"/>
            </a:solidFill>
            <a:prstDash val="solid"/>
          </a:ln>
        </p:spPr>
      </p:sp>
      <p:sp>
        <p:nvSpPr>
          <p:cNvPr id="5" name="Step 1"/>
          <p:cNvSpPr/>
          <p:nvPr/>
        </p:nvSpPr>
        <p:spPr>
          <a:xfrm>
            <a:off x="841248" y="1143000"/>
            <a:ext cx="603504" cy="603504"/>
          </a:xfrm>
          <a:prstGeom prst="ellipse">
            <a:avLst/>
          </a:prstGeom>
          <a:solidFill>
            <a:schemeClr val="accent1"/>
          </a:solidFill>
          <a:ln w="31750">
            <a:solidFill>
              <a:schemeClr val="tx1"/>
            </a:solidFill>
            <a:prstDash val="solid"/>
          </a:ln>
        </p:spPr>
      </p:sp>
      <p:pic>
        <p:nvPicPr>
          <p:cNvPr id="6" name="Step icon 1" descr="Train each role"/>
          <p:cNvPicPr>
            <a:picLocks noChangeAspect="1"/>
          </p:cNvPicPr>
          <p:nvPr/>
        </p:nvPicPr>
        <p:blipFill>
          <a:blip r:embed="rId2"/>
          <a:stretch>
            <a:fillRect/>
          </a:stretch>
        </p:blipFill>
        <p:spPr>
          <a:xfrm>
            <a:off x="987552" y="1289304"/>
            <a:ext cx="310896" cy="310896"/>
          </a:xfrm>
          <a:prstGeom prst="rect">
            <a:avLst/>
          </a:prstGeom>
        </p:spPr>
      </p:pic>
      <p:sp>
        <p:nvSpPr>
          <p:cNvPr id="7" name="Step title 1"/>
          <p:cNvSpPr txBox="1"/>
          <p:nvPr/>
        </p:nvSpPr>
        <p:spPr>
          <a:xfrm>
            <a:off x="1828800" y="112471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Train each role</a:t>
            </a:r>
          </a:p>
        </p:txBody>
      </p:sp>
      <p:sp>
        <p:nvSpPr>
          <p:cNvPr id="8" name="Step text 1"/>
          <p:cNvSpPr txBox="1"/>
          <p:nvPr/>
        </p:nvSpPr>
        <p:spPr>
          <a:xfrm>
            <a:off x="1828800" y="145389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Start with nurses and reception, who feel the change most.</a:t>
            </a:r>
          </a:p>
        </p:txBody>
      </p:sp>
      <p:sp>
        <p:nvSpPr>
          <p:cNvPr id="9" name="Step 2"/>
          <p:cNvSpPr/>
          <p:nvPr/>
        </p:nvSpPr>
        <p:spPr>
          <a:xfrm>
            <a:off x="841248" y="2148840"/>
            <a:ext cx="603504" cy="603504"/>
          </a:xfrm>
          <a:prstGeom prst="ellipse">
            <a:avLst/>
          </a:prstGeom>
          <a:solidFill>
            <a:schemeClr val="accent1"/>
          </a:solidFill>
          <a:ln w="31750">
            <a:solidFill>
              <a:schemeClr val="tx1"/>
            </a:solidFill>
            <a:prstDash val="solid"/>
          </a:ln>
        </p:spPr>
      </p:sp>
      <p:pic>
        <p:nvPicPr>
          <p:cNvPr id="10" name="Step icon 2" descr="Run in parallel, then cut over"/>
          <p:cNvPicPr>
            <a:picLocks noChangeAspect="1"/>
          </p:cNvPicPr>
          <p:nvPr/>
        </p:nvPicPr>
        <p:blipFill>
          <a:blip r:embed="rId3"/>
          <a:stretch>
            <a:fillRect/>
          </a:stretch>
        </p:blipFill>
        <p:spPr>
          <a:xfrm>
            <a:off x="987552" y="2295144"/>
            <a:ext cx="310896" cy="310896"/>
          </a:xfrm>
          <a:prstGeom prst="rect">
            <a:avLst/>
          </a:prstGeom>
        </p:spPr>
      </p:pic>
      <p:sp>
        <p:nvSpPr>
          <p:cNvPr id="11" name="Step title 2"/>
          <p:cNvSpPr txBox="1"/>
          <p:nvPr/>
        </p:nvSpPr>
        <p:spPr>
          <a:xfrm>
            <a:off x="1828800" y="213055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Run in parallel, then cut over</a:t>
            </a:r>
          </a:p>
        </p:txBody>
      </p:sp>
      <p:sp>
        <p:nvSpPr>
          <p:cNvPr id="12" name="Step text 2"/>
          <p:cNvSpPr txBox="1"/>
          <p:nvPr/>
        </p:nvSpPr>
        <p:spPr>
          <a:xfrm>
            <a:off x="1828800" y="245973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Keep a feedback loop and name an admin owner who maintains the system.</a:t>
            </a:r>
          </a:p>
        </p:txBody>
      </p:sp>
      <p:sp>
        <p:nvSpPr>
          <p:cNvPr id="13" name="Step 3"/>
          <p:cNvSpPr/>
          <p:nvPr/>
        </p:nvSpPr>
        <p:spPr>
          <a:xfrm>
            <a:off x="841248" y="3154680"/>
            <a:ext cx="603504" cy="603504"/>
          </a:xfrm>
          <a:prstGeom prst="ellipse">
            <a:avLst/>
          </a:prstGeom>
          <a:solidFill>
            <a:schemeClr val="accent1"/>
          </a:solidFill>
          <a:ln w="31750">
            <a:solidFill>
              <a:schemeClr val="tx1"/>
            </a:solidFill>
            <a:prstDash val="solid"/>
          </a:ln>
        </p:spPr>
      </p:sp>
      <p:pic>
        <p:nvPicPr>
          <p:cNvPr id="14" name="Step icon 3" descr="Plan for downtime"/>
          <p:cNvPicPr>
            <a:picLocks noChangeAspect="1"/>
          </p:cNvPicPr>
          <p:nvPr/>
        </p:nvPicPr>
        <p:blipFill>
          <a:blip r:embed="rId4"/>
          <a:stretch>
            <a:fillRect/>
          </a:stretch>
        </p:blipFill>
        <p:spPr>
          <a:xfrm>
            <a:off x="987552" y="3300984"/>
            <a:ext cx="310896" cy="310896"/>
          </a:xfrm>
          <a:prstGeom prst="rect">
            <a:avLst/>
          </a:prstGeom>
        </p:spPr>
      </p:pic>
      <p:sp>
        <p:nvSpPr>
          <p:cNvPr id="15" name="Step title 3"/>
          <p:cNvSpPr txBox="1"/>
          <p:nvPr/>
        </p:nvSpPr>
        <p:spPr>
          <a:xfrm>
            <a:off x="1828800" y="313639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Plan for downtime</a:t>
            </a:r>
          </a:p>
        </p:txBody>
      </p:sp>
      <p:sp>
        <p:nvSpPr>
          <p:cNvPr id="16" name="Step text 3"/>
          <p:cNvSpPr txBox="1"/>
          <p:nvPr/>
        </p:nvSpPr>
        <p:spPr>
          <a:xfrm>
            <a:off x="1828800" y="346557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Keep a paper fallback for when power or internet fails.</a:t>
            </a:r>
          </a:p>
        </p:txBody>
      </p:sp>
      <p:pic>
        <p:nvPicPr>
          <p:cNvPr id="17" name="Decoration" descr="Decorative medical illustration"/>
          <p:cNvPicPr>
            <a:picLocks noChangeAspect="1"/>
          </p:cNvPicPr>
          <p:nvPr/>
        </p:nvPicPr>
        <p:blipFill>
          <a:blip r:embed="rId5"/>
          <a:stretch>
            <a:fillRect/>
          </a:stretch>
        </p:blipFill>
        <p:spPr>
          <a:xfrm>
            <a:off x="10058400" y="2011680"/>
            <a:ext cx="2200000" cy="2200000"/>
          </a:xfrm>
          <a:prstGeom prst="rect">
            <a:avLst/>
          </a:prstGeom>
        </p:spPr>
      </p:pic>
      <p:sp>
        <p:nvSpPr>
          <p:cNvPr id="18" name="Slide Number Placeholder"/>
          <p:cNvSpPr>
            <a:spLocks noGrp="1"/>
          </p:cNvSpPr>
          <p:nvPr>
            <p:ph type="sldNum" sz="quarter" idx="4294967295"/>
          </p:nvPr>
        </p:nvSpPr>
        <p:spPr>
          <a:xfrm>
            <a:off x="11338560" y="6473952"/>
            <a:ext cx="457200" cy="228600"/>
          </a:xfrm>
          <a:prstGeom prst="rect">
            <a:avLst/>
          </a:prstGeom>
        </p:spPr>
        <p:txBody>
          <a:bodyPr/>
          <a:lstStyle>
            <a:lvl1pPr>
              <a:defRPr sz="1000">
                <a:solidFill>
                  <a:srgbClr val="3F4573"/>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Label Conclusion" descr="preencoded.png">    </p:cNvPr>
          <p:cNvPicPr>
            <a:picLocks noChangeAspect="1"/>
          </p:cNvPicPr>
          <p:nvPr/>
        </p:nvPicPr>
        <p:blipFill>
          <a:blip r:embed="rId1"/>
          <a:stretch>
            <a:fillRect/>
          </a:stretch>
        </p:blipFill>
        <p:spPr>
          <a:xfrm>
            <a:off x="640080" y="274320"/>
            <a:ext cx="1600200" cy="457200"/>
          </a:xfrm>
          <a:prstGeom prst="rect">
            <a:avLst/>
          </a:prstGeom>
        </p:spPr>
      </p:pic>
      <p:sp>
        <p:nvSpPr>
          <p:cNvPr id="3" name="Text 0"/>
          <p:cNvSpPr txBox="1"/>
          <p:nvPr/>
        </p:nvSpPr>
        <p:spPr>
          <a:xfrm>
            <a:off x="640080" y="274320"/>
            <a:ext cx="1600200" cy="457200"/>
          </a:xfrm>
          <a:prstGeom prst="rect">
            <a:avLst/>
          </a:prstGeom>
          <a:noFill/>
          <a:ln/>
        </p:spPr>
        <p:txBody>
          <a:bodyPr wrap="square" lIns="0" tIns="0" rIns="0" bIns="0" rtlCol="0" anchor="ctr"/>
          <a:lstStyle/>
          <a:p>
            <a:pPr algn="ctr" indent="0" marL="0">
              <a:buNone/>
            </a:pPr>
            <a:r>
              <a:rPr lang="en-US" sz="1600" b="1" dirty="0">
                <a:solidFill>
                  <a:schemeClr val="tx1"/>
                </a:solidFill>
              </a:rPr>
              <a:t>Conclusion</a:t>
            </a:r>
            <a:endParaRPr lang="en-US" sz="1600" dirty="0"/>
          </a:p>
        </p:txBody>
      </p:sp>
      <p:sp>
        <p:nvSpPr>
          <p:cNvPr id="4" name="Text 1"/>
          <p:cNvSpPr txBox="1"/>
          <p:nvPr/>
        </p:nvSpPr>
        <p:spPr>
          <a:xfrm>
            <a:off x="640080" y="1188720"/>
            <a:ext cx="5760720" cy="502920"/>
          </a:xfrm>
          <a:prstGeom prst="rect">
            <a:avLst/>
          </a:prstGeom>
          <a:noFill/>
          <a:ln/>
        </p:spPr>
        <p:txBody>
          <a:bodyPr wrap="square" lIns="0" tIns="0" rIns="0" bIns="0" rtlCol="0" anchor="t"/>
          <a:lstStyle/>
          <a:p>
            <a:pPr algn="l" indent="0" marL="0">
              <a:buNone/>
            </a:pPr>
            <a:r>
              <a:rPr lang="en-US" sz="3000" dirty="0">
                <a:solidFill>
                  <a:schemeClr val="tx1"/>
                </a:solidFill>
                <a:latin typeface="+mj-lt" pitchFamily="34" charset="0"/>
                <a:ea typeface="+mj-lt" pitchFamily="34" charset="-122"/>
                <a:cs typeface="+mj-lt" pitchFamily="34" charset="-120"/>
              </a:rPr>
              <a:t>What we built</a:t>
            </a:r>
            <a:endParaRPr lang="en-US" sz="3000" dirty="0"/>
          </a:p>
        </p:txBody>
      </p:sp>
      <p:sp>
        <p:nvSpPr>
          <p:cNvPr id="5" name="Text 2"/>
          <p:cNvSpPr txBox="1"/>
          <p:nvPr/>
        </p:nvSpPr>
        <p:spPr>
          <a:xfrm>
            <a:off x="640080" y="1755648"/>
            <a:ext cx="5760720" cy="960120"/>
          </a:xfrm>
          <a:prstGeom prst="rect">
            <a:avLst/>
          </a:prstGeom>
          <a:noFill/>
          <a:ln/>
        </p:spPr>
        <p:txBody>
          <a:bodyPr wrap="square" lIns="0" tIns="0" rIns="0" bIns="0" rtlCol="0" anchor="t"/>
          <a:lstStyle/>
          <a:p>
            <a:pPr algn="l" indent="0" marL="0">
              <a:lnSpc>
                <a:spcPct val="120000"/>
              </a:lnSpc>
              <a:buNone/>
            </a:pPr>
            <a:r>
              <a:rPr lang="en-US" sz="1600" dirty="0">
                <a:solidFill>
                  <a:schemeClr val="tx1"/>
                </a:solidFill>
              </a:rPr>
              <a:t>A secure role-based portal with seven roles, student-number verification, medical records, pharmacy, laboratory, inpatient admissions, messaging and a full audit trail.</a:t>
            </a:r>
            <a:endParaRPr lang="en-US" sz="1600" dirty="0"/>
          </a:p>
        </p:txBody>
      </p:sp>
      <p:sp>
        <p:nvSpPr>
          <p:cNvPr id="6" name="Text 3"/>
          <p:cNvSpPr txBox="1"/>
          <p:nvPr/>
        </p:nvSpPr>
        <p:spPr>
          <a:xfrm>
            <a:off x="5788152" y="2926080"/>
            <a:ext cx="5760720" cy="502920"/>
          </a:xfrm>
          <a:prstGeom prst="rect">
            <a:avLst/>
          </a:prstGeom>
          <a:noFill/>
          <a:ln/>
        </p:spPr>
        <p:txBody>
          <a:bodyPr wrap="square" lIns="0" tIns="0" rIns="0" bIns="0" rtlCol="0" anchor="t"/>
          <a:lstStyle/>
          <a:p>
            <a:pPr algn="r" indent="0" marL="0">
              <a:buNone/>
            </a:pPr>
            <a:r>
              <a:rPr lang="en-US" sz="3000" dirty="0">
                <a:solidFill>
                  <a:schemeClr val="tx1"/>
                </a:solidFill>
                <a:latin typeface="+mj-lt" pitchFamily="34" charset="0"/>
                <a:ea typeface="+mj-lt" pitchFamily="34" charset="-122"/>
                <a:cs typeface="+mj-lt" pitchFamily="34" charset="-120"/>
              </a:rPr>
              <a:t>What we learned</a:t>
            </a:r>
            <a:endParaRPr lang="en-US" sz="3000" dirty="0"/>
          </a:p>
        </p:txBody>
      </p:sp>
      <p:sp>
        <p:nvSpPr>
          <p:cNvPr id="7" name="Text 4"/>
          <p:cNvSpPr txBox="1"/>
          <p:nvPr/>
        </p:nvSpPr>
        <p:spPr>
          <a:xfrm>
            <a:off x="5788152" y="3493008"/>
            <a:ext cx="5760720" cy="960120"/>
          </a:xfrm>
          <a:prstGeom prst="rect">
            <a:avLst/>
          </a:prstGeom>
          <a:noFill/>
          <a:ln/>
        </p:spPr>
        <p:txBody>
          <a:bodyPr wrap="square" lIns="0" tIns="0" rIns="0" bIns="0" rtlCol="0" anchor="t"/>
          <a:lstStyle/>
          <a:p>
            <a:pPr algn="r" indent="0" marL="0">
              <a:lnSpc>
                <a:spcPct val="120000"/>
              </a:lnSpc>
              <a:buNone/>
            </a:pPr>
            <a:r>
              <a:rPr lang="en-US" sz="1600" dirty="0">
                <a:solidFill>
                  <a:schemeClr val="tx1"/>
                </a:solidFill>
              </a:rPr>
              <a:t>Never trust the client, verify every token, and write tests that fail when security slips.</a:t>
            </a:r>
            <a:endParaRPr lang="en-US" sz="1600" dirty="0"/>
          </a:p>
        </p:txBody>
      </p:sp>
      <p:sp>
        <p:nvSpPr>
          <p:cNvPr id="8" name="Text 5"/>
          <p:cNvSpPr txBox="1"/>
          <p:nvPr/>
        </p:nvSpPr>
        <p:spPr>
          <a:xfrm>
            <a:off x="640080" y="4663440"/>
            <a:ext cx="5760720" cy="502920"/>
          </a:xfrm>
          <a:prstGeom prst="rect">
            <a:avLst/>
          </a:prstGeom>
          <a:noFill/>
          <a:ln/>
        </p:spPr>
        <p:txBody>
          <a:bodyPr wrap="square" lIns="0" tIns="0" rIns="0" bIns="0" rtlCol="0" anchor="t"/>
          <a:lstStyle/>
          <a:p>
            <a:pPr algn="l" indent="0" marL="0">
              <a:buNone/>
            </a:pPr>
            <a:r>
              <a:rPr lang="en-US" sz="3000" dirty="0">
                <a:solidFill>
                  <a:schemeClr val="tx1"/>
                </a:solidFill>
                <a:latin typeface="+mj-lt" pitchFamily="34" charset="0"/>
                <a:ea typeface="+mj-lt" pitchFamily="34" charset="-122"/>
                <a:cs typeface="+mj-lt" pitchFamily="34" charset="-120"/>
              </a:rPr>
              <a:t>What comes next</a:t>
            </a:r>
            <a:endParaRPr lang="en-US" sz="3000" dirty="0"/>
          </a:p>
        </p:txBody>
      </p:sp>
      <p:sp>
        <p:nvSpPr>
          <p:cNvPr id="9" name="Text 6"/>
          <p:cNvSpPr txBox="1"/>
          <p:nvPr/>
        </p:nvSpPr>
        <p:spPr>
          <a:xfrm>
            <a:off x="640080" y="5230368"/>
            <a:ext cx="5760720" cy="960120"/>
          </a:xfrm>
          <a:prstGeom prst="rect">
            <a:avLst/>
          </a:prstGeom>
          <a:noFill/>
          <a:ln/>
        </p:spPr>
        <p:txBody>
          <a:bodyPr wrap="square" lIns="0" tIns="0" rIns="0" bIns="0" rtlCol="0" anchor="t"/>
          <a:lstStyle/>
          <a:p>
            <a:pPr algn="l" indent="0" marL="0">
              <a:lnSpc>
                <a:spcPct val="120000"/>
              </a:lnSpc>
              <a:buNone/>
            </a:pPr>
            <a:r>
              <a:rPr lang="en-US" sz="1600" dirty="0">
                <a:solidFill>
                  <a:schemeClr val="tx1"/>
                </a:solidFill>
              </a:rPr>
              <a:t>A real SIS connection, two-factor login, field encryption, wards and beds, real-time and SMS alerts, and a pilot at the UNZA Clinic.</a:t>
            </a:r>
            <a:endParaRPr lang="en-US" sz="1600" dirty="0"/>
          </a:p>
        </p:txBody>
      </p:sp>
      <p:pic>
        <p:nvPicPr>
          <p:cNvPr id="10" name="Icon caps" descr="preencoded.png">    </p:cNvPr>
          <p:cNvPicPr>
            <a:picLocks noChangeAspect="1"/>
          </p:cNvPicPr>
          <p:nvPr/>
        </p:nvPicPr>
        <p:blipFill>
          <a:blip r:embed="rId2"/>
          <a:stretch>
            <a:fillRect/>
          </a:stretch>
        </p:blipFill>
        <p:spPr>
          <a:xfrm rot="-720000">
            <a:off x="-781812" y="2834640"/>
            <a:ext cx="1737360" cy="1737360"/>
          </a:xfrm>
          <a:prstGeom prst="rect">
            <a:avLst/>
          </a:prstGeom>
        </p:spPr>
      </p:pic>
      <p:pic>
        <p:nvPicPr>
          <p:cNvPr id="11" name="Icon tube" descr="preencoded.png">    </p:cNvPr>
          <p:cNvPicPr>
            <a:picLocks noChangeAspect="1"/>
          </p:cNvPicPr>
          <p:nvPr/>
        </p:nvPicPr>
        <p:blipFill>
          <a:blip r:embed="rId3"/>
          <a:stretch>
            <a:fillRect/>
          </a:stretch>
        </p:blipFill>
        <p:spPr>
          <a:xfrm rot="840000">
            <a:off x="11233404" y="4572000"/>
            <a:ext cx="1737360" cy="1737360"/>
          </a:xfrm>
          <a:prstGeom prst="rect">
            <a:avLst/>
          </a:prstGeom>
        </p:spPr>
      </p:pic>
      <p:sp>
        <p:nvSpPr>
          <p:cNvPr id="25" name="Slide Number Placeholder 0"/>
          <p:cNvSpPr>
            <a:spLocks noGrp="1"/>
          </p:cNvSpPr>
          <p:nvPr>
            <p:ph type="sldNum" sz="quarter" idx="4294967295"/>
          </p:nvPr>
        </p:nvSpPr>
        <p:spPr>
          <a:xfrm>
            <a:off x="11338560" y="647395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3F4573"/>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demo_1">
    <p:spTree>
      <p:nvGrpSpPr>
        <p:cNvPr id="1" name=""/>
        <p:cNvGrpSpPr/>
        <p:nvPr/>
      </p:nvGrpSpPr>
      <p:grpSpPr>
        <a:xfrm>
          <a:off x="0" y="0"/>
          <a:ext cx="0" cy="0"/>
          <a:chOff x="0" y="0"/>
          <a:chExt cx="0" cy="0"/>
        </a:xfrm>
      </p:grpSpPr>
      <p:pic>
        <p:nvPicPr>
          <p:cNvPr id="2" name="Label System Demonstration · One patient, part 1" descr=""/>
          <p:cNvPicPr>
            <a:picLocks noChangeAspect="1"/>
          </p:cNvPicPr>
          <p:nvPr/>
        </p:nvPicPr>
        <p:blipFill>
          <a:blip r:embed="rId1"/>
          <a:stretch>
            <a:fillRect/>
          </a:stretch>
        </p:blipFill>
        <p:spPr>
          <a:xfrm>
            <a:off x="640080" y="274320"/>
            <a:ext cx="5404000" cy="457200"/>
          </a:xfrm>
          <a:prstGeom prst="rect">
            <a:avLst/>
          </a:prstGeom>
        </p:spPr>
      </p:pic>
      <p:sp>
        <p:nvSpPr>
          <p:cNvPr id="3" name="Title"/>
          <p:cNvSpPr txBox="1"/>
          <p:nvPr/>
        </p:nvSpPr>
        <p:spPr>
          <a:xfrm>
            <a:off x="640080" y="274320"/>
            <a:ext cx="5404000" cy="457200"/>
          </a:xfrm>
          <a:prstGeom prst="rect">
            <a:avLst/>
          </a:prstGeom>
          <a:noFill/>
          <a:ln/>
        </p:spPr>
        <p:txBody>
          <a:bodyPr wrap="square" lIns="0" tIns="0" rIns="0" bIns="0" rtlCol="0" anchor="ctr"/>
          <a:lstStyle/>
          <a:p>
            <a:pPr algn="ctr" indent="0" marL="0">
              <a:buNone/>
            </a:pPr>
            <a:r>
              <a:rPr lang="en-US" sz="1600" b="1" dirty="0">
                <a:solidFill>
                  <a:schemeClr val="tx1"/>
                </a:solidFill>
              </a:rPr>
              <a:t>System Demonstration · One patient, part 1</a:t>
            </a:r>
          </a:p>
        </p:txBody>
      </p:sp>
      <p:sp>
        <p:nvSpPr>
          <p:cNvPr id="4" name="Stepper line"/>
          <p:cNvSpPr/>
          <p:nvPr/>
        </p:nvSpPr>
        <p:spPr>
          <a:xfrm>
            <a:off x="1143000" y="1444752"/>
            <a:ext cx="0" cy="4023360"/>
          </a:xfrm>
          <a:prstGeom prst="line">
            <a:avLst/>
          </a:prstGeom>
          <a:noFill/>
          <a:ln w="38100">
            <a:solidFill>
              <a:schemeClr val="accent2"/>
            </a:solidFill>
            <a:prstDash val="solid"/>
          </a:ln>
        </p:spPr>
      </p:sp>
      <p:sp>
        <p:nvSpPr>
          <p:cNvPr id="5" name="Step 1"/>
          <p:cNvSpPr/>
          <p:nvPr/>
        </p:nvSpPr>
        <p:spPr>
          <a:xfrm>
            <a:off x="841248" y="1143000"/>
            <a:ext cx="603504" cy="603504"/>
          </a:xfrm>
          <a:prstGeom prst="ellipse">
            <a:avLst/>
          </a:prstGeom>
          <a:solidFill>
            <a:schemeClr val="accent1"/>
          </a:solidFill>
          <a:ln w="31750">
            <a:solidFill>
              <a:schemeClr val="tx1"/>
            </a:solidFill>
            <a:prstDash val="solid"/>
          </a:ln>
        </p:spPr>
      </p:sp>
      <p:pic>
        <p:nvPicPr>
          <p:cNvPr id="6" name="Step icon 1" descr="Receptionist"/>
          <p:cNvPicPr>
            <a:picLocks noChangeAspect="1"/>
          </p:cNvPicPr>
          <p:nvPr/>
        </p:nvPicPr>
        <p:blipFill>
          <a:blip r:embed="rId2"/>
          <a:stretch>
            <a:fillRect/>
          </a:stretch>
        </p:blipFill>
        <p:spPr>
          <a:xfrm>
            <a:off x="987552" y="1289304"/>
            <a:ext cx="310896" cy="310896"/>
          </a:xfrm>
          <a:prstGeom prst="rect">
            <a:avLst/>
          </a:prstGeom>
        </p:spPr>
      </p:pic>
      <p:sp>
        <p:nvSpPr>
          <p:cNvPr id="7" name="Step title 1"/>
          <p:cNvSpPr txBox="1"/>
          <p:nvPr/>
        </p:nvSpPr>
        <p:spPr>
          <a:xfrm>
            <a:off x="1828800" y="112471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Receptionist</a:t>
            </a:r>
          </a:p>
        </p:txBody>
      </p:sp>
      <p:sp>
        <p:nvSpPr>
          <p:cNvPr id="8" name="Step text 1"/>
          <p:cNvSpPr txBox="1"/>
          <p:nvPr/>
        </p:nvSpPr>
        <p:spPr>
          <a:xfrm>
            <a:off x="1828800" y="145389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Verify Student by student number: eligibility is confirmed in seconds with no ID card. Register the visit.</a:t>
            </a:r>
          </a:p>
        </p:txBody>
      </p:sp>
      <p:sp>
        <p:nvSpPr>
          <p:cNvPr id="9" name="Step 2"/>
          <p:cNvSpPr/>
          <p:nvPr/>
        </p:nvSpPr>
        <p:spPr>
          <a:xfrm>
            <a:off x="841248" y="2148840"/>
            <a:ext cx="603504" cy="603504"/>
          </a:xfrm>
          <a:prstGeom prst="ellipse">
            <a:avLst/>
          </a:prstGeom>
          <a:solidFill>
            <a:schemeClr val="accent1"/>
          </a:solidFill>
          <a:ln w="31750">
            <a:solidFill>
              <a:schemeClr val="tx1"/>
            </a:solidFill>
            <a:prstDash val="solid"/>
          </a:ln>
        </p:spPr>
      </p:sp>
      <p:pic>
        <p:nvPicPr>
          <p:cNvPr id="10" name="Step icon 2" descr="Patient"/>
          <p:cNvPicPr>
            <a:picLocks noChangeAspect="1"/>
          </p:cNvPicPr>
          <p:nvPr/>
        </p:nvPicPr>
        <p:blipFill>
          <a:blip r:embed="rId3"/>
          <a:stretch>
            <a:fillRect/>
          </a:stretch>
        </p:blipFill>
        <p:spPr>
          <a:xfrm>
            <a:off x="987552" y="2295144"/>
            <a:ext cx="310896" cy="310896"/>
          </a:xfrm>
          <a:prstGeom prst="rect">
            <a:avLst/>
          </a:prstGeom>
        </p:spPr>
      </p:pic>
      <p:sp>
        <p:nvSpPr>
          <p:cNvPr id="11" name="Step title 2"/>
          <p:cNvSpPr txBox="1"/>
          <p:nvPr/>
        </p:nvSpPr>
        <p:spPr>
          <a:xfrm>
            <a:off x="1828800" y="213055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Patient</a:t>
            </a:r>
          </a:p>
        </p:txBody>
      </p:sp>
      <p:sp>
        <p:nvSpPr>
          <p:cNvPr id="12" name="Step text 2"/>
          <p:cNvSpPr txBox="1"/>
          <p:nvPr/>
        </p:nvSpPr>
        <p:spPr>
          <a:xfrm>
            <a:off x="1828800" y="245973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Show the dashboard, request an appointment and open the care timeline.</a:t>
            </a:r>
          </a:p>
        </p:txBody>
      </p:sp>
      <p:sp>
        <p:nvSpPr>
          <p:cNvPr id="13" name="Step 3"/>
          <p:cNvSpPr/>
          <p:nvPr/>
        </p:nvSpPr>
        <p:spPr>
          <a:xfrm>
            <a:off x="841248" y="3154680"/>
            <a:ext cx="603504" cy="603504"/>
          </a:xfrm>
          <a:prstGeom prst="ellipse">
            <a:avLst/>
          </a:prstGeom>
          <a:solidFill>
            <a:schemeClr val="accent1"/>
          </a:solidFill>
          <a:ln w="31750">
            <a:solidFill>
              <a:schemeClr val="tx1"/>
            </a:solidFill>
            <a:prstDash val="solid"/>
          </a:ln>
        </p:spPr>
      </p:sp>
      <p:pic>
        <p:nvPicPr>
          <p:cNvPr id="14" name="Step icon 3" descr="Receptionist"/>
          <p:cNvPicPr>
            <a:picLocks noChangeAspect="1"/>
          </p:cNvPicPr>
          <p:nvPr/>
        </p:nvPicPr>
        <p:blipFill>
          <a:blip r:embed="rId4"/>
          <a:stretch>
            <a:fillRect/>
          </a:stretch>
        </p:blipFill>
        <p:spPr>
          <a:xfrm>
            <a:off x="987552" y="3300984"/>
            <a:ext cx="310896" cy="310896"/>
          </a:xfrm>
          <a:prstGeom prst="rect">
            <a:avLst/>
          </a:prstGeom>
        </p:spPr>
      </p:pic>
      <p:sp>
        <p:nvSpPr>
          <p:cNvPr id="15" name="Step title 3"/>
          <p:cNvSpPr txBox="1"/>
          <p:nvPr/>
        </p:nvSpPr>
        <p:spPr>
          <a:xfrm>
            <a:off x="1828800" y="313639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Receptionist</a:t>
            </a:r>
          </a:p>
        </p:txBody>
      </p:sp>
      <p:sp>
        <p:nvSpPr>
          <p:cNvPr id="16" name="Step text 3"/>
          <p:cNvSpPr txBox="1"/>
          <p:nvPr/>
        </p:nvSpPr>
        <p:spPr>
          <a:xfrm>
            <a:off x="1828800" y="346557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Confirm the appointment request from the queue.</a:t>
            </a:r>
          </a:p>
        </p:txBody>
      </p:sp>
      <p:sp>
        <p:nvSpPr>
          <p:cNvPr id="17" name="Step 4"/>
          <p:cNvSpPr/>
          <p:nvPr/>
        </p:nvSpPr>
        <p:spPr>
          <a:xfrm>
            <a:off x="841248" y="4160520"/>
            <a:ext cx="603504" cy="603504"/>
          </a:xfrm>
          <a:prstGeom prst="ellipse">
            <a:avLst/>
          </a:prstGeom>
          <a:solidFill>
            <a:schemeClr val="accent1"/>
          </a:solidFill>
          <a:ln w="31750">
            <a:solidFill>
              <a:schemeClr val="tx1"/>
            </a:solidFill>
            <a:prstDash val="solid"/>
          </a:ln>
        </p:spPr>
      </p:sp>
      <p:pic>
        <p:nvPicPr>
          <p:cNvPr id="18" name="Step icon 4" descr="Doctor"/>
          <p:cNvPicPr>
            <a:picLocks noChangeAspect="1"/>
          </p:cNvPicPr>
          <p:nvPr/>
        </p:nvPicPr>
        <p:blipFill>
          <a:blip r:embed="rId5"/>
          <a:stretch>
            <a:fillRect/>
          </a:stretch>
        </p:blipFill>
        <p:spPr>
          <a:xfrm>
            <a:off x="987552" y="4306824"/>
            <a:ext cx="310896" cy="310896"/>
          </a:xfrm>
          <a:prstGeom prst="rect">
            <a:avLst/>
          </a:prstGeom>
        </p:spPr>
      </p:pic>
      <p:sp>
        <p:nvSpPr>
          <p:cNvPr id="19" name="Step title 4"/>
          <p:cNvSpPr txBox="1"/>
          <p:nvPr/>
        </p:nvSpPr>
        <p:spPr>
          <a:xfrm>
            <a:off x="1828800" y="414223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Doctor</a:t>
            </a:r>
          </a:p>
        </p:txBody>
      </p:sp>
      <p:sp>
        <p:nvSpPr>
          <p:cNvPr id="20" name="Step text 4"/>
          <p:cNvSpPr txBox="1"/>
          <p:nvPr/>
        </p:nvSpPr>
        <p:spPr>
          <a:xfrm>
            <a:off x="1828800" y="447141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Search the patient, review the profile and allergies, order lab tests and write a prescription.</a:t>
            </a:r>
          </a:p>
        </p:txBody>
      </p:sp>
      <p:sp>
        <p:nvSpPr>
          <p:cNvPr id="21" name="Step 5"/>
          <p:cNvSpPr/>
          <p:nvPr/>
        </p:nvSpPr>
        <p:spPr>
          <a:xfrm>
            <a:off x="841248" y="5166360"/>
            <a:ext cx="603504" cy="603504"/>
          </a:xfrm>
          <a:prstGeom prst="ellipse">
            <a:avLst/>
          </a:prstGeom>
          <a:solidFill>
            <a:schemeClr val="accent1"/>
          </a:solidFill>
          <a:ln w="31750">
            <a:solidFill>
              <a:schemeClr val="tx1"/>
            </a:solidFill>
            <a:prstDash val="solid"/>
          </a:ln>
        </p:spPr>
      </p:sp>
      <p:pic>
        <p:nvPicPr>
          <p:cNvPr id="22" name="Step icon 5" descr="Lab technician"/>
          <p:cNvPicPr>
            <a:picLocks noChangeAspect="1"/>
          </p:cNvPicPr>
          <p:nvPr/>
        </p:nvPicPr>
        <p:blipFill>
          <a:blip r:embed="rId6"/>
          <a:stretch>
            <a:fillRect/>
          </a:stretch>
        </p:blipFill>
        <p:spPr>
          <a:xfrm>
            <a:off x="987552" y="5312664"/>
            <a:ext cx="310896" cy="310896"/>
          </a:xfrm>
          <a:prstGeom prst="rect">
            <a:avLst/>
          </a:prstGeom>
        </p:spPr>
      </p:pic>
      <p:sp>
        <p:nvSpPr>
          <p:cNvPr id="23" name="Step title 5"/>
          <p:cNvSpPr txBox="1"/>
          <p:nvPr/>
        </p:nvSpPr>
        <p:spPr>
          <a:xfrm>
            <a:off x="1828800" y="514807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Lab technician</a:t>
            </a:r>
          </a:p>
        </p:txBody>
      </p:sp>
      <p:sp>
        <p:nvSpPr>
          <p:cNvPr id="24" name="Step text 5"/>
          <p:cNvSpPr txBox="1"/>
          <p:nvPr/>
        </p:nvSpPr>
        <p:spPr>
          <a:xfrm>
            <a:off x="1828800" y="547725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Record the results in the work queue. The system flags them.</a:t>
            </a:r>
          </a:p>
        </p:txBody>
      </p:sp>
      <p:pic>
        <p:nvPicPr>
          <p:cNvPr id="25" name="Decoration" descr="Decorative medical illustration"/>
          <p:cNvPicPr>
            <a:picLocks noChangeAspect="1"/>
          </p:cNvPicPr>
          <p:nvPr/>
        </p:nvPicPr>
        <p:blipFill>
          <a:blip r:embed="rId7"/>
          <a:stretch>
            <a:fillRect/>
          </a:stretch>
        </p:blipFill>
        <p:spPr>
          <a:xfrm>
            <a:off x="10058400" y="2011680"/>
            <a:ext cx="2200000" cy="2200000"/>
          </a:xfrm>
          <a:prstGeom prst="rect">
            <a:avLst/>
          </a:prstGeom>
        </p:spPr>
      </p:pic>
      <p:sp>
        <p:nvSpPr>
          <p:cNvPr id="26" name="Slide Number Placeholder"/>
          <p:cNvSpPr>
            <a:spLocks noGrp="1"/>
          </p:cNvSpPr>
          <p:nvPr>
            <p:ph type="sldNum" sz="quarter" idx="4294967295"/>
          </p:nvPr>
        </p:nvSpPr>
        <p:spPr>
          <a:xfrm>
            <a:off x="11338560" y="6473952"/>
            <a:ext cx="457200" cy="228600"/>
          </a:xfrm>
          <a:prstGeom prst="rect">
            <a:avLst/>
          </a:prstGeom>
        </p:spPr>
        <p:txBody>
          <a:bodyPr/>
          <a:lstStyle>
            <a:lvl1pPr>
              <a:defRPr sz="1000">
                <a:solidFill>
                  <a:srgbClr val="3F4573"/>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demo_2">
    <p:spTree>
      <p:nvGrpSpPr>
        <p:cNvPr id="1" name=""/>
        <p:cNvGrpSpPr/>
        <p:nvPr/>
      </p:nvGrpSpPr>
      <p:grpSpPr>
        <a:xfrm>
          <a:off x="0" y="0"/>
          <a:ext cx="0" cy="0"/>
          <a:chOff x="0" y="0"/>
          <a:chExt cx="0" cy="0"/>
        </a:xfrm>
      </p:grpSpPr>
      <p:pic>
        <p:nvPicPr>
          <p:cNvPr id="2" name="Label System Demonstration · One patient, part 2" descr=""/>
          <p:cNvPicPr>
            <a:picLocks noChangeAspect="1"/>
          </p:cNvPicPr>
          <p:nvPr/>
        </p:nvPicPr>
        <p:blipFill>
          <a:blip r:embed="rId1"/>
          <a:stretch>
            <a:fillRect/>
          </a:stretch>
        </p:blipFill>
        <p:spPr>
          <a:xfrm>
            <a:off x="640080" y="274320"/>
            <a:ext cx="5404000" cy="457200"/>
          </a:xfrm>
          <a:prstGeom prst="rect">
            <a:avLst/>
          </a:prstGeom>
        </p:spPr>
      </p:pic>
      <p:sp>
        <p:nvSpPr>
          <p:cNvPr id="3" name="Title"/>
          <p:cNvSpPr txBox="1"/>
          <p:nvPr/>
        </p:nvSpPr>
        <p:spPr>
          <a:xfrm>
            <a:off x="640080" y="274320"/>
            <a:ext cx="5404000" cy="457200"/>
          </a:xfrm>
          <a:prstGeom prst="rect">
            <a:avLst/>
          </a:prstGeom>
          <a:noFill/>
          <a:ln/>
        </p:spPr>
        <p:txBody>
          <a:bodyPr wrap="square" lIns="0" tIns="0" rIns="0" bIns="0" rtlCol="0" anchor="ctr"/>
          <a:lstStyle/>
          <a:p>
            <a:pPr algn="ctr" indent="0" marL="0">
              <a:buNone/>
            </a:pPr>
            <a:r>
              <a:rPr lang="en-US" sz="1600" b="1" dirty="0">
                <a:solidFill>
                  <a:schemeClr val="tx1"/>
                </a:solidFill>
              </a:rPr>
              <a:t>System Demonstration · One patient, part 2</a:t>
            </a:r>
          </a:p>
        </p:txBody>
      </p:sp>
      <p:sp>
        <p:nvSpPr>
          <p:cNvPr id="4" name="Stepper line"/>
          <p:cNvSpPr/>
          <p:nvPr/>
        </p:nvSpPr>
        <p:spPr>
          <a:xfrm>
            <a:off x="1143000" y="1444752"/>
            <a:ext cx="0" cy="4023360"/>
          </a:xfrm>
          <a:prstGeom prst="line">
            <a:avLst/>
          </a:prstGeom>
          <a:noFill/>
          <a:ln w="38100">
            <a:solidFill>
              <a:schemeClr val="accent2"/>
            </a:solidFill>
            <a:prstDash val="solid"/>
          </a:ln>
        </p:spPr>
      </p:sp>
      <p:sp>
        <p:nvSpPr>
          <p:cNvPr id="5" name="Step 1"/>
          <p:cNvSpPr/>
          <p:nvPr/>
        </p:nvSpPr>
        <p:spPr>
          <a:xfrm>
            <a:off x="841248" y="1143000"/>
            <a:ext cx="603504" cy="603504"/>
          </a:xfrm>
          <a:prstGeom prst="ellipse">
            <a:avLst/>
          </a:prstGeom>
          <a:solidFill>
            <a:schemeClr val="accent1"/>
          </a:solidFill>
          <a:ln w="31750">
            <a:solidFill>
              <a:schemeClr val="tx1"/>
            </a:solidFill>
            <a:prstDash val="solid"/>
          </a:ln>
        </p:spPr>
      </p:sp>
      <p:pic>
        <p:nvPicPr>
          <p:cNvPr id="6" name="Step icon 1" descr="Doctor"/>
          <p:cNvPicPr>
            <a:picLocks noChangeAspect="1"/>
          </p:cNvPicPr>
          <p:nvPr/>
        </p:nvPicPr>
        <p:blipFill>
          <a:blip r:embed="rId2"/>
          <a:stretch>
            <a:fillRect/>
          </a:stretch>
        </p:blipFill>
        <p:spPr>
          <a:xfrm>
            <a:off x="987552" y="1289304"/>
            <a:ext cx="310896" cy="310896"/>
          </a:xfrm>
          <a:prstGeom prst="rect">
            <a:avLst/>
          </a:prstGeom>
        </p:spPr>
      </p:pic>
      <p:sp>
        <p:nvSpPr>
          <p:cNvPr id="7" name="Step title 1"/>
          <p:cNvSpPr txBox="1"/>
          <p:nvPr/>
        </p:nvSpPr>
        <p:spPr>
          <a:xfrm>
            <a:off x="1828800" y="112471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Doctor</a:t>
            </a:r>
          </a:p>
        </p:txBody>
      </p:sp>
      <p:sp>
        <p:nvSpPr>
          <p:cNvPr id="8" name="Step text 1"/>
          <p:cNvSpPr txBox="1"/>
          <p:nvPr/>
        </p:nvSpPr>
        <p:spPr>
          <a:xfrm>
            <a:off x="1828800" y="145389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Open Review results and release them to the patient.</a:t>
            </a:r>
          </a:p>
        </p:txBody>
      </p:sp>
      <p:sp>
        <p:nvSpPr>
          <p:cNvPr id="9" name="Step 2"/>
          <p:cNvSpPr/>
          <p:nvPr/>
        </p:nvSpPr>
        <p:spPr>
          <a:xfrm>
            <a:off x="841248" y="2148840"/>
            <a:ext cx="603504" cy="603504"/>
          </a:xfrm>
          <a:prstGeom prst="ellipse">
            <a:avLst/>
          </a:prstGeom>
          <a:solidFill>
            <a:schemeClr val="accent1"/>
          </a:solidFill>
          <a:ln w="31750">
            <a:solidFill>
              <a:schemeClr val="tx1"/>
            </a:solidFill>
            <a:prstDash val="solid"/>
          </a:ln>
        </p:spPr>
      </p:sp>
      <p:pic>
        <p:nvPicPr>
          <p:cNvPr id="10" name="Step icon 2" descr="Pharmacist"/>
          <p:cNvPicPr>
            <a:picLocks noChangeAspect="1"/>
          </p:cNvPicPr>
          <p:nvPr/>
        </p:nvPicPr>
        <p:blipFill>
          <a:blip r:embed="rId3"/>
          <a:stretch>
            <a:fillRect/>
          </a:stretch>
        </p:blipFill>
        <p:spPr>
          <a:xfrm>
            <a:off x="987552" y="2295144"/>
            <a:ext cx="310896" cy="310896"/>
          </a:xfrm>
          <a:prstGeom prst="rect">
            <a:avLst/>
          </a:prstGeom>
        </p:spPr>
      </p:pic>
      <p:sp>
        <p:nvSpPr>
          <p:cNvPr id="11" name="Step title 2"/>
          <p:cNvSpPr txBox="1"/>
          <p:nvPr/>
        </p:nvSpPr>
        <p:spPr>
          <a:xfrm>
            <a:off x="1828800" y="213055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Pharmacist</a:t>
            </a:r>
          </a:p>
        </p:txBody>
      </p:sp>
      <p:sp>
        <p:nvSpPr>
          <p:cNvPr id="12" name="Step text 2"/>
          <p:cNvSpPr txBox="1"/>
          <p:nvPr/>
        </p:nvSpPr>
        <p:spPr>
          <a:xfrm>
            <a:off x="1828800" y="245973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Dispense the prescription and show the stock fall, earliest expiry first.</a:t>
            </a:r>
          </a:p>
        </p:txBody>
      </p:sp>
      <p:sp>
        <p:nvSpPr>
          <p:cNvPr id="13" name="Step 3"/>
          <p:cNvSpPr/>
          <p:nvPr/>
        </p:nvSpPr>
        <p:spPr>
          <a:xfrm>
            <a:off x="841248" y="3154680"/>
            <a:ext cx="603504" cy="603504"/>
          </a:xfrm>
          <a:prstGeom prst="ellipse">
            <a:avLst/>
          </a:prstGeom>
          <a:solidFill>
            <a:schemeClr val="accent1"/>
          </a:solidFill>
          <a:ln w="31750">
            <a:solidFill>
              <a:schemeClr val="tx1"/>
            </a:solidFill>
            <a:prstDash val="solid"/>
          </a:ln>
        </p:spPr>
      </p:sp>
      <p:pic>
        <p:nvPicPr>
          <p:cNvPr id="14" name="Step icon 3" descr="Patient"/>
          <p:cNvPicPr>
            <a:picLocks noChangeAspect="1"/>
          </p:cNvPicPr>
          <p:nvPr/>
        </p:nvPicPr>
        <p:blipFill>
          <a:blip r:embed="rId4"/>
          <a:stretch>
            <a:fillRect/>
          </a:stretch>
        </p:blipFill>
        <p:spPr>
          <a:xfrm>
            <a:off x="987552" y="3300984"/>
            <a:ext cx="310896" cy="310896"/>
          </a:xfrm>
          <a:prstGeom prst="rect">
            <a:avLst/>
          </a:prstGeom>
        </p:spPr>
      </p:pic>
      <p:sp>
        <p:nvSpPr>
          <p:cNvPr id="15" name="Step title 3"/>
          <p:cNvSpPr txBox="1"/>
          <p:nvPr/>
        </p:nvSpPr>
        <p:spPr>
          <a:xfrm>
            <a:off x="1828800" y="313639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Patient</a:t>
            </a:r>
          </a:p>
        </p:txBody>
      </p:sp>
      <p:sp>
        <p:nvSpPr>
          <p:cNvPr id="16" name="Step text 3"/>
          <p:cNvSpPr txBox="1"/>
          <p:nvPr/>
        </p:nvSpPr>
        <p:spPr>
          <a:xfrm>
            <a:off x="1828800" y="346557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The bell lights up, and lab results and prescription status are visible.</a:t>
            </a:r>
          </a:p>
        </p:txBody>
      </p:sp>
      <p:sp>
        <p:nvSpPr>
          <p:cNvPr id="17" name="Step 4"/>
          <p:cNvSpPr/>
          <p:nvPr/>
        </p:nvSpPr>
        <p:spPr>
          <a:xfrm>
            <a:off x="841248" y="4160520"/>
            <a:ext cx="603504" cy="603504"/>
          </a:xfrm>
          <a:prstGeom prst="ellipse">
            <a:avLst/>
          </a:prstGeom>
          <a:solidFill>
            <a:schemeClr val="accent1"/>
          </a:solidFill>
          <a:ln w="31750">
            <a:solidFill>
              <a:schemeClr val="tx1"/>
            </a:solidFill>
            <a:prstDash val="solid"/>
          </a:ln>
        </p:spPr>
      </p:sp>
      <p:pic>
        <p:nvPicPr>
          <p:cNvPr id="18" name="Step icon 4" descr="Admin"/>
          <p:cNvPicPr>
            <a:picLocks noChangeAspect="1"/>
          </p:cNvPicPr>
          <p:nvPr/>
        </p:nvPicPr>
        <p:blipFill>
          <a:blip r:embed="rId5"/>
          <a:stretch>
            <a:fillRect/>
          </a:stretch>
        </p:blipFill>
        <p:spPr>
          <a:xfrm>
            <a:off x="987552" y="4306824"/>
            <a:ext cx="310896" cy="310896"/>
          </a:xfrm>
          <a:prstGeom prst="rect">
            <a:avLst/>
          </a:prstGeom>
        </p:spPr>
      </p:pic>
      <p:sp>
        <p:nvSpPr>
          <p:cNvPr id="19" name="Step title 4"/>
          <p:cNvSpPr txBox="1"/>
          <p:nvPr/>
        </p:nvSpPr>
        <p:spPr>
          <a:xfrm>
            <a:off x="1828800" y="414223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Admin</a:t>
            </a:r>
          </a:p>
        </p:txBody>
      </p:sp>
      <p:sp>
        <p:nvSpPr>
          <p:cNvPr id="20" name="Step text 4"/>
          <p:cNvSpPr txBox="1"/>
          <p:nvPr/>
        </p:nvSpPr>
        <p:spPr>
          <a:xfrm>
            <a:off x="1828800" y="447141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Show the access logs and the CSV export: every action above is in the audit trail.</a:t>
            </a:r>
          </a:p>
        </p:txBody>
      </p:sp>
      <p:sp>
        <p:nvSpPr>
          <p:cNvPr id="21" name="Step 5"/>
          <p:cNvSpPr/>
          <p:nvPr/>
        </p:nvSpPr>
        <p:spPr>
          <a:xfrm>
            <a:off x="841248" y="5166360"/>
            <a:ext cx="603504" cy="603504"/>
          </a:xfrm>
          <a:prstGeom prst="ellipse">
            <a:avLst/>
          </a:prstGeom>
          <a:solidFill>
            <a:schemeClr val="accent1"/>
          </a:solidFill>
          <a:ln w="31750">
            <a:solidFill>
              <a:schemeClr val="tx1"/>
            </a:solidFill>
            <a:prstDash val="solid"/>
          </a:ln>
        </p:spPr>
      </p:sp>
      <p:pic>
        <p:nvPicPr>
          <p:cNvPr id="22" name="Step icon 5" descr="Optional extras"/>
          <p:cNvPicPr>
            <a:picLocks noChangeAspect="1"/>
          </p:cNvPicPr>
          <p:nvPr/>
        </p:nvPicPr>
        <p:blipFill>
          <a:blip r:embed="rId6"/>
          <a:stretch>
            <a:fillRect/>
          </a:stretch>
        </p:blipFill>
        <p:spPr>
          <a:xfrm>
            <a:off x="987552" y="5312664"/>
            <a:ext cx="310896" cy="310896"/>
          </a:xfrm>
          <a:prstGeom prst="rect">
            <a:avLst/>
          </a:prstGeom>
        </p:spPr>
      </p:pic>
      <p:sp>
        <p:nvSpPr>
          <p:cNvPr id="23" name="Step title 5"/>
          <p:cNvSpPr txBox="1"/>
          <p:nvPr/>
        </p:nvSpPr>
        <p:spPr>
          <a:xfrm>
            <a:off x="1828800" y="5148072"/>
            <a:ext cx="7680960" cy="310896"/>
          </a:xfrm>
          <a:prstGeom prst="rect">
            <a:avLst/>
          </a:prstGeom>
          <a:noFill/>
          <a:ln/>
        </p:spPr>
        <p:txBody>
          <a:bodyPr wrap="square" lIns="0" tIns="0" rIns="0" bIns="0" rtlCol="0" anchor="t"/>
          <a:lstStyle/>
          <a:p>
            <a:pPr algn="l" indent="0" marL="0">
              <a:buNone/>
            </a:pPr>
            <a:r>
              <a:rPr lang="en-US" sz="1700" b="1" dirty="0">
                <a:solidFill>
                  <a:schemeClr val="tx1"/>
                </a:solidFill>
              </a:rPr>
              <a:t>Optional extras</a:t>
            </a:r>
          </a:p>
        </p:txBody>
      </p:sp>
      <p:sp>
        <p:nvSpPr>
          <p:cNvPr id="24" name="Step text 5"/>
          <p:cNvSpPr txBox="1"/>
          <p:nvPr/>
        </p:nvSpPr>
        <p:spPr>
          <a:xfrm>
            <a:off x="1828800" y="5477256"/>
            <a:ext cx="7680960" cy="640080"/>
          </a:xfrm>
          <a:prstGeom prst="rect">
            <a:avLst/>
          </a:prstGeom>
          <a:noFill/>
          <a:ln/>
        </p:spPr>
        <p:txBody>
          <a:bodyPr wrap="square" lIns="0" tIns="0" rIns="0" bIns="0" rtlCol="0" anchor="t"/>
          <a:lstStyle/>
          <a:p>
            <a:pPr algn="l" indent="0" marL="0">
              <a:lnSpc>
                <a:spcPct val="115000"/>
              </a:lnSpc>
              <a:buNone/>
            </a:pPr>
            <a:r>
              <a:rPr lang="en-US" sz="1400" dirty="0">
                <a:solidFill>
                  <a:schemeClr val="tx1"/>
                </a:solidFill>
              </a:rPr>
              <a:t>Messaging and next-of-kin consent. Use the seeded critical result (Patient 3) to show flagging and release.</a:t>
            </a:r>
          </a:p>
        </p:txBody>
      </p:sp>
      <p:pic>
        <p:nvPicPr>
          <p:cNvPr id="25" name="Decoration" descr="Decorative medical illustration"/>
          <p:cNvPicPr>
            <a:picLocks noChangeAspect="1"/>
          </p:cNvPicPr>
          <p:nvPr/>
        </p:nvPicPr>
        <p:blipFill>
          <a:blip r:embed="rId7"/>
          <a:stretch>
            <a:fillRect/>
          </a:stretch>
        </p:blipFill>
        <p:spPr>
          <a:xfrm>
            <a:off x="10058400" y="2011680"/>
            <a:ext cx="2200000" cy="2200000"/>
          </a:xfrm>
          <a:prstGeom prst="rect">
            <a:avLst/>
          </a:prstGeom>
        </p:spPr>
      </p:pic>
      <p:sp>
        <p:nvSpPr>
          <p:cNvPr id="26" name="Slide Number Placeholder"/>
          <p:cNvSpPr>
            <a:spLocks noGrp="1"/>
          </p:cNvSpPr>
          <p:nvPr>
            <p:ph type="sldNum" sz="quarter" idx="4294967295"/>
          </p:nvPr>
        </p:nvSpPr>
        <p:spPr>
          <a:xfrm>
            <a:off x="11338560" y="6473952"/>
            <a:ext cx="457200" cy="228600"/>
          </a:xfrm>
          <a:prstGeom prst="rect">
            <a:avLst/>
          </a:prstGeom>
        </p:spPr>
        <p:txBody>
          <a:bodyPr/>
          <a:lstStyle>
            <a:lvl1pPr>
              <a:defRPr sz="1000">
                <a:solidFill>
                  <a:srgbClr val="3F4573"/>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1371600" y="2286000"/>
            <a:ext cx="9445752" cy="1280160"/>
          </a:xfrm>
          <a:prstGeom prst="rect">
            <a:avLst/>
          </a:prstGeom>
          <a:noFill/>
          <a:ln/>
        </p:spPr>
        <p:txBody>
          <a:bodyPr wrap="square" lIns="0" tIns="0" rIns="0" bIns="0" rtlCol="0" anchor="ctr"/>
          <a:lstStyle/>
          <a:p>
            <a:pPr algn="ctr" indent="0" marL="0">
              <a:buNone/>
            </a:pPr>
            <a:r>
              <a:rPr lang="en-US" sz="6600" dirty="0">
                <a:solidFill>
                  <a:schemeClr val="tx1"/>
                </a:solidFill>
                <a:latin typeface="+mj-lt" pitchFamily="34" charset="0"/>
                <a:ea typeface="+mj-lt" pitchFamily="34" charset="-122"/>
                <a:cs typeface="+mj-lt" pitchFamily="34" charset="-120"/>
              </a:rPr>
              <a:t>Thank you</a:t>
            </a:r>
            <a:endParaRPr lang="en-US" sz="6600" dirty="0"/>
          </a:p>
        </p:txBody>
      </p:sp>
      <p:sp>
        <p:nvSpPr>
          <p:cNvPr id="3" name="Text 1"/>
          <p:cNvSpPr txBox="1"/>
          <p:nvPr/>
        </p:nvSpPr>
        <p:spPr>
          <a:xfrm>
            <a:off x="1371600" y="3657600"/>
            <a:ext cx="9445752" cy="548640"/>
          </a:xfrm>
          <a:prstGeom prst="rect">
            <a:avLst/>
          </a:prstGeom>
          <a:noFill/>
          <a:ln/>
        </p:spPr>
        <p:txBody>
          <a:bodyPr wrap="square" lIns="0" tIns="0" rIns="0" bIns="0" rtlCol="0" anchor="ctr"/>
          <a:lstStyle/>
          <a:p>
            <a:pPr algn="ctr" indent="0" marL="0">
              <a:buNone/>
            </a:pPr>
            <a:r>
              <a:rPr lang="en-US" sz="2400" b="1" dirty="0">
                <a:solidFill>
                  <a:schemeClr val="tx1"/>
                </a:solidFill>
              </a:rPr>
              <a:t>Questions and Discussion</a:t>
            </a:r>
            <a:endParaRPr lang="en-US" sz="2400" dirty="0"/>
          </a:p>
        </p:txBody>
      </p:sp>
      <p:pic>
        <p:nvPicPr>
          <p:cNvPr id="4" name="Icon caps" descr="preencoded.png">    </p:cNvPr>
          <p:cNvPicPr>
            <a:picLocks noChangeAspect="1"/>
          </p:cNvPicPr>
          <p:nvPr/>
        </p:nvPicPr>
        <p:blipFill>
          <a:blip r:embed="rId1"/>
          <a:stretch>
            <a:fillRect/>
          </a:stretch>
        </p:blipFill>
        <p:spPr>
          <a:xfrm rot="300000">
            <a:off x="-822960" y="-731520"/>
            <a:ext cx="3108960" cy="3108960"/>
          </a:xfrm>
          <a:prstGeom prst="rect">
            <a:avLst/>
          </a:prstGeom>
        </p:spPr>
      </p:pic>
      <p:pic>
        <p:nvPicPr>
          <p:cNvPr id="5" name="Icon bottle" descr="preencoded.png">    </p:cNvPr>
          <p:cNvPicPr>
            <a:picLocks noChangeAspect="1"/>
          </p:cNvPicPr>
          <p:nvPr/>
        </p:nvPicPr>
        <p:blipFill>
          <a:blip r:embed="rId2"/>
          <a:stretch>
            <a:fillRect/>
          </a:stretch>
        </p:blipFill>
        <p:spPr>
          <a:xfrm rot="-720000">
            <a:off x="9966960" y="4480560"/>
            <a:ext cx="3108960" cy="3108960"/>
          </a:xfrm>
          <a:prstGeom prst="rect">
            <a:avLst/>
          </a:prstGeom>
        </p:spPr>
      </p:pic>
      <p:sp>
        <p:nvSpPr>
          <p:cNvPr id="25" name="Slide Number Placeholder 0"/>
          <p:cNvSpPr>
            <a:spLocks noGrp="1"/>
          </p:cNvSpPr>
          <p:nvPr>
            <p:ph type="sldNum" sz="quarter" idx="4294967295"/>
          </p:nvPr>
        </p:nvSpPr>
        <p:spPr>
          <a:xfrm>
            <a:off x="11338560" y="647395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3F4573"/>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db_erd">
    <p:spTree>
      <p:nvGrpSpPr>
        <p:cNvPr id="1" name=""/>
        <p:cNvGrpSpPr/>
        <p:nvPr/>
      </p:nvGrpSpPr>
      <p:grpSpPr>
        <a:xfrm>
          <a:off x="0" y="0"/>
          <a:ext cx="0" cy="0"/>
          <a:chOff x="0" y="0"/>
          <a:chExt cx="0" cy="0"/>
        </a:xfrm>
      </p:grpSpPr>
      <p:pic>
        <p:nvPicPr>
          <p:cNvPr id="2" name="Label Database · Entity relationship diagram" descr=""/>
          <p:cNvPicPr>
            <a:picLocks noChangeAspect="1"/>
          </p:cNvPicPr>
          <p:nvPr/>
        </p:nvPicPr>
        <p:blipFill>
          <a:blip r:embed="rId1"/>
          <a:stretch>
            <a:fillRect/>
          </a:stretch>
        </p:blipFill>
        <p:spPr>
          <a:xfrm>
            <a:off x="640080" y="274320"/>
            <a:ext cx="4900000" cy="457200"/>
          </a:xfrm>
          <a:prstGeom prst="rect">
            <a:avLst/>
          </a:prstGeom>
        </p:spPr>
      </p:pic>
      <p:sp>
        <p:nvSpPr>
          <p:cNvPr id="3" name="Title"/>
          <p:cNvSpPr txBox="1"/>
          <p:nvPr/>
        </p:nvSpPr>
        <p:spPr>
          <a:xfrm>
            <a:off x="640080" y="274320"/>
            <a:ext cx="4900000" cy="457200"/>
          </a:xfrm>
          <a:prstGeom prst="rect">
            <a:avLst/>
          </a:prstGeom>
          <a:noFill/>
          <a:ln/>
        </p:spPr>
        <p:txBody>
          <a:bodyPr wrap="square" lIns="0" tIns="0" rIns="0" bIns="0" rtlCol="0" anchor="ctr"/>
          <a:lstStyle/>
          <a:p>
            <a:pPr algn="ctr" indent="0" marL="0">
              <a:buNone/>
            </a:pPr>
            <a:r>
              <a:rPr lang="en-US" sz="1600" b="1" dirty="0">
                <a:solidFill>
                  <a:schemeClr val="tx1"/>
                </a:solidFill>
              </a:rPr>
              <a:t>Database · Entity relationship diagram</a:t>
            </a:r>
          </a:p>
        </p:txBody>
      </p:sp>
      <p:sp>
        <p:nvSpPr>
          <p:cNvPr id="4" name="ERD card"/>
          <p:cNvSpPr/>
          <p:nvPr/>
        </p:nvSpPr>
        <p:spPr>
          <a:xfrm>
            <a:off x="1496000" y="1000000"/>
            <a:ext cx="9200000" cy="5200000"/>
          </a:xfrm>
          <a:prstGeom prst="roundRect">
            <a:avLst>
              <a:gd name="adj" fmla="val 3000"/>
            </a:avLst>
          </a:prstGeom>
          <a:solidFill>
            <a:schemeClr val="bg1"/>
          </a:solidFill>
          <a:ln w="31750">
            <a:solidFill>
              <a:schemeClr val="tx1"/>
            </a:solidFill>
            <a:prstDash val="solid"/>
          </a:ln>
        </p:spPr>
      </p:sp>
      <p:pic>
        <p:nvPicPr>
          <p:cNvPr id="5" name="ERD diagram" descr="Entity relationship diagram of the MediVault database: USER at the centre, linked to patient profile, medical record, visit, appointment request, message, notification, lab order, prescription, drug inventory, next of kin assignment and access log tables"/>
          <p:cNvPicPr>
            <a:picLocks noChangeAspect="1"/>
          </p:cNvPicPr>
          <p:nvPr/>
        </p:nvPicPr>
        <p:blipFill>
          <a:blip r:embed="rId20"/>
          <a:stretch>
            <a:fillRect/>
          </a:stretch>
        </p:blipFill>
        <p:spPr>
          <a:xfrm>
            <a:off x="1651000" y="1100000"/>
            <a:ext cx="8889000" cy="5000000"/>
          </a:xfrm>
          <a:prstGeom prst="rect">
            <a:avLst/>
          </a:prstGeom>
        </p:spPr>
      </p:pic>
      <p:sp>
        <p:nvSpPr>
          <p:cNvPr id="22" name="Slide Number Placeholder"/>
          <p:cNvSpPr>
            <a:spLocks noGrp="1"/>
          </p:cNvSpPr>
          <p:nvPr>
            <p:ph type="sldNum" sz="quarter" idx="4294967295"/>
          </p:nvPr>
        </p:nvSpPr>
        <p:spPr>
          <a:xfrm>
            <a:off x="11338560" y="6473952"/>
            <a:ext cx="457200" cy="228600"/>
          </a:xfrm>
          <a:prstGeom prst="rect">
            <a:avLst/>
          </a:prstGeom>
        </p:spPr>
        <p:txBody>
          <a:bodyPr/>
          <a:lstStyle>
            <a:lvl1pPr>
              <a:defRPr sz="1000">
                <a:solidFill>
                  <a:srgbClr val="3F4573"/>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MediVault Notes">
  <a:themeElements>
    <a:clrScheme name="MediVault Notes">
      <a:dk1>
        <a:srgbClr val="3F4573"/>
      </a:dk1>
      <a:lt1>
        <a:srgbClr val="FFFFFF"/>
      </a:lt1>
      <a:dk2>
        <a:srgbClr val="3F4573"/>
      </a:dk2>
      <a:lt2>
        <a:srgbClr val="FAFAFA"/>
      </a:lt2>
      <a:accent1>
        <a:srgbClr val="B7E0F2"/>
      </a:accent1>
      <a:accent2>
        <a:srgbClr val="8CA3D6"/>
      </a:accent2>
      <a:accent3>
        <a:srgbClr val="F08585"/>
      </a:accent3>
      <a:accent4>
        <a:srgbClr val="CCCCCC"/>
      </a:accent4>
      <a:accent5>
        <a:srgbClr val="B7E0F2"/>
      </a:accent5>
      <a:accent6>
        <a:srgbClr val="8CA3D6"/>
      </a:accent6>
      <a:hlink>
        <a:srgbClr val="8CA3D6"/>
      </a:hlink>
      <a:folHlink>
        <a:srgbClr val="3F4573"/>
      </a:folHlink>
    </a:clrScheme>
    <a:fontScheme name="MediVault Notes">
      <a:majorFont>
        <a:latin typeface="Cooper Md B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ooper Md B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MediVault: Final Year Project Presentation</dc:title>
  <dc:subject>PptxGenJS Presentation</dc:subject>
  <dc:creator>Butemwe Nkinke &amp; Keila Ketlan Ngandu</dc:creator>
  <cp:lastModifiedBy>Butemwe Nkinke &amp; Keila Ketlan Ngandu</cp:lastModifiedBy>
  <cp:revision>1</cp:revision>
  <dcterms:created xsi:type="dcterms:W3CDTF">2026-10-18T18:07:48Z</dcterms:created>
  <dcterms:modified xsi:type="dcterms:W3CDTF">2026-10-18T18:07:48Z</dcterms:modified>
</cp:coreProperties>
</file>